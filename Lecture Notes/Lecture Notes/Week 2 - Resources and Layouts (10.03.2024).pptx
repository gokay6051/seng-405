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AC1139-80B1-400C-BA05-D0DC0C288DAC}">
  <a:tblStyle styleId="{D2AC1139-80B1-400C-BA05-D0DC0C288DA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1748b6768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1748b6768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1748b6768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1748b6768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1748b6768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1748b6768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1748b6768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1748b6768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1748b6768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1748b6768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1748b6768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1748b6768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748b6768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748b6768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748b67682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748b67682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1748b6768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1748b6768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748b6768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748b6768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1748b6768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1748b6768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748b67682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748b67682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66ceccb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66ceccb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17ab50ffae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17ab50ffa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166ceccb3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166ceccb3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66ceccb3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66ceccb3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66ceccb3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66ceccb3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66ceccb3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66ceccb3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748b6768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748b6768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1e70c3b39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1e70c3b39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eveloper.android.com/guide/topics/resources/providing-resource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developer.android.com/reference/android/view/View.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developer.android.com/reference/android/view/View.html#lattr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eveloper.android.com/guide/topics/ui"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eveloper.android.com/reference/android/R"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eveloper.android.com/guide/topics/resources/providing-resourc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eveloper.android.com/guide/topics/resources/available-resources.html" TargetMode="Externa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developer.android.com/reference/android/widget/LinearLayout.LayoutParams.html" TargetMode="Externa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developer.android.com/reference/android/widget/RelativeLayout.LayoutParams.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developer.android.com/training/constraint-layout/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Resources and Layouts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u="sng">
                <a:solidFill>
                  <a:schemeClr val="hlink"/>
                </a:solidFill>
                <a:hlinkClick r:id="rId3"/>
              </a:rPr>
              <a:t>App resources overview | Android Developers</a:t>
            </a:r>
            <a:r>
              <a:rPr lang="en"/>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Resources and Layouts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Views</a:t>
            </a:r>
            <a:endParaRPr/>
          </a:p>
          <a:p>
            <a:pPr indent="-342900" lvl="0" marL="457200" rtl="0" algn="l">
              <a:spcBef>
                <a:spcPts val="0"/>
              </a:spcBef>
              <a:spcAft>
                <a:spcPts val="0"/>
              </a:spcAft>
              <a:buSzPts val="1800"/>
              <a:buChar char="●"/>
            </a:pPr>
            <a:r>
              <a:rPr lang="en"/>
              <a:t>Resources</a:t>
            </a:r>
            <a:endParaRPr/>
          </a:p>
          <a:p>
            <a:pPr indent="-342900" lvl="0" marL="457200" rtl="0" algn="l">
              <a:spcBef>
                <a:spcPts val="0"/>
              </a:spcBef>
              <a:spcAft>
                <a:spcPts val="0"/>
              </a:spcAft>
              <a:buSzPts val="1800"/>
              <a:buChar char="●"/>
            </a:pPr>
            <a:r>
              <a:rPr lang="en"/>
              <a:t>Inputs</a:t>
            </a:r>
            <a:endParaRPr/>
          </a:p>
        </p:txBody>
      </p:sp>
      <p:pic>
        <p:nvPicPr>
          <p:cNvPr id="62" name="Google Shape;62;p14"/>
          <p:cNvPicPr preferRelativeResize="0"/>
          <p:nvPr/>
        </p:nvPicPr>
        <p:blipFill rotWithShape="1">
          <a:blip r:embed="rId3">
            <a:alphaModFix/>
          </a:blip>
          <a:srcRect b="29313" l="35699" r="27768" t="22409"/>
          <a:stretch/>
        </p:blipFill>
        <p:spPr>
          <a:xfrm>
            <a:off x="3924569" y="445025"/>
            <a:ext cx="4997407" cy="41273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View is the superclass for visual interface elements—a visual component on the screen is a View. Specific types of Views include: TextViews, ImageViews, Buttons, etc.</a:t>
            </a:r>
            <a:endParaRPr/>
          </a:p>
          <a:p>
            <a:pPr indent="-342900" lvl="0" marL="457200" rtl="0" algn="l">
              <a:spcBef>
                <a:spcPts val="0"/>
              </a:spcBef>
              <a:spcAft>
                <a:spcPts val="0"/>
              </a:spcAft>
              <a:buSzPts val="1800"/>
              <a:buChar char="●"/>
            </a:pPr>
            <a:r>
              <a:rPr lang="en"/>
              <a:t>Like the HTML DOM, Android Views are thus structured into a tree, what is known as the View hierarchy.</a:t>
            </a:r>
            <a:endParaRPr/>
          </a:p>
          <a:p>
            <a:pPr indent="-342900" lvl="0" marL="457200" rtl="0" algn="l">
              <a:spcBef>
                <a:spcPts val="0"/>
              </a:spcBef>
              <a:spcAft>
                <a:spcPts val="0"/>
              </a:spcAft>
              <a:buSzPts val="1800"/>
              <a:buChar char="●"/>
            </a:pPr>
            <a:r>
              <a:rPr lang="en"/>
              <a:t>Technically, a Layout is simply a ViewGroup that provide “ordering” and “positioning” information for the Views inside of it. Layouts let the system “lay out” the Views intelligently and effectively. Individual views shouldn’t know their own position; this follows from good good object-oriented design and keeps the Views encapsulated.</a:t>
            </a:r>
            <a:endParaRPr/>
          </a:p>
          <a:p>
            <a:pPr indent="0" lvl="0" marL="0" rtl="0" algn="l">
              <a:spcBef>
                <a:spcPts val="1200"/>
              </a:spcBef>
              <a:spcAft>
                <a:spcPts val="1200"/>
              </a:spcAft>
              <a:buNone/>
            </a:pPr>
            <a:r>
              <a:rPr lang="en" u="sng">
                <a:solidFill>
                  <a:schemeClr val="hlink"/>
                </a:solidFill>
                <a:hlinkClick r:id="rId3"/>
              </a:rPr>
              <a:t>View | Android Developers</a:t>
            </a:r>
            <a:r>
              <a:rPr lang="en"/>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 Properties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b="1" lang="en"/>
              <a:t>a</a:t>
            </a:r>
            <a:r>
              <a:rPr b="1" lang="en"/>
              <a:t>ndroid:id </a:t>
            </a:r>
            <a:r>
              <a:rPr lang="en"/>
              <a:t>specifies a unique identifier for the View. This identifier needs to be unique within the layout, though ideally is unique within the entire app for clarity. whenever you specify a new id, which will allow it to be referenced either from the Java code (as R.id.identifier) or by other XML resources (as @id/identifier).</a:t>
            </a:r>
            <a:endParaRPr/>
          </a:p>
          <a:p>
            <a:pPr indent="-334327" lvl="0" marL="457200" rtl="0" algn="l">
              <a:spcBef>
                <a:spcPts val="0"/>
              </a:spcBef>
              <a:spcAft>
                <a:spcPts val="0"/>
              </a:spcAft>
              <a:buSzPct val="100000"/>
              <a:buChar char="●"/>
            </a:pPr>
            <a:r>
              <a:rPr b="1" lang="en"/>
              <a:t>android:layout_width</a:t>
            </a:r>
            <a:r>
              <a:rPr lang="en"/>
              <a:t> and </a:t>
            </a:r>
            <a:r>
              <a:rPr b="1" lang="en"/>
              <a:t>android:layout_height</a:t>
            </a:r>
            <a:r>
              <a:rPr lang="en"/>
              <a:t> are used to specify the View’s size on the screen These values can be a specific value (e.g., 12dp), but more commonly are one of two special values:</a:t>
            </a:r>
            <a:endParaRPr/>
          </a:p>
          <a:p>
            <a:pPr indent="-310832" lvl="1" marL="914400" rtl="0" algn="l">
              <a:spcBef>
                <a:spcPts val="0"/>
              </a:spcBef>
              <a:spcAft>
                <a:spcPts val="0"/>
              </a:spcAft>
              <a:buSzPct val="100000"/>
              <a:buChar char="○"/>
            </a:pPr>
            <a:r>
              <a:rPr b="1" lang="en"/>
              <a:t>wrap_content</a:t>
            </a:r>
            <a:r>
              <a:rPr lang="en"/>
              <a:t>, meaning the dimension should be as large as the content requires, plus padding.</a:t>
            </a:r>
            <a:endParaRPr/>
          </a:p>
          <a:p>
            <a:pPr indent="-310832" lvl="1" marL="914400" rtl="0" algn="l">
              <a:spcBef>
                <a:spcPts val="0"/>
              </a:spcBef>
              <a:spcAft>
                <a:spcPts val="0"/>
              </a:spcAft>
              <a:buSzPct val="100000"/>
              <a:buChar char="○"/>
            </a:pPr>
            <a:r>
              <a:rPr b="1" lang="en"/>
              <a:t>match_parent</a:t>
            </a:r>
            <a:r>
              <a:rPr lang="en"/>
              <a:t>, meaning the dimension should be as large as the parent (container) element, minus padding. This value was renamed from fill_parent (which has now been deprecated).</a:t>
            </a:r>
            <a:endParaRPr/>
          </a:p>
          <a:p>
            <a:pPr indent="-334327" lvl="0" marL="457200" rtl="0" algn="l">
              <a:spcBef>
                <a:spcPts val="0"/>
              </a:spcBef>
              <a:spcAft>
                <a:spcPts val="0"/>
              </a:spcAft>
              <a:buSzPct val="100000"/>
              <a:buChar char="●"/>
            </a:pPr>
            <a:r>
              <a:rPr lang="en" u="sng"/>
              <a:t>Unlike CSS, styling properties specified in the layout XML resources are not inherited.</a:t>
            </a:r>
            <a:r>
              <a:rPr lang="en"/>
              <a:t> In order to define shared style properties, you’ll need to use styles resources</a:t>
            </a:r>
            <a:endParaRPr/>
          </a:p>
          <a:p>
            <a:pPr indent="-334327" lvl="0" marL="457200" rtl="0" algn="l">
              <a:spcBef>
                <a:spcPts val="0"/>
              </a:spcBef>
              <a:spcAft>
                <a:spcPts val="0"/>
              </a:spcAft>
              <a:buSzPct val="100000"/>
              <a:buChar char="●"/>
            </a:pPr>
            <a:r>
              <a:rPr lang="en"/>
              <a:t>More: </a:t>
            </a:r>
            <a:r>
              <a:rPr lang="en" u="sng">
                <a:solidFill>
                  <a:schemeClr val="hlink"/>
                </a:solidFill>
                <a:hlinkClick r:id="rId3"/>
              </a:rPr>
              <a:t>View | Android Developers</a:t>
            </a:r>
            <a:r>
              <a:rPr lang="en"/>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Views and Java</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Displaying a View on a screen is called </a:t>
            </a:r>
            <a:r>
              <a:rPr b="1" lang="en"/>
              <a:t>inflating </a:t>
            </a:r>
            <a:r>
              <a:rPr lang="en"/>
              <a:t>that View.</a:t>
            </a:r>
            <a:endParaRPr/>
          </a:p>
          <a:p>
            <a:pPr indent="-342900" lvl="0" marL="457200" rtl="0" algn="l">
              <a:spcBef>
                <a:spcPts val="0"/>
              </a:spcBef>
              <a:spcAft>
                <a:spcPts val="0"/>
              </a:spcAft>
              <a:buSzPts val="1800"/>
              <a:buChar char="●"/>
            </a:pPr>
            <a:r>
              <a:rPr lang="en"/>
              <a:t>When a View is inflated, it is instantiate as an object. Thus you can think of each XML element as representing a particular Java Object that will be instantiated and referenced at runtime.</a:t>
            </a:r>
            <a:endParaRPr/>
          </a:p>
          <a:p>
            <a:pPr indent="-342900" lvl="0" marL="457200" rtl="0" algn="l">
              <a:spcBef>
                <a:spcPts val="0"/>
              </a:spcBef>
              <a:spcAft>
                <a:spcPts val="0"/>
              </a:spcAft>
              <a:buSzPts val="1800"/>
              <a:buChar char="●"/>
            </a:pPr>
            <a:r>
              <a:rPr lang="en"/>
              <a:t>You can get a reference to these objects from the Java code using the findViewById() method.</a:t>
            </a:r>
            <a:endParaRPr/>
          </a:p>
          <a:p>
            <a:pPr indent="-342900" lvl="0" marL="457200" rtl="0" algn="l">
              <a:spcBef>
                <a:spcPts val="0"/>
              </a:spcBef>
              <a:spcAft>
                <a:spcPts val="0"/>
              </a:spcAft>
              <a:buSzPts val="1800"/>
              <a:buChar char="●"/>
            </a:pPr>
            <a:r>
              <a:rPr lang="en"/>
              <a:t>Once you have a reference to a View object in Java, it is possible to specify visual properties dynamically via Java methods</a:t>
            </a:r>
            <a:endParaRPr/>
          </a:p>
          <a:p>
            <a:pPr indent="-342900" lvl="0" marL="457200" rtl="0" algn="l">
              <a:spcBef>
                <a:spcPts val="0"/>
              </a:spcBef>
              <a:spcAft>
                <a:spcPts val="0"/>
              </a:spcAft>
              <a:buSzPts val="1800"/>
              <a:buChar char="●"/>
            </a:pPr>
            <a:r>
              <a:rPr b="1" lang="en"/>
              <a:t>DO NOT instantiate or define Views or View appearances in an Activity’s onCreate() method, unless the properties (e.g., content) truly cannot be determined before runtime! DO specify layouts in the XML instead.</a:t>
            </a:r>
            <a:endParaRPr b="1"/>
          </a:p>
          <a:p>
            <a:pPr indent="-342900" lvl="0" marL="457200" rtl="0" algn="l">
              <a:spcBef>
                <a:spcPts val="0"/>
              </a:spcBef>
              <a:spcAft>
                <a:spcPts val="0"/>
              </a:spcAft>
              <a:buSzPts val="1800"/>
              <a:buChar char="●"/>
            </a:pPr>
            <a:r>
              <a:rPr lang="en" u="sng">
                <a:solidFill>
                  <a:schemeClr val="hlink"/>
                </a:solidFill>
                <a:hlinkClick r:id="rId3"/>
              </a:rPr>
              <a:t>User Interface &amp; Navigation | Android Developers</a:t>
            </a: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u="sng"/>
              <a:t>Resources are usually defined as XML.</a:t>
            </a:r>
            <a:r>
              <a:rPr lang="en"/>
              <a:t> When an application is compiled, the build tools (e.g., Gradle) will generate an additional Java class called R (for “resource”). This class contains what is basically a giant list of static “constants”—at least one for each XML element.</a:t>
            </a:r>
            <a:br>
              <a:rPr lang="en"/>
            </a:br>
            <a:br>
              <a:rPr lang="en"/>
            </a:br>
            <a:r>
              <a:rPr lang="en"/>
              <a:t>Strings.xml</a:t>
            </a:r>
            <a:endParaRPr/>
          </a:p>
          <a:p>
            <a:pPr indent="0" lvl="0" marL="0" rtl="0" algn="l">
              <a:spcBef>
                <a:spcPts val="1200"/>
              </a:spcBef>
              <a:spcAft>
                <a:spcPts val="0"/>
              </a:spcAft>
              <a:buNone/>
            </a:pPr>
            <a:r>
              <a:rPr b="1" lang="en" sz="1000">
                <a:solidFill>
                  <a:srgbClr val="007020"/>
                </a:solidFill>
                <a:highlight>
                  <a:srgbClr val="F7F7F7"/>
                </a:highlight>
                <a:latin typeface="Courier New"/>
                <a:ea typeface="Courier New"/>
                <a:cs typeface="Courier New"/>
                <a:sym typeface="Courier New"/>
              </a:rPr>
              <a:t>&lt;string</a:t>
            </a:r>
            <a:r>
              <a:rPr lang="en" sz="1000">
                <a:solidFill>
                  <a:srgbClr val="007020"/>
                </a:solidFill>
                <a:highlight>
                  <a:srgbClr val="F7F7F7"/>
                </a:highlight>
                <a:latin typeface="Courier New"/>
                <a:ea typeface="Courier New"/>
                <a:cs typeface="Courier New"/>
                <a:sym typeface="Courier New"/>
              </a:rPr>
              <a:t> name=</a:t>
            </a:r>
            <a:r>
              <a:rPr lang="en" sz="1000">
                <a:solidFill>
                  <a:srgbClr val="4070A0"/>
                </a:solidFill>
                <a:highlight>
                  <a:srgbClr val="F7F7F7"/>
                </a:highlight>
                <a:latin typeface="Courier New"/>
                <a:ea typeface="Courier New"/>
                <a:cs typeface="Courier New"/>
                <a:sym typeface="Courier New"/>
              </a:rPr>
              <a:t>"app_name"</a:t>
            </a:r>
            <a:r>
              <a:rPr b="1" lang="en" sz="1000">
                <a:solidFill>
                  <a:srgbClr val="007020"/>
                </a:solidFill>
                <a:highlight>
                  <a:srgbClr val="F7F7F7"/>
                </a:highlight>
                <a:latin typeface="Courier New"/>
                <a:ea typeface="Courier New"/>
                <a:cs typeface="Courier New"/>
                <a:sym typeface="Courier New"/>
              </a:rPr>
              <a:t>&gt;</a:t>
            </a:r>
            <a:r>
              <a:rPr lang="en" sz="1000">
                <a:solidFill>
                  <a:srgbClr val="333333"/>
                </a:solidFill>
                <a:highlight>
                  <a:srgbClr val="F7F7F7"/>
                </a:highlight>
                <a:latin typeface="Courier New"/>
                <a:ea typeface="Courier New"/>
                <a:cs typeface="Courier New"/>
                <a:sym typeface="Courier New"/>
              </a:rPr>
              <a:t>Layout Demo</a:t>
            </a:r>
            <a:r>
              <a:rPr b="1" lang="en" sz="1000">
                <a:solidFill>
                  <a:srgbClr val="007020"/>
                </a:solidFill>
                <a:highlight>
                  <a:srgbClr val="F7F7F7"/>
                </a:highlight>
                <a:latin typeface="Courier New"/>
                <a:ea typeface="Courier New"/>
                <a:cs typeface="Courier New"/>
                <a:sym typeface="Courier New"/>
              </a:rPr>
              <a:t>&lt;/string&gt;</a:t>
            </a:r>
            <a:br>
              <a:rPr lang="en" sz="1000">
                <a:solidFill>
                  <a:srgbClr val="333333"/>
                </a:solidFill>
                <a:highlight>
                  <a:srgbClr val="F7F7F7"/>
                </a:highlight>
                <a:latin typeface="Courier New"/>
                <a:ea typeface="Courier New"/>
                <a:cs typeface="Courier New"/>
                <a:sym typeface="Courier New"/>
              </a:rPr>
            </a:br>
            <a:r>
              <a:rPr b="1" lang="en" sz="1000">
                <a:solidFill>
                  <a:srgbClr val="007020"/>
                </a:solidFill>
                <a:highlight>
                  <a:srgbClr val="F7F7F7"/>
                </a:highlight>
                <a:latin typeface="Courier New"/>
                <a:ea typeface="Courier New"/>
                <a:cs typeface="Courier New"/>
                <a:sym typeface="Courier New"/>
              </a:rPr>
              <a:t>&lt;string</a:t>
            </a:r>
            <a:r>
              <a:rPr lang="en" sz="1000">
                <a:solidFill>
                  <a:srgbClr val="007020"/>
                </a:solidFill>
                <a:highlight>
                  <a:srgbClr val="F7F7F7"/>
                </a:highlight>
                <a:latin typeface="Courier New"/>
                <a:ea typeface="Courier New"/>
                <a:cs typeface="Courier New"/>
                <a:sym typeface="Courier New"/>
              </a:rPr>
              <a:t> name=</a:t>
            </a:r>
            <a:r>
              <a:rPr lang="en" sz="1000">
                <a:solidFill>
                  <a:srgbClr val="4070A0"/>
                </a:solidFill>
                <a:highlight>
                  <a:srgbClr val="F7F7F7"/>
                </a:highlight>
                <a:latin typeface="Courier New"/>
                <a:ea typeface="Courier New"/>
                <a:cs typeface="Courier New"/>
                <a:sym typeface="Courier New"/>
              </a:rPr>
              <a:t>"greeting"</a:t>
            </a:r>
            <a:r>
              <a:rPr b="1" lang="en" sz="1000">
                <a:solidFill>
                  <a:srgbClr val="007020"/>
                </a:solidFill>
                <a:highlight>
                  <a:srgbClr val="F7F7F7"/>
                </a:highlight>
                <a:latin typeface="Courier New"/>
                <a:ea typeface="Courier New"/>
                <a:cs typeface="Courier New"/>
                <a:sym typeface="Courier New"/>
              </a:rPr>
              <a:t>&gt;</a:t>
            </a:r>
            <a:r>
              <a:rPr lang="en" sz="1000">
                <a:solidFill>
                  <a:srgbClr val="333333"/>
                </a:solidFill>
                <a:highlight>
                  <a:srgbClr val="F7F7F7"/>
                </a:highlight>
                <a:latin typeface="Courier New"/>
                <a:ea typeface="Courier New"/>
                <a:cs typeface="Courier New"/>
                <a:sym typeface="Courier New"/>
              </a:rPr>
              <a:t>Hello Android!</a:t>
            </a:r>
            <a:r>
              <a:rPr b="1" lang="en" sz="1000">
                <a:solidFill>
                  <a:srgbClr val="007020"/>
                </a:solidFill>
                <a:highlight>
                  <a:srgbClr val="F7F7F7"/>
                </a:highlight>
                <a:latin typeface="Courier New"/>
                <a:ea typeface="Courier New"/>
                <a:cs typeface="Courier New"/>
                <a:sym typeface="Courier New"/>
              </a:rPr>
              <a:t>&lt;/string&gt;</a:t>
            </a:r>
            <a:endParaRPr b="1" sz="1000">
              <a:solidFill>
                <a:srgbClr val="007020"/>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br>
              <a:rPr b="1" lang="en" sz="1000">
                <a:solidFill>
                  <a:srgbClr val="007020"/>
                </a:solidFill>
                <a:highlight>
                  <a:srgbClr val="F7F7F7"/>
                </a:highlight>
                <a:latin typeface="Courier New"/>
                <a:ea typeface="Courier New"/>
                <a:cs typeface="Courier New"/>
                <a:sym typeface="Courier New"/>
              </a:rPr>
            </a:br>
            <a:r>
              <a:rPr lang="en"/>
              <a:t>R File</a:t>
            </a:r>
            <a:endParaRPr/>
          </a:p>
          <a:p>
            <a:pPr indent="0" lvl="0" marL="0" rtl="0" algn="l">
              <a:spcBef>
                <a:spcPts val="1200"/>
              </a:spcBef>
              <a:spcAft>
                <a:spcPts val="1200"/>
              </a:spcAft>
              <a:buNone/>
            </a:pPr>
            <a:r>
              <a:rPr b="1" lang="en" sz="1000">
                <a:solidFill>
                  <a:srgbClr val="007020"/>
                </a:solidFill>
                <a:highlight>
                  <a:srgbClr val="F7F7F7"/>
                </a:highlight>
                <a:latin typeface="Courier New"/>
                <a:ea typeface="Courier New"/>
                <a:cs typeface="Courier New"/>
                <a:sym typeface="Courier New"/>
              </a:rPr>
              <a:t>public</a:t>
            </a:r>
            <a:r>
              <a:rPr lang="en" sz="1000">
                <a:solidFill>
                  <a:srgbClr val="333333"/>
                </a:solidFill>
                <a:highlight>
                  <a:srgbClr val="F7F7F7"/>
                </a:highlight>
                <a:latin typeface="Courier New"/>
                <a:ea typeface="Courier New"/>
                <a:cs typeface="Courier New"/>
                <a:sym typeface="Courier New"/>
              </a:rPr>
              <a:t> </a:t>
            </a:r>
            <a:r>
              <a:rPr b="1" lang="en" sz="1000">
                <a:solidFill>
                  <a:srgbClr val="007020"/>
                </a:solidFill>
                <a:highlight>
                  <a:srgbClr val="F7F7F7"/>
                </a:highlight>
                <a:latin typeface="Courier New"/>
                <a:ea typeface="Courier New"/>
                <a:cs typeface="Courier New"/>
                <a:sym typeface="Courier New"/>
              </a:rPr>
              <a:t>class</a:t>
            </a:r>
            <a:r>
              <a:rPr lang="en" sz="1000">
                <a:solidFill>
                  <a:srgbClr val="333333"/>
                </a:solidFill>
                <a:highlight>
                  <a:srgbClr val="F7F7F7"/>
                </a:highlight>
                <a:latin typeface="Courier New"/>
                <a:ea typeface="Courier New"/>
                <a:cs typeface="Courier New"/>
                <a:sym typeface="Courier New"/>
              </a:rPr>
              <a:t> R {</a:t>
            </a:r>
            <a:br>
              <a:rPr lang="en" sz="1000">
                <a:solidFill>
                  <a:srgbClr val="333333"/>
                </a:solidFill>
                <a:highlight>
                  <a:srgbClr val="F7F7F7"/>
                </a:highlight>
                <a:latin typeface="Courier New"/>
                <a:ea typeface="Courier New"/>
                <a:cs typeface="Courier New"/>
                <a:sym typeface="Courier New"/>
              </a:rPr>
            </a:br>
            <a:r>
              <a:rPr lang="en" sz="1000">
                <a:solidFill>
                  <a:srgbClr val="333333"/>
                </a:solidFill>
                <a:highlight>
                  <a:srgbClr val="F7F7F7"/>
                </a:highlight>
                <a:latin typeface="Courier New"/>
                <a:ea typeface="Courier New"/>
                <a:cs typeface="Courier New"/>
                <a:sym typeface="Courier New"/>
              </a:rPr>
              <a:t>    </a:t>
            </a:r>
            <a:r>
              <a:rPr b="1" lang="en" sz="1000">
                <a:solidFill>
                  <a:srgbClr val="007020"/>
                </a:solidFill>
                <a:highlight>
                  <a:srgbClr val="F7F7F7"/>
                </a:highlight>
                <a:latin typeface="Courier New"/>
                <a:ea typeface="Courier New"/>
                <a:cs typeface="Courier New"/>
                <a:sym typeface="Courier New"/>
              </a:rPr>
              <a:t>public</a:t>
            </a:r>
            <a:r>
              <a:rPr lang="en" sz="1000">
                <a:solidFill>
                  <a:srgbClr val="333333"/>
                </a:solidFill>
                <a:highlight>
                  <a:srgbClr val="F7F7F7"/>
                </a:highlight>
                <a:latin typeface="Courier New"/>
                <a:ea typeface="Courier New"/>
                <a:cs typeface="Courier New"/>
                <a:sym typeface="Courier New"/>
              </a:rPr>
              <a:t> </a:t>
            </a:r>
            <a:r>
              <a:rPr lang="en" sz="1000">
                <a:solidFill>
                  <a:srgbClr val="902000"/>
                </a:solidFill>
                <a:highlight>
                  <a:srgbClr val="F7F7F7"/>
                </a:highlight>
                <a:latin typeface="Courier New"/>
                <a:ea typeface="Courier New"/>
                <a:cs typeface="Courier New"/>
                <a:sym typeface="Courier New"/>
              </a:rPr>
              <a:t>static</a:t>
            </a:r>
            <a:r>
              <a:rPr lang="en" sz="1000">
                <a:solidFill>
                  <a:srgbClr val="333333"/>
                </a:solidFill>
                <a:highlight>
                  <a:srgbClr val="F7F7F7"/>
                </a:highlight>
                <a:latin typeface="Courier New"/>
                <a:ea typeface="Courier New"/>
                <a:cs typeface="Courier New"/>
                <a:sym typeface="Courier New"/>
              </a:rPr>
              <a:t> </a:t>
            </a:r>
            <a:r>
              <a:rPr b="1" lang="en" sz="1000">
                <a:solidFill>
                  <a:srgbClr val="007020"/>
                </a:solidFill>
                <a:highlight>
                  <a:srgbClr val="F7F7F7"/>
                </a:highlight>
                <a:latin typeface="Courier New"/>
                <a:ea typeface="Courier New"/>
                <a:cs typeface="Courier New"/>
                <a:sym typeface="Courier New"/>
              </a:rPr>
              <a:t>class</a:t>
            </a:r>
            <a:r>
              <a:rPr lang="en" sz="1000">
                <a:solidFill>
                  <a:srgbClr val="333333"/>
                </a:solidFill>
                <a:highlight>
                  <a:srgbClr val="F7F7F7"/>
                </a:highlight>
                <a:latin typeface="Courier New"/>
                <a:ea typeface="Courier New"/>
                <a:cs typeface="Courier New"/>
                <a:sym typeface="Courier New"/>
              </a:rPr>
              <a:t> string {</a:t>
            </a:r>
            <a:br>
              <a:rPr lang="en" sz="1000">
                <a:solidFill>
                  <a:srgbClr val="333333"/>
                </a:solidFill>
                <a:highlight>
                  <a:srgbClr val="F7F7F7"/>
                </a:highlight>
                <a:latin typeface="Courier New"/>
                <a:ea typeface="Courier New"/>
                <a:cs typeface="Courier New"/>
                <a:sym typeface="Courier New"/>
              </a:rPr>
            </a:br>
            <a:r>
              <a:rPr lang="en" sz="1000">
                <a:solidFill>
                  <a:srgbClr val="333333"/>
                </a:solidFill>
                <a:highlight>
                  <a:srgbClr val="F7F7F7"/>
                </a:highlight>
                <a:latin typeface="Courier New"/>
                <a:ea typeface="Courier New"/>
                <a:cs typeface="Courier New"/>
                <a:sym typeface="Courier New"/>
              </a:rPr>
              <a:t>        </a:t>
            </a:r>
            <a:r>
              <a:rPr b="1" lang="en" sz="1000">
                <a:solidFill>
                  <a:srgbClr val="007020"/>
                </a:solidFill>
                <a:highlight>
                  <a:srgbClr val="F7F7F7"/>
                </a:highlight>
                <a:latin typeface="Courier New"/>
                <a:ea typeface="Courier New"/>
                <a:cs typeface="Courier New"/>
                <a:sym typeface="Courier New"/>
              </a:rPr>
              <a:t>public</a:t>
            </a:r>
            <a:r>
              <a:rPr lang="en" sz="1000">
                <a:solidFill>
                  <a:srgbClr val="333333"/>
                </a:solidFill>
                <a:highlight>
                  <a:srgbClr val="F7F7F7"/>
                </a:highlight>
                <a:latin typeface="Courier New"/>
                <a:ea typeface="Courier New"/>
                <a:cs typeface="Courier New"/>
                <a:sym typeface="Courier New"/>
              </a:rPr>
              <a:t> </a:t>
            </a:r>
            <a:r>
              <a:rPr lang="en" sz="1000">
                <a:solidFill>
                  <a:srgbClr val="902000"/>
                </a:solidFill>
                <a:highlight>
                  <a:srgbClr val="F7F7F7"/>
                </a:highlight>
                <a:latin typeface="Courier New"/>
                <a:ea typeface="Courier New"/>
                <a:cs typeface="Courier New"/>
                <a:sym typeface="Courier New"/>
              </a:rPr>
              <a:t>static</a:t>
            </a:r>
            <a:r>
              <a:rPr lang="en" sz="1000">
                <a:solidFill>
                  <a:srgbClr val="333333"/>
                </a:solidFill>
                <a:highlight>
                  <a:srgbClr val="F7F7F7"/>
                </a:highlight>
                <a:latin typeface="Courier New"/>
                <a:ea typeface="Courier New"/>
                <a:cs typeface="Courier New"/>
                <a:sym typeface="Courier New"/>
              </a:rPr>
              <a:t> </a:t>
            </a:r>
            <a:r>
              <a:rPr lang="en" sz="1000">
                <a:solidFill>
                  <a:srgbClr val="902000"/>
                </a:solidFill>
                <a:highlight>
                  <a:srgbClr val="F7F7F7"/>
                </a:highlight>
                <a:latin typeface="Courier New"/>
                <a:ea typeface="Courier New"/>
                <a:cs typeface="Courier New"/>
                <a:sym typeface="Courier New"/>
              </a:rPr>
              <a:t>final</a:t>
            </a:r>
            <a:r>
              <a:rPr lang="en" sz="1000">
                <a:solidFill>
                  <a:srgbClr val="333333"/>
                </a:solidFill>
                <a:highlight>
                  <a:srgbClr val="F7F7F7"/>
                </a:highlight>
                <a:latin typeface="Courier New"/>
                <a:ea typeface="Courier New"/>
                <a:cs typeface="Courier New"/>
                <a:sym typeface="Courier New"/>
              </a:rPr>
              <a:t> String app_name = </a:t>
            </a:r>
            <a:r>
              <a:rPr lang="en" sz="1000">
                <a:solidFill>
                  <a:srgbClr val="4070A0"/>
                </a:solidFill>
                <a:highlight>
                  <a:srgbClr val="F7F7F7"/>
                </a:highlight>
                <a:latin typeface="Courier New"/>
                <a:ea typeface="Courier New"/>
                <a:cs typeface="Courier New"/>
                <a:sym typeface="Courier New"/>
              </a:rPr>
              <a:t>"My Application"</a:t>
            </a:r>
            <a:r>
              <a:rPr lang="en" sz="1000">
                <a:solidFill>
                  <a:srgbClr val="333333"/>
                </a:solidFill>
                <a:highlight>
                  <a:srgbClr val="F7F7F7"/>
                </a:highlight>
                <a:latin typeface="Courier New"/>
                <a:ea typeface="Courier New"/>
                <a:cs typeface="Courier New"/>
                <a:sym typeface="Courier New"/>
              </a:rPr>
              <a:t>;</a:t>
            </a:r>
            <a:br>
              <a:rPr lang="en" sz="1000">
                <a:solidFill>
                  <a:srgbClr val="333333"/>
                </a:solidFill>
                <a:highlight>
                  <a:srgbClr val="F7F7F7"/>
                </a:highlight>
                <a:latin typeface="Courier New"/>
                <a:ea typeface="Courier New"/>
                <a:cs typeface="Courier New"/>
                <a:sym typeface="Courier New"/>
              </a:rPr>
            </a:br>
            <a:r>
              <a:rPr lang="en" sz="1000">
                <a:solidFill>
                  <a:srgbClr val="333333"/>
                </a:solidFill>
                <a:highlight>
                  <a:srgbClr val="F7F7F7"/>
                </a:highlight>
                <a:latin typeface="Courier New"/>
                <a:ea typeface="Courier New"/>
                <a:cs typeface="Courier New"/>
                <a:sym typeface="Courier New"/>
              </a:rPr>
              <a:t>        </a:t>
            </a:r>
            <a:r>
              <a:rPr b="1" lang="en" sz="1000">
                <a:solidFill>
                  <a:srgbClr val="007020"/>
                </a:solidFill>
                <a:highlight>
                  <a:srgbClr val="F7F7F7"/>
                </a:highlight>
                <a:latin typeface="Courier New"/>
                <a:ea typeface="Courier New"/>
                <a:cs typeface="Courier New"/>
                <a:sym typeface="Courier New"/>
              </a:rPr>
              <a:t>public</a:t>
            </a:r>
            <a:r>
              <a:rPr lang="en" sz="1000">
                <a:solidFill>
                  <a:srgbClr val="333333"/>
                </a:solidFill>
                <a:highlight>
                  <a:srgbClr val="F7F7F7"/>
                </a:highlight>
                <a:latin typeface="Courier New"/>
                <a:ea typeface="Courier New"/>
                <a:cs typeface="Courier New"/>
                <a:sym typeface="Courier New"/>
              </a:rPr>
              <a:t> </a:t>
            </a:r>
            <a:r>
              <a:rPr lang="en" sz="1000">
                <a:solidFill>
                  <a:srgbClr val="902000"/>
                </a:solidFill>
                <a:highlight>
                  <a:srgbClr val="F7F7F7"/>
                </a:highlight>
                <a:latin typeface="Courier New"/>
                <a:ea typeface="Courier New"/>
                <a:cs typeface="Courier New"/>
                <a:sym typeface="Courier New"/>
              </a:rPr>
              <a:t>static</a:t>
            </a:r>
            <a:r>
              <a:rPr lang="en" sz="1000">
                <a:solidFill>
                  <a:srgbClr val="333333"/>
                </a:solidFill>
                <a:highlight>
                  <a:srgbClr val="F7F7F7"/>
                </a:highlight>
                <a:latin typeface="Courier New"/>
                <a:ea typeface="Courier New"/>
                <a:cs typeface="Courier New"/>
                <a:sym typeface="Courier New"/>
              </a:rPr>
              <a:t> </a:t>
            </a:r>
            <a:r>
              <a:rPr lang="en" sz="1000">
                <a:solidFill>
                  <a:srgbClr val="902000"/>
                </a:solidFill>
                <a:highlight>
                  <a:srgbClr val="F7F7F7"/>
                </a:highlight>
                <a:latin typeface="Courier New"/>
                <a:ea typeface="Courier New"/>
                <a:cs typeface="Courier New"/>
                <a:sym typeface="Courier New"/>
              </a:rPr>
              <a:t>final</a:t>
            </a:r>
            <a:r>
              <a:rPr lang="en" sz="1000">
                <a:solidFill>
                  <a:srgbClr val="333333"/>
                </a:solidFill>
                <a:highlight>
                  <a:srgbClr val="F7F7F7"/>
                </a:highlight>
                <a:latin typeface="Courier New"/>
                <a:ea typeface="Courier New"/>
                <a:cs typeface="Courier New"/>
                <a:sym typeface="Courier New"/>
              </a:rPr>
              <a:t> String greeting = </a:t>
            </a:r>
            <a:r>
              <a:rPr lang="en" sz="1000">
                <a:solidFill>
                  <a:srgbClr val="4070A0"/>
                </a:solidFill>
                <a:highlight>
                  <a:srgbClr val="F7F7F7"/>
                </a:highlight>
                <a:latin typeface="Courier New"/>
                <a:ea typeface="Courier New"/>
                <a:cs typeface="Courier New"/>
                <a:sym typeface="Courier New"/>
              </a:rPr>
              <a:t>"Hello Android!"</a:t>
            </a:r>
            <a:r>
              <a:rPr lang="en" sz="1000">
                <a:solidFill>
                  <a:srgbClr val="333333"/>
                </a:solidFill>
                <a:highlight>
                  <a:srgbClr val="F7F7F7"/>
                </a:highlight>
                <a:latin typeface="Courier New"/>
                <a:ea typeface="Courier New"/>
                <a:cs typeface="Courier New"/>
                <a:sym typeface="Courier New"/>
              </a:rPr>
              <a:t>;</a:t>
            </a:r>
            <a:br>
              <a:rPr lang="en" sz="1000">
                <a:solidFill>
                  <a:srgbClr val="333333"/>
                </a:solidFill>
                <a:highlight>
                  <a:srgbClr val="F7F7F7"/>
                </a:highlight>
                <a:latin typeface="Courier New"/>
                <a:ea typeface="Courier New"/>
                <a:cs typeface="Courier New"/>
                <a:sym typeface="Courier New"/>
              </a:rPr>
            </a:br>
            <a:r>
              <a:rPr lang="en" sz="1000">
                <a:solidFill>
                  <a:srgbClr val="333333"/>
                </a:solidFill>
                <a:highlight>
                  <a:srgbClr val="F7F7F7"/>
                </a:highlight>
                <a:latin typeface="Courier New"/>
                <a:ea typeface="Courier New"/>
                <a:cs typeface="Courier New"/>
                <a:sym typeface="Courier New"/>
              </a:rPr>
              <a:t>    }</a:t>
            </a:r>
            <a:br>
              <a:rPr lang="en" sz="1000">
                <a:solidFill>
                  <a:srgbClr val="333333"/>
                </a:solidFill>
                <a:highlight>
                  <a:srgbClr val="F7F7F7"/>
                </a:highlight>
                <a:latin typeface="Courier New"/>
                <a:ea typeface="Courier New"/>
                <a:cs typeface="Courier New"/>
                <a:sym typeface="Courier New"/>
              </a:rPr>
            </a:br>
            <a:r>
              <a:rPr lang="en" sz="1000">
                <a:solidFill>
                  <a:srgbClr val="333333"/>
                </a:solidFill>
                <a:highlight>
                  <a:srgbClr val="F7F7F7"/>
                </a:highlight>
                <a:latin typeface="Courier New"/>
                <a:ea typeface="Courier New"/>
                <a:cs typeface="Courier New"/>
                <a:sym typeface="Courier New"/>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Resource can be referred to with R.resource_type.identifier</a:t>
            </a:r>
            <a:endParaRPr/>
          </a:p>
          <a:p>
            <a:pPr indent="-342900" lvl="0" marL="457200" rtl="0" algn="l">
              <a:spcBef>
                <a:spcPts val="0"/>
              </a:spcBef>
              <a:spcAft>
                <a:spcPts val="0"/>
              </a:spcAft>
              <a:buSzPts val="1800"/>
              <a:buChar char="●"/>
            </a:pPr>
            <a:r>
              <a:rPr lang="en"/>
              <a:t>You can find the generated R.java file inside app/build/generated/source/r/debug/... (Use the Project Files view in Android Studio).</a:t>
            </a:r>
            <a:endParaRPr/>
          </a:p>
          <a:p>
            <a:pPr indent="-342900" lvl="0" marL="457200" rtl="0" algn="l">
              <a:spcBef>
                <a:spcPts val="0"/>
              </a:spcBef>
              <a:spcAft>
                <a:spcPts val="0"/>
              </a:spcAft>
              <a:buSzPts val="1800"/>
              <a:buChar char="●"/>
            </a:pPr>
            <a:r>
              <a:rPr lang="en"/>
              <a:t>The R class is regenerated all time</a:t>
            </a:r>
            <a:endParaRPr/>
          </a:p>
          <a:p>
            <a:pPr indent="0" lvl="0" marL="0" rtl="0" algn="l">
              <a:spcBef>
                <a:spcPts val="1200"/>
              </a:spcBef>
              <a:spcAft>
                <a:spcPts val="0"/>
              </a:spcAft>
              <a:buNone/>
            </a:pPr>
            <a:r>
              <a:rPr lang="en" sz="1000">
                <a:solidFill>
                  <a:srgbClr val="333333"/>
                </a:solidFill>
                <a:highlight>
                  <a:srgbClr val="F7F7F7"/>
                </a:highlight>
                <a:latin typeface="Courier New"/>
                <a:ea typeface="Courier New"/>
                <a:cs typeface="Courier New"/>
                <a:sym typeface="Courier New"/>
              </a:rPr>
              <a:t>Resources res = </a:t>
            </a:r>
            <a:r>
              <a:rPr b="1" lang="en" sz="1000">
                <a:solidFill>
                  <a:srgbClr val="007020"/>
                </a:solidFill>
                <a:highlight>
                  <a:srgbClr val="F7F7F7"/>
                </a:highlight>
                <a:latin typeface="Courier New"/>
                <a:ea typeface="Courier New"/>
                <a:cs typeface="Courier New"/>
                <a:sym typeface="Courier New"/>
              </a:rPr>
              <a:t>this</a:t>
            </a:r>
            <a:r>
              <a:rPr lang="en" sz="1000">
                <a:solidFill>
                  <a:srgbClr val="333333"/>
                </a:solidFill>
                <a:highlight>
                  <a:srgbClr val="F7F7F7"/>
                </a:highlight>
                <a:latin typeface="Courier New"/>
                <a:ea typeface="Courier New"/>
                <a:cs typeface="Courier New"/>
                <a:sym typeface="Courier New"/>
              </a:rPr>
              <a:t>.</a:t>
            </a:r>
            <a:r>
              <a:rPr lang="en" sz="1000">
                <a:solidFill>
                  <a:srgbClr val="06287E"/>
                </a:solidFill>
                <a:highlight>
                  <a:srgbClr val="F7F7F7"/>
                </a:highlight>
                <a:latin typeface="Courier New"/>
                <a:ea typeface="Courier New"/>
                <a:cs typeface="Courier New"/>
                <a:sym typeface="Courier New"/>
              </a:rPr>
              <a:t>getResources</a:t>
            </a:r>
            <a:r>
              <a:rPr lang="en" sz="1000">
                <a:solidFill>
                  <a:srgbClr val="333333"/>
                </a:solidFill>
                <a:highlight>
                  <a:srgbClr val="F7F7F7"/>
                </a:highlight>
                <a:latin typeface="Courier New"/>
                <a:ea typeface="Courier New"/>
                <a:cs typeface="Courier New"/>
                <a:sym typeface="Courier New"/>
              </a:rPr>
              <a:t>(); </a:t>
            </a:r>
            <a:r>
              <a:rPr i="1" lang="en" sz="1000">
                <a:solidFill>
                  <a:srgbClr val="60A0B0"/>
                </a:solidFill>
                <a:highlight>
                  <a:srgbClr val="F7F7F7"/>
                </a:highlight>
                <a:latin typeface="Courier New"/>
                <a:ea typeface="Courier New"/>
                <a:cs typeface="Courier New"/>
                <a:sym typeface="Courier New"/>
              </a:rPr>
              <a:t>//get access to application's resources</a:t>
            </a:r>
            <a:br>
              <a:rPr lang="en" sz="1000">
                <a:solidFill>
                  <a:srgbClr val="333333"/>
                </a:solidFill>
                <a:highlight>
                  <a:srgbClr val="F7F7F7"/>
                </a:highlight>
                <a:latin typeface="Courier New"/>
                <a:ea typeface="Courier New"/>
                <a:cs typeface="Courier New"/>
                <a:sym typeface="Courier New"/>
              </a:rPr>
            </a:br>
            <a:r>
              <a:rPr lang="en" sz="1000">
                <a:solidFill>
                  <a:srgbClr val="333333"/>
                </a:solidFill>
                <a:highlight>
                  <a:srgbClr val="F7F7F7"/>
                </a:highlight>
                <a:latin typeface="Courier New"/>
                <a:ea typeface="Courier New"/>
                <a:cs typeface="Courier New"/>
                <a:sym typeface="Courier New"/>
              </a:rPr>
              <a:t>String myString = res.</a:t>
            </a:r>
            <a:r>
              <a:rPr lang="en" sz="1000">
                <a:solidFill>
                  <a:srgbClr val="06287E"/>
                </a:solidFill>
                <a:highlight>
                  <a:srgbClr val="F7F7F7"/>
                </a:highlight>
                <a:latin typeface="Courier New"/>
                <a:ea typeface="Courier New"/>
                <a:cs typeface="Courier New"/>
                <a:sym typeface="Courier New"/>
              </a:rPr>
              <a:t>getString</a:t>
            </a:r>
            <a:r>
              <a:rPr lang="en" sz="1000">
                <a:solidFill>
                  <a:srgbClr val="333333"/>
                </a:solidFill>
                <a:highlight>
                  <a:srgbClr val="F7F7F7"/>
                </a:highlight>
                <a:latin typeface="Courier New"/>
                <a:ea typeface="Courier New"/>
                <a:cs typeface="Courier New"/>
                <a:sym typeface="Courier New"/>
              </a:rPr>
              <a:t>(R.</a:t>
            </a:r>
            <a:r>
              <a:rPr lang="en" sz="1000">
                <a:solidFill>
                  <a:srgbClr val="06287E"/>
                </a:solidFill>
                <a:highlight>
                  <a:srgbClr val="F7F7F7"/>
                </a:highlight>
                <a:latin typeface="Courier New"/>
                <a:ea typeface="Courier New"/>
                <a:cs typeface="Courier New"/>
                <a:sym typeface="Courier New"/>
              </a:rPr>
              <a:t>string</a:t>
            </a:r>
            <a:r>
              <a:rPr lang="en" sz="1000">
                <a:solidFill>
                  <a:srgbClr val="333333"/>
                </a:solidFill>
                <a:highlight>
                  <a:srgbClr val="F7F7F7"/>
                </a:highlight>
                <a:latin typeface="Courier New"/>
                <a:ea typeface="Courier New"/>
                <a:cs typeface="Courier New"/>
                <a:sym typeface="Courier New"/>
              </a:rPr>
              <a:t>.</a:t>
            </a:r>
            <a:r>
              <a:rPr lang="en" sz="1000">
                <a:solidFill>
                  <a:srgbClr val="06287E"/>
                </a:solidFill>
                <a:highlight>
                  <a:srgbClr val="F7F7F7"/>
                </a:highlight>
                <a:latin typeface="Courier New"/>
                <a:ea typeface="Courier New"/>
                <a:cs typeface="Courier New"/>
                <a:sym typeface="Courier New"/>
              </a:rPr>
              <a:t>myString</a:t>
            </a:r>
            <a:r>
              <a:rPr lang="en" sz="1000">
                <a:solidFill>
                  <a:srgbClr val="333333"/>
                </a:solidFill>
                <a:highlight>
                  <a:srgbClr val="F7F7F7"/>
                </a:highlight>
                <a:latin typeface="Courier New"/>
                <a:ea typeface="Courier New"/>
                <a:cs typeface="Courier New"/>
                <a:sym typeface="Courier New"/>
              </a:rPr>
              <a:t>); </a:t>
            </a:r>
            <a:r>
              <a:rPr i="1" lang="en" sz="1000">
                <a:solidFill>
                  <a:srgbClr val="60A0B0"/>
                </a:solidFill>
                <a:highlight>
                  <a:srgbClr val="F7F7F7"/>
                </a:highlight>
                <a:latin typeface="Courier New"/>
                <a:ea typeface="Courier New"/>
                <a:cs typeface="Courier New"/>
                <a:sym typeface="Courier New"/>
              </a:rPr>
              <a:t>//look up value of that resource</a:t>
            </a:r>
            <a:endParaRPr i="1" sz="1000">
              <a:solidFill>
                <a:srgbClr val="60A0B0"/>
              </a:solidFill>
              <a:highlight>
                <a:srgbClr val="F7F7F7"/>
              </a:highlight>
              <a:latin typeface="Courier New"/>
              <a:ea typeface="Courier New"/>
              <a:cs typeface="Courier New"/>
              <a:sym typeface="Courier New"/>
            </a:endParaRPr>
          </a:p>
          <a:p>
            <a:pPr indent="0" lvl="0" marL="0" rtl="0" algn="l">
              <a:spcBef>
                <a:spcPts val="1200"/>
              </a:spcBef>
              <a:spcAft>
                <a:spcPts val="0"/>
              </a:spcAft>
              <a:buNone/>
            </a:pPr>
            <a:r>
              <a:rPr lang="en" sz="1000">
                <a:solidFill>
                  <a:srgbClr val="31708F"/>
                </a:solidFill>
                <a:highlight>
                  <a:srgbClr val="F7F7F7"/>
                </a:highlight>
                <a:latin typeface="Courier New"/>
                <a:ea typeface="Courier New"/>
                <a:cs typeface="Courier New"/>
                <a:sym typeface="Courier New"/>
              </a:rPr>
              <a:t>→findViewById</a:t>
            </a:r>
            <a:endParaRPr sz="1000">
              <a:solidFill>
                <a:srgbClr val="31708F"/>
              </a:solidFill>
              <a:highlight>
                <a:srgbClr val="F7F7F7"/>
              </a:highlight>
              <a:latin typeface="Courier New"/>
              <a:ea typeface="Courier New"/>
              <a:cs typeface="Courier New"/>
              <a:sym typeface="Courier New"/>
            </a:endParaRPr>
          </a:p>
          <a:p>
            <a:pPr indent="0" lvl="0" marL="0" rtl="0" algn="l">
              <a:spcBef>
                <a:spcPts val="1200"/>
              </a:spcBef>
              <a:spcAft>
                <a:spcPts val="1200"/>
              </a:spcAft>
              <a:buClr>
                <a:schemeClr val="dk1"/>
              </a:buClr>
              <a:buSzPts val="1100"/>
              <a:buFont typeface="Arial"/>
              <a:buNone/>
            </a:pPr>
            <a:r>
              <a:rPr lang="en" u="sng">
                <a:solidFill>
                  <a:schemeClr val="accent5"/>
                </a:solidFill>
                <a:hlinkClick r:id="rId3">
                  <a:extLst>
                    <a:ext uri="{A12FA001-AC4F-418D-AE19-62706E023703}">
                      <ahyp:hlinkClr val="tx"/>
                    </a:ext>
                  </a:extLst>
                </a:hlinkClick>
              </a:rPr>
              <a:t>R | Android Developers</a:t>
            </a:r>
            <a:endParaRPr sz="1000">
              <a:solidFill>
                <a:srgbClr val="31708F"/>
              </a:solidFill>
              <a:highlight>
                <a:srgbClr val="F7F7F7"/>
              </a:highlight>
              <a:latin typeface="Courier New"/>
              <a:ea typeface="Courier New"/>
              <a:cs typeface="Courier New"/>
              <a:sym typeface="Courier New"/>
            </a:endParaRPr>
          </a:p>
        </p:txBody>
      </p:sp>
      <p:pic>
        <p:nvPicPr>
          <p:cNvPr id="93" name="Google Shape;93;p19"/>
          <p:cNvPicPr preferRelativeResize="0"/>
          <p:nvPr/>
        </p:nvPicPr>
        <p:blipFill rotWithShape="1">
          <a:blip r:embed="rId4">
            <a:alphaModFix/>
          </a:blip>
          <a:srcRect b="58453" l="18160" r="36539" t="17626"/>
          <a:stretch/>
        </p:blipFill>
        <p:spPr>
          <a:xfrm>
            <a:off x="4518824" y="3617100"/>
            <a:ext cx="4625172" cy="1526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DP - SP - PX - PT</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Clr>
                <a:schemeClr val="dk1"/>
              </a:buClr>
              <a:buSzPts val="1100"/>
              <a:buFont typeface="Arial"/>
              <a:buNone/>
            </a:pPr>
            <a:r>
              <a:rPr lang="en" sz="1500"/>
              <a:t>Android utilizes the following dimensions or units:</a:t>
            </a:r>
            <a:endParaRPr sz="1500"/>
          </a:p>
          <a:p>
            <a:pPr indent="0" lvl="0" marL="0" rtl="0" algn="l">
              <a:lnSpc>
                <a:spcPct val="95000"/>
              </a:lnSpc>
              <a:spcBef>
                <a:spcPts val="1200"/>
              </a:spcBef>
              <a:spcAft>
                <a:spcPts val="0"/>
              </a:spcAft>
              <a:buClr>
                <a:schemeClr val="dk1"/>
              </a:buClr>
              <a:buSzPts val="1100"/>
              <a:buFont typeface="Arial"/>
              <a:buNone/>
            </a:pPr>
            <a:r>
              <a:rPr lang="en" sz="1500"/>
              <a:t>dp is a “</a:t>
            </a:r>
            <a:r>
              <a:rPr b="1" lang="en" sz="1500"/>
              <a:t>density-independent pixel</a:t>
            </a:r>
            <a:r>
              <a:rPr lang="en" sz="1500"/>
              <a:t>”. On a 160-dpi (</a:t>
            </a:r>
            <a:r>
              <a:rPr b="1" lang="en" sz="1500"/>
              <a:t>dots-per-inch</a:t>
            </a:r>
            <a:r>
              <a:rPr lang="en" sz="1500"/>
              <a:t>) screen,</a:t>
            </a:r>
            <a:r>
              <a:rPr b="1" lang="en" sz="1500"/>
              <a:t> 1dp equals 1px (pixel)</a:t>
            </a:r>
            <a:r>
              <a:rPr lang="en" sz="1500"/>
              <a:t>. But as dpi increases, the number of pixels per dp increases. These values should be used instead of px, as it allows dimensions to work independent of the hardware’s dpi (which is highly variable).</a:t>
            </a:r>
            <a:endParaRPr sz="1500"/>
          </a:p>
          <a:p>
            <a:pPr indent="0" lvl="0" marL="0" rtl="0" algn="l">
              <a:lnSpc>
                <a:spcPct val="95000"/>
              </a:lnSpc>
              <a:spcBef>
                <a:spcPts val="1200"/>
              </a:spcBef>
              <a:spcAft>
                <a:spcPts val="0"/>
              </a:spcAft>
              <a:buClr>
                <a:schemeClr val="dk1"/>
              </a:buClr>
              <a:buSzPts val="1100"/>
              <a:buFont typeface="Arial"/>
              <a:buNone/>
            </a:pPr>
            <a:r>
              <a:rPr lang="en" sz="1500"/>
              <a:t>px is an actual screen pixel. DO NOT USE THIS (use dp instead!)</a:t>
            </a:r>
            <a:endParaRPr sz="1500"/>
          </a:p>
          <a:p>
            <a:pPr indent="0" lvl="0" marL="0" rtl="0" algn="l">
              <a:lnSpc>
                <a:spcPct val="95000"/>
              </a:lnSpc>
              <a:spcBef>
                <a:spcPts val="1200"/>
              </a:spcBef>
              <a:spcAft>
                <a:spcPts val="0"/>
              </a:spcAft>
              <a:buNone/>
            </a:pPr>
            <a:r>
              <a:rPr lang="en" sz="1500"/>
              <a:t>sp is a “</a:t>
            </a:r>
            <a:r>
              <a:rPr b="1" lang="en" sz="1500"/>
              <a:t>scale-independent pixel</a:t>
            </a:r>
            <a:r>
              <a:rPr lang="en" sz="1500"/>
              <a:t>”. This value is like dp, but </a:t>
            </a:r>
            <a:r>
              <a:rPr b="1" lang="en" sz="1500"/>
              <a:t>is scaled by the system’s font preference</a:t>
            </a:r>
            <a:r>
              <a:rPr lang="en" sz="1500"/>
              <a:t> (e.g., if the user has selected that the device should display in a larger font, 1sp will cover more dp). You should always use sp for text dimensions, in order to support user preferences and access</a:t>
            </a:r>
            <a:endParaRPr sz="1500"/>
          </a:p>
          <a:p>
            <a:pPr indent="0" lvl="0" marL="0" rtl="0" algn="l">
              <a:lnSpc>
                <a:spcPct val="95000"/>
              </a:lnSpc>
              <a:spcBef>
                <a:spcPts val="1200"/>
              </a:spcBef>
              <a:spcAft>
                <a:spcPts val="1200"/>
              </a:spcAft>
              <a:buNone/>
            </a:pPr>
            <a:r>
              <a:rPr lang="en" sz="1500"/>
              <a:t>pt is 1/72 of an inch of the physical screen. Similar units mm and in are available. Not recommended for use.</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DP - SP - PX - PT</a:t>
            </a:r>
            <a:endParaRPr/>
          </a:p>
        </p:txBody>
      </p:sp>
      <p:graphicFrame>
        <p:nvGraphicFramePr>
          <p:cNvPr id="105" name="Google Shape;105;p21"/>
          <p:cNvGraphicFramePr/>
          <p:nvPr/>
        </p:nvGraphicFramePr>
        <p:xfrm>
          <a:off x="311700" y="1152475"/>
          <a:ext cx="3000000" cy="3000000"/>
        </p:xfrm>
        <a:graphic>
          <a:graphicData uri="http://schemas.openxmlformats.org/drawingml/2006/table">
            <a:tbl>
              <a:tblPr>
                <a:noFill/>
                <a:tableStyleId>{D2AC1139-80B1-400C-BA05-D0DC0C288DAC}</a:tableStyleId>
              </a:tblPr>
              <a:tblGrid>
                <a:gridCol w="1839075"/>
                <a:gridCol w="1852300"/>
                <a:gridCol w="1627400"/>
                <a:gridCol w="3201850"/>
              </a:tblGrid>
              <a:tr h="488050">
                <a:tc>
                  <a:txBody>
                    <a:bodyPr/>
                    <a:lstStyle/>
                    <a:p>
                      <a:pPr indent="0" lvl="0" marL="0" rtl="0" algn="l">
                        <a:lnSpc>
                          <a:spcPct val="115384"/>
                        </a:lnSpc>
                        <a:spcBef>
                          <a:spcPts val="0"/>
                        </a:spcBef>
                        <a:spcAft>
                          <a:spcPts val="0"/>
                        </a:spcAft>
                        <a:buNone/>
                      </a:pPr>
                      <a:r>
                        <a:rPr b="1" lang="en" sz="1000">
                          <a:solidFill>
                            <a:srgbClr val="232629"/>
                          </a:solidFill>
                        </a:rPr>
                        <a:t>Density Bucket</a:t>
                      </a:r>
                      <a:endParaRPr b="1" sz="1000">
                        <a:solidFill>
                          <a:srgbClr val="232629"/>
                        </a:solidFill>
                      </a:endParaRPr>
                    </a:p>
                  </a:txBody>
                  <a:tcPr marT="76200" marB="76200" marR="76200" marL="76200" anchor="b"/>
                </a:tc>
                <a:tc>
                  <a:txBody>
                    <a:bodyPr/>
                    <a:lstStyle/>
                    <a:p>
                      <a:pPr indent="0" lvl="0" marL="0" rtl="0" algn="l">
                        <a:lnSpc>
                          <a:spcPct val="115384"/>
                        </a:lnSpc>
                        <a:spcBef>
                          <a:spcPts val="0"/>
                        </a:spcBef>
                        <a:spcAft>
                          <a:spcPts val="0"/>
                        </a:spcAft>
                        <a:buNone/>
                      </a:pPr>
                      <a:r>
                        <a:rPr b="1" lang="en" sz="1000">
                          <a:solidFill>
                            <a:srgbClr val="232629"/>
                          </a:solidFill>
                        </a:rPr>
                        <a:t>Screen Density</a:t>
                      </a:r>
                      <a:endParaRPr b="1" sz="1000">
                        <a:solidFill>
                          <a:srgbClr val="232629"/>
                        </a:solidFill>
                      </a:endParaRPr>
                    </a:p>
                  </a:txBody>
                  <a:tcPr marT="76200" marB="76200" marR="76200" marL="76200" anchor="b"/>
                </a:tc>
                <a:tc>
                  <a:txBody>
                    <a:bodyPr/>
                    <a:lstStyle/>
                    <a:p>
                      <a:pPr indent="0" lvl="0" marL="0" rtl="0" algn="l">
                        <a:lnSpc>
                          <a:spcPct val="115384"/>
                        </a:lnSpc>
                        <a:spcBef>
                          <a:spcPts val="0"/>
                        </a:spcBef>
                        <a:spcAft>
                          <a:spcPts val="0"/>
                        </a:spcAft>
                        <a:buNone/>
                      </a:pPr>
                      <a:r>
                        <a:rPr b="1" lang="en" sz="1000">
                          <a:solidFill>
                            <a:srgbClr val="232629"/>
                          </a:solidFill>
                        </a:rPr>
                        <a:t>Physical Size</a:t>
                      </a:r>
                      <a:endParaRPr b="1" sz="1000">
                        <a:solidFill>
                          <a:srgbClr val="232629"/>
                        </a:solidFill>
                      </a:endParaRPr>
                    </a:p>
                  </a:txBody>
                  <a:tcPr marT="76200" marB="76200" marR="76200" marL="76200" anchor="b"/>
                </a:tc>
                <a:tc>
                  <a:txBody>
                    <a:bodyPr/>
                    <a:lstStyle/>
                    <a:p>
                      <a:pPr indent="0" lvl="0" marL="0" rtl="0" algn="l">
                        <a:lnSpc>
                          <a:spcPct val="115384"/>
                        </a:lnSpc>
                        <a:spcBef>
                          <a:spcPts val="0"/>
                        </a:spcBef>
                        <a:spcAft>
                          <a:spcPts val="0"/>
                        </a:spcAft>
                        <a:buNone/>
                      </a:pPr>
                      <a:r>
                        <a:rPr b="1" lang="en" sz="1000">
                          <a:solidFill>
                            <a:srgbClr val="232629"/>
                          </a:solidFill>
                        </a:rPr>
                        <a:t>Pixel Size</a:t>
                      </a:r>
                      <a:endParaRPr b="1" sz="1000">
                        <a:solidFill>
                          <a:srgbClr val="232629"/>
                        </a:solidFill>
                      </a:endParaRPr>
                    </a:p>
                  </a:txBody>
                  <a:tcPr marT="76200" marB="76200" marR="76200" marL="76200" anchor="b"/>
                </a:tc>
              </a:tr>
              <a:tr h="488050">
                <a:tc>
                  <a:txBody>
                    <a:bodyPr/>
                    <a:lstStyle/>
                    <a:p>
                      <a:pPr indent="0" lvl="0" marL="0" rtl="0" algn="l">
                        <a:lnSpc>
                          <a:spcPct val="115000"/>
                        </a:lnSpc>
                        <a:spcBef>
                          <a:spcPts val="0"/>
                        </a:spcBef>
                        <a:spcAft>
                          <a:spcPts val="0"/>
                        </a:spcAft>
                        <a:buNone/>
                      </a:pPr>
                      <a:r>
                        <a:rPr lang="en" sz="1000">
                          <a:solidFill>
                            <a:srgbClr val="232629"/>
                          </a:solidFill>
                        </a:rPr>
                        <a:t>ldpi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120 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x 0.5 in</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in * 120 dpi = 60x60 px</a:t>
                      </a:r>
                      <a:endParaRPr sz="1000">
                        <a:solidFill>
                          <a:srgbClr val="232629"/>
                        </a:solidFill>
                      </a:endParaRPr>
                    </a:p>
                  </a:txBody>
                  <a:tcPr marT="76200" marB="76200" marR="76200" marL="76200" anchor="ctr"/>
                </a:tc>
              </a:tr>
              <a:tr h="488050">
                <a:tc>
                  <a:txBody>
                    <a:bodyPr/>
                    <a:lstStyle/>
                    <a:p>
                      <a:pPr indent="0" lvl="0" marL="0" rtl="0" algn="l">
                        <a:lnSpc>
                          <a:spcPct val="115000"/>
                        </a:lnSpc>
                        <a:spcBef>
                          <a:spcPts val="0"/>
                        </a:spcBef>
                        <a:spcAft>
                          <a:spcPts val="0"/>
                        </a:spcAft>
                        <a:buNone/>
                      </a:pPr>
                      <a:r>
                        <a:rPr lang="en" sz="1000">
                          <a:solidFill>
                            <a:srgbClr val="232629"/>
                          </a:solidFill>
                        </a:rPr>
                        <a:t>mdpi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160 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x 0.5 in</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in * 160 dpi = 80x80 px</a:t>
                      </a:r>
                      <a:endParaRPr sz="1000">
                        <a:solidFill>
                          <a:srgbClr val="232629"/>
                        </a:solidFill>
                      </a:endParaRPr>
                    </a:p>
                  </a:txBody>
                  <a:tcPr marT="76200" marB="76200" marR="76200" marL="76200" anchor="ctr"/>
                </a:tc>
              </a:tr>
              <a:tr h="488050">
                <a:tc>
                  <a:txBody>
                    <a:bodyPr/>
                    <a:lstStyle/>
                    <a:p>
                      <a:pPr indent="0" lvl="0" marL="0" rtl="0" algn="l">
                        <a:lnSpc>
                          <a:spcPct val="115000"/>
                        </a:lnSpc>
                        <a:spcBef>
                          <a:spcPts val="0"/>
                        </a:spcBef>
                        <a:spcAft>
                          <a:spcPts val="0"/>
                        </a:spcAft>
                        <a:buNone/>
                      </a:pPr>
                      <a:r>
                        <a:rPr lang="en" sz="1000">
                          <a:solidFill>
                            <a:srgbClr val="232629"/>
                          </a:solidFill>
                        </a:rPr>
                        <a:t>hdpi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240 dp</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x 0.5 in</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in * 240 dpi = 120x120 px</a:t>
                      </a:r>
                      <a:endParaRPr sz="1000">
                        <a:solidFill>
                          <a:srgbClr val="232629"/>
                        </a:solidFill>
                      </a:endParaRPr>
                    </a:p>
                  </a:txBody>
                  <a:tcPr marT="76200" marB="76200" marR="76200" marL="76200" anchor="ctr"/>
                </a:tc>
              </a:tr>
              <a:tr h="488050">
                <a:tc>
                  <a:txBody>
                    <a:bodyPr/>
                    <a:lstStyle/>
                    <a:p>
                      <a:pPr indent="0" lvl="0" marL="0" rtl="0" algn="l">
                        <a:lnSpc>
                          <a:spcPct val="115000"/>
                        </a:lnSpc>
                        <a:spcBef>
                          <a:spcPts val="0"/>
                        </a:spcBef>
                        <a:spcAft>
                          <a:spcPts val="0"/>
                        </a:spcAft>
                        <a:buNone/>
                      </a:pPr>
                      <a:r>
                        <a:rPr lang="en" sz="1000">
                          <a:solidFill>
                            <a:srgbClr val="232629"/>
                          </a:solidFill>
                        </a:rPr>
                        <a:t>xhdpi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320 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x 0.5 in</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in * 320 dpi = 160x160 px</a:t>
                      </a:r>
                      <a:endParaRPr sz="1000">
                        <a:solidFill>
                          <a:srgbClr val="232629"/>
                        </a:solidFill>
                      </a:endParaRPr>
                    </a:p>
                  </a:txBody>
                  <a:tcPr marT="76200" marB="76200" marR="76200" marL="76200" anchor="ctr"/>
                </a:tc>
              </a:tr>
              <a:tr h="488050">
                <a:tc>
                  <a:txBody>
                    <a:bodyPr/>
                    <a:lstStyle/>
                    <a:p>
                      <a:pPr indent="0" lvl="0" marL="0" rtl="0" algn="l">
                        <a:lnSpc>
                          <a:spcPct val="115000"/>
                        </a:lnSpc>
                        <a:spcBef>
                          <a:spcPts val="0"/>
                        </a:spcBef>
                        <a:spcAft>
                          <a:spcPts val="0"/>
                        </a:spcAft>
                        <a:buNone/>
                      </a:pPr>
                      <a:r>
                        <a:rPr lang="en" sz="1000">
                          <a:solidFill>
                            <a:srgbClr val="232629"/>
                          </a:solidFill>
                        </a:rPr>
                        <a:t>xxhdpi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480 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x 0.5 in</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in * 480 dpi = 240x240 px</a:t>
                      </a:r>
                      <a:endParaRPr sz="1000">
                        <a:solidFill>
                          <a:srgbClr val="232629"/>
                        </a:solidFill>
                      </a:endParaRPr>
                    </a:p>
                  </a:txBody>
                  <a:tcPr marT="76200" marB="76200" marR="76200" marL="76200" anchor="ctr"/>
                </a:tc>
              </a:tr>
              <a:tr h="488050">
                <a:tc>
                  <a:txBody>
                    <a:bodyPr/>
                    <a:lstStyle/>
                    <a:p>
                      <a:pPr indent="0" lvl="0" marL="0" rtl="0" algn="l">
                        <a:lnSpc>
                          <a:spcPct val="115000"/>
                        </a:lnSpc>
                        <a:spcBef>
                          <a:spcPts val="0"/>
                        </a:spcBef>
                        <a:spcAft>
                          <a:spcPts val="0"/>
                        </a:spcAft>
                        <a:buNone/>
                      </a:pPr>
                      <a:r>
                        <a:rPr lang="en" sz="1000">
                          <a:solidFill>
                            <a:srgbClr val="232629"/>
                          </a:solidFill>
                        </a:rPr>
                        <a:t>xxxhdpi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640 dpi</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x 0.5 in</a:t>
                      </a:r>
                      <a:endParaRPr sz="1000">
                        <a:solidFill>
                          <a:srgbClr val="232629"/>
                        </a:solidFill>
                      </a:endParaRPr>
                    </a:p>
                  </a:txBody>
                  <a:tcPr marT="76200" marB="76200" marR="76200" marL="76200" anchor="ctr"/>
                </a:tc>
                <a:tc>
                  <a:txBody>
                    <a:bodyPr/>
                    <a:lstStyle/>
                    <a:p>
                      <a:pPr indent="0" lvl="0" marL="0" rtl="0" algn="l">
                        <a:lnSpc>
                          <a:spcPct val="115000"/>
                        </a:lnSpc>
                        <a:spcBef>
                          <a:spcPts val="0"/>
                        </a:spcBef>
                        <a:spcAft>
                          <a:spcPts val="0"/>
                        </a:spcAft>
                        <a:buNone/>
                      </a:pPr>
                      <a:r>
                        <a:rPr lang="en" sz="1000">
                          <a:solidFill>
                            <a:srgbClr val="232629"/>
                          </a:solidFill>
                        </a:rPr>
                        <a:t>0.5 in * 640 dpi = 320x320 px</a:t>
                      </a:r>
                      <a:endParaRPr sz="1000">
                        <a:solidFill>
                          <a:srgbClr val="232629"/>
                        </a:solidFill>
                      </a:endParaRPr>
                    </a:p>
                  </a:txBody>
                  <a:tcPr marT="76200" marB="76200" marR="76200" marL="76200" anchor="ctr"/>
                </a:tc>
              </a:tr>
            </a:tbl>
          </a:graphicData>
        </a:graphic>
      </p:graphicFrame>
      <p:pic>
        <p:nvPicPr>
          <p:cNvPr id="106" name="Google Shape;106;p21"/>
          <p:cNvPicPr preferRelativeResize="0"/>
          <p:nvPr/>
        </p:nvPicPr>
        <p:blipFill>
          <a:blip r:embed="rId3">
            <a:alphaModFix/>
          </a:blip>
          <a:stretch>
            <a:fillRect/>
          </a:stretch>
        </p:blipFill>
        <p:spPr>
          <a:xfrm>
            <a:off x="6419175" y="-7"/>
            <a:ext cx="2724825" cy="1534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Resources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Layouts</a:t>
            </a:r>
            <a:endParaRPr/>
          </a:p>
          <a:p>
            <a:pPr indent="-342900" lvl="0" marL="457200" rtl="0" algn="l">
              <a:spcBef>
                <a:spcPts val="0"/>
              </a:spcBef>
              <a:spcAft>
                <a:spcPts val="0"/>
              </a:spcAft>
              <a:buSzPts val="1800"/>
              <a:buChar char="●"/>
            </a:pPr>
            <a:r>
              <a:rPr lang="en"/>
              <a:t>UI Controls (Buttons,ImageView) (+Programatically)</a:t>
            </a:r>
            <a:endParaRPr/>
          </a:p>
          <a:p>
            <a:pPr indent="-342900" lvl="0" marL="457200" rtl="0" algn="l">
              <a:spcBef>
                <a:spcPts val="0"/>
              </a:spcBef>
              <a:spcAft>
                <a:spcPts val="0"/>
              </a:spcAft>
              <a:buSzPts val="1800"/>
              <a:buChar char="●"/>
            </a:pPr>
            <a:r>
              <a:rPr lang="en"/>
              <a:t>Graphic Images(image,svg,pdf vs)</a:t>
            </a:r>
            <a:endParaRPr/>
          </a:p>
          <a:p>
            <a:pPr indent="-342900" lvl="0" marL="457200" rtl="0" algn="l">
              <a:spcBef>
                <a:spcPts val="0"/>
              </a:spcBef>
              <a:spcAft>
                <a:spcPts val="0"/>
              </a:spcAft>
              <a:buSzPts val="1800"/>
              <a:buChar char="●"/>
            </a:pPr>
            <a:r>
              <a:rPr lang="en"/>
              <a:t>Strings, Colors, Fonts</a:t>
            </a:r>
            <a:endParaRPr/>
          </a:p>
          <a:p>
            <a:pPr indent="-342900" lvl="0" marL="457200" rtl="0" algn="l">
              <a:spcBef>
                <a:spcPts val="0"/>
              </a:spcBef>
              <a:spcAft>
                <a:spcPts val="0"/>
              </a:spcAft>
              <a:buSzPts val="1800"/>
              <a:buChar char="●"/>
            </a:pPr>
            <a:r>
              <a:rPr lang="en"/>
              <a:t>Theme, Style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App resources overview | Android Developers</a:t>
            </a:r>
            <a:r>
              <a:rPr lang="en"/>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res/drawable: graphs (jpg,png,svg vs)</a:t>
            </a:r>
            <a:endParaRPr/>
          </a:p>
          <a:p>
            <a:pPr indent="-334327" lvl="0" marL="457200" rtl="0" algn="l">
              <a:spcBef>
                <a:spcPts val="0"/>
              </a:spcBef>
              <a:spcAft>
                <a:spcPts val="0"/>
              </a:spcAft>
              <a:buSzPct val="100000"/>
              <a:buChar char="●"/>
            </a:pPr>
            <a:r>
              <a:rPr lang="en"/>
              <a:t>res/layouts: UI Layouts xml files</a:t>
            </a:r>
            <a:endParaRPr/>
          </a:p>
          <a:p>
            <a:pPr indent="-334327" lvl="0" marL="457200" rtl="0" algn="l">
              <a:spcBef>
                <a:spcPts val="0"/>
              </a:spcBef>
              <a:spcAft>
                <a:spcPts val="0"/>
              </a:spcAft>
              <a:buSzPct val="100000"/>
              <a:buChar char="●"/>
            </a:pPr>
            <a:r>
              <a:rPr lang="en"/>
              <a:t>res/mipmap: launcher icon files with</a:t>
            </a:r>
            <a:br>
              <a:rPr lang="en"/>
            </a:br>
            <a:r>
              <a:rPr lang="en"/>
              <a:t>d</a:t>
            </a:r>
            <a:r>
              <a:rPr lang="en"/>
              <a:t>ifferent resolution</a:t>
            </a:r>
            <a:endParaRPr/>
          </a:p>
          <a:p>
            <a:pPr indent="-334327" lvl="0" marL="457200" rtl="0" algn="l">
              <a:spcBef>
                <a:spcPts val="0"/>
              </a:spcBef>
              <a:spcAft>
                <a:spcPts val="0"/>
              </a:spcAft>
              <a:buSzPct val="100000"/>
              <a:buChar char="●"/>
            </a:pPr>
            <a:r>
              <a:rPr lang="en"/>
              <a:t>res/menu</a:t>
            </a:r>
            <a:endParaRPr/>
          </a:p>
          <a:p>
            <a:pPr indent="-334327" lvl="0" marL="457200" rtl="0" algn="l">
              <a:spcBef>
                <a:spcPts val="0"/>
              </a:spcBef>
              <a:spcAft>
                <a:spcPts val="0"/>
              </a:spcAft>
              <a:buSzPct val="100000"/>
              <a:buChar char="●"/>
            </a:pPr>
            <a:r>
              <a:rPr lang="en"/>
              <a:t>res/animations</a:t>
            </a:r>
            <a:endParaRPr/>
          </a:p>
          <a:p>
            <a:pPr indent="-334327" lvl="0" marL="457200" rtl="0" algn="l">
              <a:spcBef>
                <a:spcPts val="0"/>
              </a:spcBef>
              <a:spcAft>
                <a:spcPts val="0"/>
              </a:spcAft>
              <a:buSzPct val="100000"/>
              <a:buChar char="●"/>
            </a:pPr>
            <a:r>
              <a:rPr lang="en"/>
              <a:t>res/font</a:t>
            </a:r>
            <a:endParaRPr/>
          </a:p>
          <a:p>
            <a:pPr indent="-334327" lvl="0" marL="457200" rtl="0" algn="l">
              <a:spcBef>
                <a:spcPts val="0"/>
              </a:spcBef>
              <a:spcAft>
                <a:spcPts val="0"/>
              </a:spcAft>
              <a:buSzPct val="100000"/>
              <a:buChar char="●"/>
            </a:pPr>
            <a:r>
              <a:rPr lang="en"/>
              <a:t>res/values</a:t>
            </a:r>
            <a:endParaRPr/>
          </a:p>
          <a:p>
            <a:pPr indent="-310832" lvl="1" marL="914400" rtl="0" algn="l">
              <a:spcBef>
                <a:spcPts val="0"/>
              </a:spcBef>
              <a:spcAft>
                <a:spcPts val="0"/>
              </a:spcAft>
              <a:buSzPct val="100000"/>
              <a:buChar char="○"/>
            </a:pPr>
            <a:r>
              <a:rPr lang="en"/>
              <a:t>s</a:t>
            </a:r>
            <a:r>
              <a:rPr lang="en"/>
              <a:t>trings.xml</a:t>
            </a:r>
            <a:endParaRPr/>
          </a:p>
          <a:p>
            <a:pPr indent="-310832" lvl="1" marL="914400" rtl="0" algn="l">
              <a:spcBef>
                <a:spcPts val="0"/>
              </a:spcBef>
              <a:spcAft>
                <a:spcPts val="0"/>
              </a:spcAft>
              <a:buSzPct val="100000"/>
              <a:buChar char="○"/>
            </a:pPr>
            <a:r>
              <a:rPr lang="en"/>
              <a:t>c</a:t>
            </a:r>
            <a:r>
              <a:rPr lang="en"/>
              <a:t>olor.xml</a:t>
            </a:r>
            <a:endParaRPr/>
          </a:p>
          <a:p>
            <a:pPr indent="-310832" lvl="1" marL="914400" rtl="0" algn="l">
              <a:spcBef>
                <a:spcPts val="0"/>
              </a:spcBef>
              <a:spcAft>
                <a:spcPts val="0"/>
              </a:spcAft>
              <a:buSzPct val="100000"/>
              <a:buChar char="○"/>
            </a:pPr>
            <a:r>
              <a:rPr lang="en"/>
              <a:t>s</a:t>
            </a:r>
            <a:r>
              <a:rPr lang="en"/>
              <a:t>tyles.xml</a:t>
            </a:r>
            <a:endParaRPr/>
          </a:p>
          <a:p>
            <a:pPr indent="-310832" lvl="1" marL="914400" rtl="0" algn="l">
              <a:spcBef>
                <a:spcPts val="0"/>
              </a:spcBef>
              <a:spcAft>
                <a:spcPts val="0"/>
              </a:spcAft>
              <a:buSzPct val="100000"/>
              <a:buChar char="○"/>
            </a:pPr>
            <a:r>
              <a:rPr lang="en"/>
              <a:t>dimen.xml</a:t>
            </a:r>
            <a:endParaRPr/>
          </a:p>
          <a:p>
            <a:pPr indent="0" lvl="0" marL="0" rtl="0" algn="l">
              <a:spcBef>
                <a:spcPts val="1200"/>
              </a:spcBef>
              <a:spcAft>
                <a:spcPts val="1200"/>
              </a:spcAft>
              <a:buNone/>
            </a:pPr>
            <a:r>
              <a:rPr lang="en" u="sng">
                <a:solidFill>
                  <a:schemeClr val="hlink"/>
                </a:solidFill>
                <a:hlinkClick r:id="rId3"/>
              </a:rPr>
              <a:t>Resource types overview | Android Developers</a:t>
            </a:r>
            <a:endParaRPr/>
          </a:p>
        </p:txBody>
      </p:sp>
      <p:pic>
        <p:nvPicPr>
          <p:cNvPr id="119" name="Google Shape;119;p23"/>
          <p:cNvPicPr preferRelativeResize="0"/>
          <p:nvPr/>
        </p:nvPicPr>
        <p:blipFill rotWithShape="1">
          <a:blip r:embed="rId4">
            <a:alphaModFix/>
          </a:blip>
          <a:srcRect b="40523" l="0" r="75068" t="4410"/>
          <a:stretch/>
        </p:blipFill>
        <p:spPr>
          <a:xfrm>
            <a:off x="5394245" y="0"/>
            <a:ext cx="3749755" cy="5176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Views - </a:t>
            </a:r>
            <a:r>
              <a:rPr lang="en"/>
              <a:t>Practice</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findViewById</a:t>
            </a:r>
            <a:endParaRPr/>
          </a:p>
          <a:p>
            <a:pPr indent="-342900" lvl="0" marL="457200" rtl="0" algn="l">
              <a:spcBef>
                <a:spcPts val="0"/>
              </a:spcBef>
              <a:spcAft>
                <a:spcPts val="0"/>
              </a:spcAft>
              <a:buSzPts val="1800"/>
              <a:buChar char="●"/>
            </a:pPr>
            <a:r>
              <a:rPr lang="en"/>
              <a:t>R.drawable.my_image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Layouts</a:t>
            </a:r>
            <a:endParaRPr/>
          </a:p>
        </p:txBody>
      </p:sp>
      <p:sp>
        <p:nvSpPr>
          <p:cNvPr id="131" name="Google Shape;131;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 A Layout acts as a container for other Views, to help structure the elements on the screen. Layouts are all subclasses of ViewGroup</a:t>
            </a:r>
            <a:endParaRPr/>
          </a:p>
          <a:p>
            <a:pPr indent="-317500" lvl="1" marL="914400" rtl="0" algn="l">
              <a:spcBef>
                <a:spcPts val="0"/>
              </a:spcBef>
              <a:spcAft>
                <a:spcPts val="0"/>
              </a:spcAft>
              <a:buSzPts val="1400"/>
              <a:buChar char="○"/>
            </a:pPr>
            <a:r>
              <a:rPr lang="en"/>
              <a:t>LinearLayout</a:t>
            </a:r>
            <a:endParaRPr/>
          </a:p>
          <a:p>
            <a:pPr indent="-317500" lvl="1" marL="914400" rtl="0" algn="l">
              <a:spcBef>
                <a:spcPts val="0"/>
              </a:spcBef>
              <a:spcAft>
                <a:spcPts val="0"/>
              </a:spcAft>
              <a:buSzPts val="1400"/>
              <a:buChar char="○"/>
            </a:pPr>
            <a:r>
              <a:rPr lang="en"/>
              <a:t>RelativeLayout</a:t>
            </a:r>
            <a:endParaRPr/>
          </a:p>
          <a:p>
            <a:pPr indent="-317500" lvl="1" marL="914400" rtl="0" algn="l">
              <a:spcBef>
                <a:spcPts val="0"/>
              </a:spcBef>
              <a:spcAft>
                <a:spcPts val="0"/>
              </a:spcAft>
              <a:buSzPts val="1400"/>
              <a:buChar char="○"/>
            </a:pPr>
            <a:r>
              <a:rPr lang="en"/>
              <a:t>ConstraintLayout</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LinearLayout</a:t>
            </a:r>
            <a:endParaRPr/>
          </a:p>
        </p:txBody>
      </p:sp>
      <p:sp>
        <p:nvSpPr>
          <p:cNvPr id="137" name="Google Shape;137;p2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fontScale="77500" lnSpcReduction="10000"/>
          </a:bodyPr>
          <a:lstStyle/>
          <a:p>
            <a:pPr indent="-297497" lvl="0" marL="457200" rtl="0" algn="l">
              <a:spcBef>
                <a:spcPts val="0"/>
              </a:spcBef>
              <a:spcAft>
                <a:spcPts val="0"/>
              </a:spcAft>
              <a:buSzPct val="100000"/>
              <a:buChar char="●"/>
            </a:pPr>
            <a:r>
              <a:rPr lang="en"/>
              <a:t>Orders the children Views in a line (“linearly”).</a:t>
            </a:r>
            <a:endParaRPr/>
          </a:p>
          <a:p>
            <a:pPr indent="-297497" lvl="0" marL="457200" rtl="0" algn="l">
              <a:spcBef>
                <a:spcPts val="0"/>
              </a:spcBef>
              <a:spcAft>
                <a:spcPts val="0"/>
              </a:spcAft>
              <a:buSzPct val="100000"/>
              <a:buChar char="●"/>
            </a:pPr>
            <a:r>
              <a:rPr b="1" lang="en"/>
              <a:t>android:orientation</a:t>
            </a:r>
            <a:r>
              <a:rPr lang="en"/>
              <a:t> property - Horizontal or Vertical</a:t>
            </a:r>
            <a:endParaRPr/>
          </a:p>
          <a:p>
            <a:pPr indent="-297497" lvl="0" marL="457200" rtl="0" algn="l">
              <a:spcBef>
                <a:spcPts val="0"/>
              </a:spcBef>
              <a:spcAft>
                <a:spcPts val="0"/>
              </a:spcAft>
              <a:buSzPct val="100000"/>
              <a:buChar char="●"/>
            </a:pPr>
            <a:r>
              <a:rPr b="1" lang="en"/>
              <a:t>a</a:t>
            </a:r>
            <a:r>
              <a:rPr b="1" lang="en"/>
              <a:t>ndroid:layout_gravity</a:t>
            </a:r>
            <a:r>
              <a:rPr lang="en"/>
              <a:t> Gravity specifies how a component should be placed in its group of cells. </a:t>
            </a:r>
            <a:endParaRPr/>
          </a:p>
          <a:p>
            <a:pPr indent="-297497" lvl="0" marL="457200" rtl="0" algn="l">
              <a:spcBef>
                <a:spcPts val="0"/>
              </a:spcBef>
              <a:spcAft>
                <a:spcPts val="0"/>
              </a:spcAft>
              <a:buSzPct val="100000"/>
              <a:buChar char="●"/>
            </a:pPr>
            <a:r>
              <a:rPr b="1" lang="en"/>
              <a:t>a</a:t>
            </a:r>
            <a:r>
              <a:rPr b="1" lang="en"/>
              <a:t>ndroid:layout_weight</a:t>
            </a:r>
            <a:r>
              <a:rPr lang="en"/>
              <a:t> Indicates how much of the extra space in the LinearLayout is allocated to the view associated with these LayoutParams. </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LinearLayout.LayoutParams | Android Developers</a:t>
            </a:r>
            <a:r>
              <a:rPr lang="en"/>
              <a:t> </a:t>
            </a:r>
            <a:endParaRPr/>
          </a:p>
        </p:txBody>
      </p:sp>
      <p:pic>
        <p:nvPicPr>
          <p:cNvPr id="138" name="Google Shape;138;p26"/>
          <p:cNvPicPr preferRelativeResize="0"/>
          <p:nvPr/>
        </p:nvPicPr>
        <p:blipFill rotWithShape="1">
          <a:blip r:embed="rId4">
            <a:alphaModFix/>
          </a:blip>
          <a:srcRect b="0" l="55566" r="7958" t="6182"/>
          <a:stretch/>
        </p:blipFill>
        <p:spPr>
          <a:xfrm>
            <a:off x="6477670" y="0"/>
            <a:ext cx="2666330"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LinearLayout</a:t>
            </a:r>
            <a:endParaRPr/>
          </a:p>
        </p:txBody>
      </p:sp>
      <p:pic>
        <p:nvPicPr>
          <p:cNvPr id="144" name="Google Shape;144;p27"/>
          <p:cNvPicPr preferRelativeResize="0"/>
          <p:nvPr/>
        </p:nvPicPr>
        <p:blipFill rotWithShape="1">
          <a:blip r:embed="rId3">
            <a:alphaModFix/>
          </a:blip>
          <a:srcRect b="0" l="7434" r="5714" t="13718"/>
          <a:stretch/>
        </p:blipFill>
        <p:spPr>
          <a:xfrm>
            <a:off x="311700" y="1017725"/>
            <a:ext cx="7814083" cy="4125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RelativeLayout</a:t>
            </a:r>
            <a:endParaRPr/>
          </a:p>
        </p:txBody>
      </p:sp>
      <p:sp>
        <p:nvSpPr>
          <p:cNvPr id="150" name="Google Shape;15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more flexible - more complex</a:t>
            </a:r>
            <a:endParaRPr/>
          </a:p>
          <a:p>
            <a:pPr indent="-342900" lvl="0" marL="457200" rtl="0" algn="l">
              <a:spcBef>
                <a:spcPts val="0"/>
              </a:spcBef>
              <a:spcAft>
                <a:spcPts val="0"/>
              </a:spcAft>
              <a:buSzPts val="1800"/>
              <a:buChar char="●"/>
            </a:pPr>
            <a:r>
              <a:rPr lang="en"/>
              <a:t>Children are positioned "relative"</a:t>
            </a:r>
            <a:endParaRPr/>
          </a:p>
          <a:p>
            <a:pPr indent="-342900" lvl="0" marL="457200" rtl="0" algn="l">
              <a:spcBef>
                <a:spcPts val="0"/>
              </a:spcBef>
              <a:spcAft>
                <a:spcPts val="0"/>
              </a:spcAft>
              <a:buSzPts val="1800"/>
              <a:buChar char="●"/>
            </a:pPr>
            <a:r>
              <a:rPr lang="en"/>
              <a:t>Children default to the top-left of the Layout</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u="sng">
                <a:solidFill>
                  <a:schemeClr val="hlink"/>
                </a:solidFill>
                <a:hlinkClick r:id="rId3"/>
              </a:rPr>
              <a:t>RelativeLayout.LayoutParams | Android Developers</a:t>
            </a:r>
            <a:r>
              <a:rPr lang="en"/>
              <a:t> </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ConstraintLayout</a:t>
            </a:r>
            <a:endParaRPr/>
          </a:p>
        </p:txBody>
      </p:sp>
      <p:sp>
        <p:nvSpPr>
          <p:cNvPr id="156" name="Google Shape;15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ConstraintLayout offers a more powerful set of relationships in the form of constraints, which can be used to create highly responsive layouts.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u="sng">
                <a:solidFill>
                  <a:schemeClr val="hlink"/>
                </a:solidFill>
                <a:hlinkClick r:id="rId3"/>
              </a:rPr>
              <a:t>Build a Responsive UI with ConstraintLayout | Android Developers</a:t>
            </a: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Layouts</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FrameLayout </a:t>
            </a:r>
            <a:endParaRPr/>
          </a:p>
          <a:p>
            <a:pPr indent="-342900" lvl="0" marL="457200" rtl="0" algn="l">
              <a:spcBef>
                <a:spcPts val="0"/>
              </a:spcBef>
              <a:spcAft>
                <a:spcPts val="0"/>
              </a:spcAft>
              <a:buSzPts val="1800"/>
              <a:buChar char="●"/>
            </a:pPr>
            <a:r>
              <a:rPr lang="en"/>
              <a:t>GridLayout </a:t>
            </a:r>
            <a:endParaRPr/>
          </a:p>
          <a:p>
            <a:pPr indent="-342900" lvl="0" marL="457200" rtl="0" algn="l">
              <a:spcBef>
                <a:spcPts val="0"/>
              </a:spcBef>
              <a:spcAft>
                <a:spcPts val="0"/>
              </a:spcAft>
              <a:buSzPts val="1800"/>
              <a:buChar char="●"/>
            </a:pPr>
            <a:r>
              <a:rPr lang="en"/>
              <a:t>TableLayout</a:t>
            </a:r>
            <a:endParaRPr/>
          </a:p>
          <a:p>
            <a:pPr indent="-342900" lvl="0" marL="457200" rtl="0" algn="l">
              <a:spcBef>
                <a:spcPts val="0"/>
              </a:spcBef>
              <a:spcAft>
                <a:spcPts val="0"/>
              </a:spcAft>
              <a:buSzPts val="1800"/>
              <a:buChar char="●"/>
            </a:pPr>
            <a:r>
              <a:rPr lang="en"/>
              <a:t>CoordinatorLayout</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Inputs</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Button</a:t>
            </a:r>
            <a:endParaRPr/>
          </a:p>
          <a:p>
            <a:pPr indent="-342900" lvl="0" marL="457200" rtl="0" algn="l">
              <a:spcBef>
                <a:spcPts val="0"/>
              </a:spcBef>
              <a:spcAft>
                <a:spcPts val="0"/>
              </a:spcAft>
              <a:buSzPts val="1800"/>
              <a:buChar char="●"/>
            </a:pPr>
            <a:r>
              <a:rPr lang="en"/>
              <a:t>EditText</a:t>
            </a:r>
            <a:endParaRPr/>
          </a:p>
          <a:p>
            <a:pPr indent="-342900" lvl="0" marL="457200" rtl="0" algn="l">
              <a:spcBef>
                <a:spcPts val="0"/>
              </a:spcBef>
              <a:spcAft>
                <a:spcPts val="0"/>
              </a:spcAft>
              <a:buSzPts val="1800"/>
              <a:buChar char="●"/>
            </a:pPr>
            <a:r>
              <a:rPr lang="en"/>
              <a:t>TextView</a:t>
            </a:r>
            <a:endParaRPr/>
          </a:p>
          <a:p>
            <a:pPr indent="-342900" lvl="0" marL="457200" rtl="0" algn="l">
              <a:spcBef>
                <a:spcPts val="0"/>
              </a:spcBef>
              <a:spcAft>
                <a:spcPts val="0"/>
              </a:spcAft>
              <a:buSzPts val="1800"/>
              <a:buChar char="●"/>
            </a:pPr>
            <a:r>
              <a:rPr lang="en"/>
              <a:t>ImageView</a:t>
            </a:r>
            <a:endParaRPr/>
          </a:p>
          <a:p>
            <a:pPr indent="-342900" lvl="0" marL="457200" rtl="0" algn="l">
              <a:spcBef>
                <a:spcPts val="0"/>
              </a:spcBef>
              <a:spcAft>
                <a:spcPts val="0"/>
              </a:spcAft>
              <a:buSzPts val="1800"/>
              <a:buChar char="●"/>
            </a:pPr>
            <a:r>
              <a:rPr lang="en"/>
              <a:t>Picker</a:t>
            </a:r>
            <a:endParaRPr/>
          </a:p>
          <a:p>
            <a:pPr indent="-342900" lvl="0" marL="457200" rtl="0" algn="l">
              <a:spcBef>
                <a:spcPts val="0"/>
              </a:spcBef>
              <a:spcAft>
                <a:spcPts val="0"/>
              </a:spcAft>
              <a:buSzPts val="1800"/>
              <a:buChar char="●"/>
            </a:pPr>
            <a:r>
              <a:rPr lang="en"/>
              <a:t>Spinner</a:t>
            </a:r>
            <a:endParaRPr/>
          </a:p>
        </p:txBody>
      </p:sp>
      <p:pic>
        <p:nvPicPr>
          <p:cNvPr id="169" name="Google Shape;169;p31"/>
          <p:cNvPicPr preferRelativeResize="0"/>
          <p:nvPr/>
        </p:nvPicPr>
        <p:blipFill>
          <a:blip r:embed="rId3">
            <a:alphaModFix/>
          </a:blip>
          <a:stretch>
            <a:fillRect/>
          </a:stretch>
        </p:blipFill>
        <p:spPr>
          <a:xfrm>
            <a:off x="4079640" y="0"/>
            <a:ext cx="5064370"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Sample</a:t>
            </a:r>
            <a:endParaRPr/>
          </a:p>
          <a:p>
            <a:pPr indent="0" lvl="0" marL="0" rtl="0" algn="l">
              <a:spcBef>
                <a:spcPts val="0"/>
              </a:spcBef>
              <a:spcAft>
                <a:spcPts val="0"/>
              </a:spcAft>
              <a:buNone/>
            </a:pPr>
            <a:r>
              <a:t/>
            </a:r>
            <a:endParaRPr/>
          </a:p>
        </p:txBody>
      </p:sp>
      <p:sp>
        <p:nvSpPr>
          <p:cNvPr id="175" name="Google Shape;17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Login Screen</a:t>
            </a:r>
            <a:endParaRPr/>
          </a:p>
        </p:txBody>
      </p:sp>
      <p:pic>
        <p:nvPicPr>
          <p:cNvPr id="176" name="Google Shape;176;p32"/>
          <p:cNvPicPr preferRelativeResize="0"/>
          <p:nvPr/>
        </p:nvPicPr>
        <p:blipFill rotWithShape="1">
          <a:blip r:embed="rId3">
            <a:alphaModFix/>
          </a:blip>
          <a:srcRect b="12886" l="38882" r="21972" t="24283"/>
          <a:stretch/>
        </p:blipFill>
        <p:spPr>
          <a:xfrm>
            <a:off x="3227628" y="0"/>
            <a:ext cx="5916374"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Homework</a:t>
            </a:r>
            <a:endParaRPr/>
          </a:p>
        </p:txBody>
      </p:sp>
      <p:sp>
        <p:nvSpPr>
          <p:cNvPr id="182" name="Google Shape;18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Split screen 3-1-3</a:t>
            </a:r>
            <a:endParaRPr/>
          </a:p>
          <a:p>
            <a:pPr indent="-342900" lvl="0" marL="457200" rtl="0" algn="l">
              <a:spcBef>
                <a:spcPts val="0"/>
              </a:spcBef>
              <a:spcAft>
                <a:spcPts val="0"/>
              </a:spcAft>
              <a:buSzPts val="1800"/>
              <a:buChar char="●"/>
            </a:pPr>
            <a:r>
              <a:rPr lang="en"/>
              <a:t>Middle is TextView</a:t>
            </a:r>
            <a:endParaRPr/>
          </a:p>
          <a:p>
            <a:pPr indent="-342900" lvl="0" marL="457200" rtl="0" algn="l">
              <a:spcBef>
                <a:spcPts val="0"/>
              </a:spcBef>
              <a:spcAft>
                <a:spcPts val="0"/>
              </a:spcAft>
              <a:buSzPts val="1800"/>
              <a:buChar char="●"/>
            </a:pPr>
            <a:r>
              <a:rPr lang="en"/>
              <a:t>Sides are Button</a:t>
            </a:r>
            <a:endParaRPr/>
          </a:p>
          <a:p>
            <a:pPr indent="-342900" lvl="0" marL="457200" rtl="0" algn="l">
              <a:spcBef>
                <a:spcPts val="0"/>
              </a:spcBef>
              <a:spcAft>
                <a:spcPts val="0"/>
              </a:spcAft>
              <a:buSzPts val="1800"/>
              <a:buChar char="●"/>
            </a:pPr>
            <a:r>
              <a:rPr lang="en"/>
              <a:t>Add Timer.</a:t>
            </a:r>
            <a:endParaRPr/>
          </a:p>
          <a:p>
            <a:pPr indent="-342900" lvl="0" marL="457200" rtl="0" algn="l">
              <a:spcBef>
                <a:spcPts val="0"/>
              </a:spcBef>
              <a:spcAft>
                <a:spcPts val="0"/>
              </a:spcAft>
              <a:buSzPts val="1800"/>
              <a:buChar char="●"/>
            </a:pPr>
            <a:r>
              <a:rPr lang="en"/>
              <a:t>When Click Button </a:t>
            </a:r>
            <a:endParaRPr/>
          </a:p>
          <a:p>
            <a:pPr indent="-317500" lvl="1" marL="914400" rtl="0" algn="l">
              <a:spcBef>
                <a:spcPts val="0"/>
              </a:spcBef>
              <a:spcAft>
                <a:spcPts val="0"/>
              </a:spcAft>
              <a:buSzPts val="1400"/>
              <a:buChar char="○"/>
            </a:pPr>
            <a:r>
              <a:rPr lang="en"/>
              <a:t>First click start timer</a:t>
            </a:r>
            <a:endParaRPr/>
          </a:p>
          <a:p>
            <a:pPr indent="-317500" lvl="1" marL="914400" rtl="0" algn="l">
              <a:spcBef>
                <a:spcPts val="0"/>
              </a:spcBef>
              <a:spcAft>
                <a:spcPts val="0"/>
              </a:spcAft>
              <a:buSzPts val="1400"/>
              <a:buChar char="○"/>
            </a:pPr>
            <a:r>
              <a:rPr lang="en"/>
              <a:t>Second click stop timer</a:t>
            </a:r>
            <a:endParaRPr/>
          </a:p>
          <a:p>
            <a:pPr indent="-342900" lvl="0" marL="457200" rtl="0" algn="l">
              <a:spcBef>
                <a:spcPts val="0"/>
              </a:spcBef>
              <a:spcAft>
                <a:spcPts val="0"/>
              </a:spcAft>
              <a:buSzPts val="1800"/>
              <a:buChar char="●"/>
            </a:pPr>
            <a:r>
              <a:rPr lang="en"/>
              <a:t>Timer has a limit</a:t>
            </a:r>
            <a:endParaRPr/>
          </a:p>
          <a:p>
            <a:pPr indent="-342900" lvl="0" marL="457200" rtl="0" algn="l">
              <a:spcBef>
                <a:spcPts val="0"/>
              </a:spcBef>
              <a:spcAft>
                <a:spcPts val="0"/>
              </a:spcAft>
              <a:buSzPts val="1800"/>
              <a:buChar char="●"/>
            </a:pPr>
            <a:r>
              <a:rPr lang="en"/>
              <a:t>Whic player over limit, other player wins the game</a:t>
            </a:r>
            <a:endParaRPr/>
          </a:p>
        </p:txBody>
      </p:sp>
      <p:sp>
        <p:nvSpPr>
          <p:cNvPr id="183" name="Google Shape;183;p33"/>
          <p:cNvSpPr/>
          <p:nvPr/>
        </p:nvSpPr>
        <p:spPr>
          <a:xfrm>
            <a:off x="6195025" y="293450"/>
            <a:ext cx="2364000" cy="471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3"/>
          <p:cNvSpPr/>
          <p:nvPr/>
        </p:nvSpPr>
        <p:spPr>
          <a:xfrm>
            <a:off x="6195025" y="293450"/>
            <a:ext cx="2364000" cy="184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3"/>
          <p:cNvSpPr/>
          <p:nvPr/>
        </p:nvSpPr>
        <p:spPr>
          <a:xfrm>
            <a:off x="6195025" y="3160250"/>
            <a:ext cx="2364000" cy="184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3"/>
          <p:cNvSpPr/>
          <p:nvPr/>
        </p:nvSpPr>
        <p:spPr>
          <a:xfrm>
            <a:off x="6195025" y="2138150"/>
            <a:ext cx="2364000" cy="1022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