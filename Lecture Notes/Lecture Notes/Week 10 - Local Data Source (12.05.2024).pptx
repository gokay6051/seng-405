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Roboto"/>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Roboto-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bold.fntdata"/><Relationship Id="rId23" Type="http://schemas.openxmlformats.org/officeDocument/2006/relationships/slide" Target="slides/slide18.xml"/><Relationship Id="rId67" Type="http://schemas.openxmlformats.org/officeDocument/2006/relationships/font" Target="fonts/Roboto-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22cc43234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22cc43234a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22cc43234a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22cc43234a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22cc43234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22cc43234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2cc43234a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2cc43234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2cc43234a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2cc43234a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22cc43234a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22cc43234a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e2a2ad3e4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e2a2ad3e4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e2a2ad3e4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e2a2ad3e4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22cc43234a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22cc43234a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22cc43234a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22cc43234a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2cc43234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22cc43234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2cc43234a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2cc43234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22cc43234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22cc43234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2cc43234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22cc43234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22cc43234a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22cc43234a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2cc43234a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2cc43234a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2cc43234a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2cc43234a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22cc43234a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22cc43234a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2377a334e9_1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2377a334e9_1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377a334e9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377a334e9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2cc43234a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2cc43234a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2cc43234a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2cc43234a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22cc43234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22cc43234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22cc43234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22cc43234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22cc43234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22cc43234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22cc43234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22cc43234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2cc43234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22cc43234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2377a334e9_1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2377a334e9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2377a334e9_1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2377a334e9_1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2377a334e9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2377a334e9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2377a334e9_1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2377a334e9_1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2377a334e9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2377a334e9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2377a334e9_1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2377a334e9_1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377a334e9_1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2377a334e9_1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2377a334e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2377a334e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2377a334e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2377a334e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2377a334e9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2377a334e9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2377a334e9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2377a334e9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2377a334e9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2377a334e9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2377a334e9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2377a334e9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2377a334e9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2377a334e9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2377a334e9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2377a334e9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2377a334e9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2377a334e9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2377a334e9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2377a334e9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2377a334e9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2377a334e9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2377a334e9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2377a334e9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377a334e9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377a334e9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2377a334e9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2377a334e9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377a334e9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2377a334e9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2377a334e9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2377a334e9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2377a334e9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2377a334e9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2377a334e9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2377a334e9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2377a334e9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2377a334e9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2377a334e9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2377a334e9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377a334e9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377a334e9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2377a334e9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2377a334e9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2377a334e9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2377a334e9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377a334e9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2377a334e9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2377a334e9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2377a334e9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2377a334e9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2377a334e9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developer.android.com/reference/android/content/SharedPreference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developer.android.com/reference/java/util/Se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developer.android.com/reference/androidx/security/crypto/EncryptedSharedPreference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developer.android.com/training/data-storage/sqlit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developer.android.com/reference/android/database/sqlite/SQLiteOpenHelper#onCreate(android.database.sqlite.SQLiteDatabas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developer.android.com/reference/android/database/sqlite/SQLiteOpenHelper"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developer.android.com/reference/android/database/sqlite/SQLiteOpenHelper#getWritableDatabas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developer.android.com/reference/android/database/sqlite/SQLiteOpenHelper#getReadableDatabas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developer.android.com/reference/android/database/sqlite/SQLiteDatabase" TargetMode="External"/><Relationship Id="rId4" Type="http://schemas.openxmlformats.org/officeDocument/2006/relationships/hyperlink" Target="https://developer.android.com/reference/android/database/sqlite/SQLiteOpenHelper#onCreate(android.database.sqlite.SQLiteDatabas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developer.android.com/reference/android/database/sqlite/SQLiteDatabase" TargetMode="External"/><Relationship Id="rId4" Type="http://schemas.openxmlformats.org/officeDocument/2006/relationships/hyperlink" Target="https://developer.android.com/reference/android/database/sqlite/SQLiteOpenHelper#onUpgrade(android.database.sqlite.SQLiteDatabase,%20int,%20in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developer.android.com/reference/java/lang/String" TargetMode="External"/><Relationship Id="rId4" Type="http://schemas.openxmlformats.org/officeDocument/2006/relationships/hyperlink" Target="https://developer.android.com/reference/java/lang/String" TargetMode="External"/><Relationship Id="rId5" Type="http://schemas.openxmlformats.org/officeDocument/2006/relationships/hyperlink" Target="https://developer.android.com/reference/java/lang/String" TargetMode="External"/><Relationship Id="rId6" Type="http://schemas.openxmlformats.org/officeDocument/2006/relationships/hyperlink" Target="https://developer.android.com/reference/android/content/ContentValues" TargetMode="External"/><Relationship Id="rId7" Type="http://schemas.openxmlformats.org/officeDocument/2006/relationships/hyperlink" Target="https://developer.android.com/reference/android/content/ContentValue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developer.android.com/reference/android/content/ContentValue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1" Type="http://schemas.openxmlformats.org/officeDocument/2006/relationships/hyperlink" Target="https://developer.android.com/reference/java/lang/String" TargetMode="External"/><Relationship Id="rId10" Type="http://schemas.openxmlformats.org/officeDocument/2006/relationships/hyperlink" Target="https://developer.android.com/reference/java/lang/String" TargetMode="External"/><Relationship Id="rId13" Type="http://schemas.openxmlformats.org/officeDocument/2006/relationships/hyperlink" Target="https://developer.android.com/reference/java/lang/String" TargetMode="External"/><Relationship Id="rId12" Type="http://schemas.openxmlformats.org/officeDocument/2006/relationships/hyperlink" Target="https://developer.android.com/reference/java/lang/String" TargetMode="Externa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developer.android.com/reference/android/database/Cursor" TargetMode="External"/><Relationship Id="rId4" Type="http://schemas.openxmlformats.org/officeDocument/2006/relationships/hyperlink" Target="https://developer.android.com/reference/android/database/Cursor" TargetMode="External"/><Relationship Id="rId9" Type="http://schemas.openxmlformats.org/officeDocument/2006/relationships/hyperlink" Target="https://developer.android.com/reference/java/lang/String" TargetMode="External"/><Relationship Id="rId15" Type="http://schemas.openxmlformats.org/officeDocument/2006/relationships/hyperlink" Target="https://developer.android.com/reference/java/lang/String" TargetMode="External"/><Relationship Id="rId14" Type="http://schemas.openxmlformats.org/officeDocument/2006/relationships/hyperlink" Target="https://developer.android.com/reference/java/lang/String" TargetMode="External"/><Relationship Id="rId17" Type="http://schemas.openxmlformats.org/officeDocument/2006/relationships/hyperlink" Target="https://developer.android.com/reference/java/lang/String" TargetMode="External"/><Relationship Id="rId16" Type="http://schemas.openxmlformats.org/officeDocument/2006/relationships/hyperlink" Target="https://developer.android.com/reference/java/lang/String" TargetMode="External"/><Relationship Id="rId5" Type="http://schemas.openxmlformats.org/officeDocument/2006/relationships/hyperlink" Target="https://developer.android.com/reference/java/lang/String" TargetMode="External"/><Relationship Id="rId6" Type="http://schemas.openxmlformats.org/officeDocument/2006/relationships/hyperlink" Target="https://developer.android.com/reference/java/lang/String" TargetMode="External"/><Relationship Id="rId18" Type="http://schemas.openxmlformats.org/officeDocument/2006/relationships/hyperlink" Target="https://developer.android.com/reference/android/database/sqlite/SQLiteDatabase#query(java.lang.String,%20java.lang.String%5B%5D,%20java.lang.String,%20java.lang.String%5B%5D,%20java.lang.String,%20java.lang.String,%20java.lang.String)" TargetMode="External"/><Relationship Id="rId7" Type="http://schemas.openxmlformats.org/officeDocument/2006/relationships/hyperlink" Target="https://developer.android.com/reference/java/lang/String" TargetMode="External"/><Relationship Id="rId8" Type="http://schemas.openxmlformats.org/officeDocument/2006/relationships/hyperlink" Target="https://developer.android.com/reference/java/lang/String"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developer.android.com/reference/android/database/Cursor"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0" Type="http://schemas.openxmlformats.org/officeDocument/2006/relationships/hyperlink" Target="https://developer.android.com/reference/android/database/sqlite/SQLiteDatabase#update(java.lang.String,%20android.content.ContentValues,%20java.lang.String,%20java.lang.String%5B%5D)" TargetMode="External"/><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developer.android.com/reference/java/lang/String" TargetMode="External"/><Relationship Id="rId4" Type="http://schemas.openxmlformats.org/officeDocument/2006/relationships/hyperlink" Target="https://developer.android.com/reference/android/content/ContentValues" TargetMode="External"/><Relationship Id="rId9" Type="http://schemas.openxmlformats.org/officeDocument/2006/relationships/hyperlink" Target="https://developer.android.com/reference/java/lang/String" TargetMode="External"/><Relationship Id="rId5" Type="http://schemas.openxmlformats.org/officeDocument/2006/relationships/hyperlink" Target="https://developer.android.com/reference/android/content/ContentValues" TargetMode="External"/><Relationship Id="rId6" Type="http://schemas.openxmlformats.org/officeDocument/2006/relationships/hyperlink" Target="https://developer.android.com/reference/java/lang/String" TargetMode="External"/><Relationship Id="rId7" Type="http://schemas.openxmlformats.org/officeDocument/2006/relationships/hyperlink" Target="https://developer.android.com/reference/java/lang/String" TargetMode="External"/><Relationship Id="rId8" Type="http://schemas.openxmlformats.org/officeDocument/2006/relationships/hyperlink" Target="https://developer.android.com/reference/java/lang/String"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developer.android.com/reference/java/lang/String" TargetMode="External"/><Relationship Id="rId4" Type="http://schemas.openxmlformats.org/officeDocument/2006/relationships/hyperlink" Target="https://developer.android.com/reference/java/lang/String" TargetMode="External"/><Relationship Id="rId5" Type="http://schemas.openxmlformats.org/officeDocument/2006/relationships/hyperlink" Target="https://developer.android.com/reference/java/lang/String" TargetMode="External"/><Relationship Id="rId6" Type="http://schemas.openxmlformats.org/officeDocument/2006/relationships/hyperlink" Target="https://developer.android.com/reference/java/lang/String" TargetMode="External"/><Relationship Id="rId7" Type="http://schemas.openxmlformats.org/officeDocument/2006/relationships/hyperlink" Target="https://developer.android.com/reference/java/lang/String" TargetMode="External"/><Relationship Id="rId8" Type="http://schemas.openxmlformats.org/officeDocument/2006/relationships/hyperlink" Target="https://developer.android.com/reference/android/database/sqlite/SQLiteDatabase#delete(java.lang.String,%20java.lang.String,%20java.lang.String%5B%5D)"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Local Data Source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Mobile App</a:t>
            </a:r>
            <a:endParaRPr/>
          </a:p>
        </p:txBody>
      </p:sp>
      <p:sp>
        <p:nvSpPr>
          <p:cNvPr id="61" name="Google Shape;61;p14"/>
          <p:cNvSpPr/>
          <p:nvPr/>
        </p:nvSpPr>
        <p:spPr>
          <a:xfrm>
            <a:off x="311700" y="1152475"/>
            <a:ext cx="2337900" cy="34164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Resources And Layouts</a:t>
            </a:r>
            <a:endParaRPr/>
          </a:p>
          <a:p>
            <a:pPr indent="0" lvl="0" marL="0" rtl="0" algn="l">
              <a:spcBef>
                <a:spcPts val="0"/>
              </a:spcBef>
              <a:spcAft>
                <a:spcPts val="0"/>
              </a:spcAft>
              <a:buNone/>
            </a:pPr>
            <a:r>
              <a:rPr lang="en"/>
              <a:t>Activities</a:t>
            </a:r>
            <a:endParaRPr/>
          </a:p>
        </p:txBody>
      </p:sp>
      <p:sp>
        <p:nvSpPr>
          <p:cNvPr id="62" name="Google Shape;62;p14"/>
          <p:cNvSpPr/>
          <p:nvPr/>
        </p:nvSpPr>
        <p:spPr>
          <a:xfrm>
            <a:off x="6494400" y="1152475"/>
            <a:ext cx="2337900" cy="34164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p:nvPr/>
        </p:nvSpPr>
        <p:spPr>
          <a:xfrm>
            <a:off x="3403050" y="1152475"/>
            <a:ext cx="2337900" cy="3416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Calculations</a:t>
            </a:r>
            <a:endParaRPr/>
          </a:p>
          <a:p>
            <a:pPr indent="0" lvl="0" marL="0" rtl="0" algn="ctr">
              <a:spcBef>
                <a:spcPts val="0"/>
              </a:spcBef>
              <a:spcAft>
                <a:spcPts val="0"/>
              </a:spcAft>
              <a:buNone/>
            </a:pPr>
            <a:r>
              <a:rPr lang="en"/>
              <a:t>Validations</a:t>
            </a:r>
            <a:endParaRPr/>
          </a:p>
          <a:p>
            <a:pPr indent="0" lvl="0" marL="0" rtl="0" algn="ctr">
              <a:spcBef>
                <a:spcPts val="0"/>
              </a:spcBef>
              <a:spcAft>
                <a:spcPts val="0"/>
              </a:spcAft>
              <a:buNone/>
            </a:pPr>
            <a:r>
              <a:rPr lang="en"/>
              <a:t>vs</a:t>
            </a:r>
            <a:endParaRPr/>
          </a:p>
        </p:txBody>
      </p:sp>
      <p:cxnSp>
        <p:nvCxnSpPr>
          <p:cNvPr id="64" name="Google Shape;64;p14"/>
          <p:cNvCxnSpPr/>
          <p:nvPr/>
        </p:nvCxnSpPr>
        <p:spPr>
          <a:xfrm>
            <a:off x="2337950" y="1965625"/>
            <a:ext cx="1558800" cy="0"/>
          </a:xfrm>
          <a:prstGeom prst="straightConnector1">
            <a:avLst/>
          </a:prstGeom>
          <a:noFill/>
          <a:ln cap="flat" cmpd="sng" w="9525">
            <a:solidFill>
              <a:schemeClr val="dk2"/>
            </a:solidFill>
            <a:prstDash val="solid"/>
            <a:round/>
            <a:headEnd len="med" w="med" type="none"/>
            <a:tailEnd len="med" w="med" type="triangle"/>
          </a:ln>
        </p:spPr>
      </p:cxnSp>
      <p:cxnSp>
        <p:nvCxnSpPr>
          <p:cNvPr id="65" name="Google Shape;65;p14"/>
          <p:cNvCxnSpPr/>
          <p:nvPr/>
        </p:nvCxnSpPr>
        <p:spPr>
          <a:xfrm rot="10800000">
            <a:off x="2337925" y="3766650"/>
            <a:ext cx="1532700" cy="8700"/>
          </a:xfrm>
          <a:prstGeom prst="straightConnector1">
            <a:avLst/>
          </a:prstGeom>
          <a:noFill/>
          <a:ln cap="flat" cmpd="sng" w="9525">
            <a:solidFill>
              <a:schemeClr val="dk2"/>
            </a:solidFill>
            <a:prstDash val="solid"/>
            <a:round/>
            <a:headEnd len="med" w="med" type="none"/>
            <a:tailEnd len="med" w="med" type="triangle"/>
          </a:ln>
        </p:spPr>
      </p:cxnSp>
      <p:cxnSp>
        <p:nvCxnSpPr>
          <p:cNvPr id="66" name="Google Shape;66;p14"/>
          <p:cNvCxnSpPr/>
          <p:nvPr/>
        </p:nvCxnSpPr>
        <p:spPr>
          <a:xfrm rot="10800000">
            <a:off x="5567300" y="3766650"/>
            <a:ext cx="1186800" cy="8700"/>
          </a:xfrm>
          <a:prstGeom prst="straightConnector1">
            <a:avLst/>
          </a:prstGeom>
          <a:noFill/>
          <a:ln cap="flat" cmpd="sng" w="9525">
            <a:solidFill>
              <a:schemeClr val="dk2"/>
            </a:solidFill>
            <a:prstDash val="solid"/>
            <a:round/>
            <a:headEnd len="med" w="med" type="none"/>
            <a:tailEnd len="med" w="med" type="triangle"/>
          </a:ln>
        </p:spPr>
      </p:cxnSp>
      <p:sp>
        <p:nvSpPr>
          <p:cNvPr id="67" name="Google Shape;67;p14"/>
          <p:cNvSpPr/>
          <p:nvPr/>
        </p:nvSpPr>
        <p:spPr>
          <a:xfrm>
            <a:off x="6634525" y="1766450"/>
            <a:ext cx="673800" cy="21387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Repo</a:t>
            </a:r>
            <a:endParaRPr/>
          </a:p>
        </p:txBody>
      </p:sp>
      <p:cxnSp>
        <p:nvCxnSpPr>
          <p:cNvPr id="68" name="Google Shape;68;p14"/>
          <p:cNvCxnSpPr/>
          <p:nvPr/>
        </p:nvCxnSpPr>
        <p:spPr>
          <a:xfrm>
            <a:off x="5547000" y="1965625"/>
            <a:ext cx="1207200" cy="0"/>
          </a:xfrm>
          <a:prstGeom prst="straightConnector1">
            <a:avLst/>
          </a:prstGeom>
          <a:noFill/>
          <a:ln cap="flat" cmpd="sng" w="9525">
            <a:solidFill>
              <a:schemeClr val="dk2"/>
            </a:solidFill>
            <a:prstDash val="solid"/>
            <a:round/>
            <a:headEnd len="med" w="med" type="none"/>
            <a:tailEnd len="med" w="med" type="triangle"/>
          </a:ln>
        </p:spPr>
      </p:cxnSp>
      <p:sp>
        <p:nvSpPr>
          <p:cNvPr id="69" name="Google Shape;69;p14"/>
          <p:cNvSpPr/>
          <p:nvPr/>
        </p:nvSpPr>
        <p:spPr>
          <a:xfrm>
            <a:off x="7481000" y="1777675"/>
            <a:ext cx="1186800" cy="375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Network</a:t>
            </a:r>
            <a:endParaRPr sz="1300"/>
          </a:p>
        </p:txBody>
      </p:sp>
      <p:sp>
        <p:nvSpPr>
          <p:cNvPr id="70" name="Google Shape;70;p14"/>
          <p:cNvSpPr/>
          <p:nvPr/>
        </p:nvSpPr>
        <p:spPr>
          <a:xfrm>
            <a:off x="7481000" y="2311075"/>
            <a:ext cx="1186800" cy="375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DB</a:t>
            </a:r>
            <a:endParaRPr sz="1300"/>
          </a:p>
        </p:txBody>
      </p:sp>
      <p:sp>
        <p:nvSpPr>
          <p:cNvPr id="71" name="Google Shape;71;p14"/>
          <p:cNvSpPr/>
          <p:nvPr/>
        </p:nvSpPr>
        <p:spPr>
          <a:xfrm>
            <a:off x="7481000" y="2913525"/>
            <a:ext cx="1186800" cy="375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Local files / data</a:t>
            </a:r>
            <a:endParaRPr sz="1300"/>
          </a:p>
        </p:txBody>
      </p:sp>
      <p:sp>
        <p:nvSpPr>
          <p:cNvPr id="72" name="Google Shape;72;p14"/>
          <p:cNvSpPr/>
          <p:nvPr/>
        </p:nvSpPr>
        <p:spPr>
          <a:xfrm>
            <a:off x="7481000" y="3515975"/>
            <a:ext cx="1186800" cy="375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Other data sources</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5740075" y="2892125"/>
            <a:ext cx="2700000" cy="113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Activity</a:t>
            </a:r>
            <a:endParaRPr/>
          </a:p>
          <a:p>
            <a:pPr indent="0" lvl="0" marL="0" rtl="0" algn="ctr">
              <a:spcBef>
                <a:spcPts val="0"/>
              </a:spcBef>
              <a:spcAft>
                <a:spcPts val="0"/>
              </a:spcAft>
              <a:buNone/>
            </a:pPr>
            <a:r>
              <a:rPr lang="en"/>
              <a:t>UI Views - Show Data</a:t>
            </a:r>
            <a:endParaRPr/>
          </a:p>
        </p:txBody>
      </p:sp>
      <p:sp>
        <p:nvSpPr>
          <p:cNvPr id="78" name="Google Shape;78;p15"/>
          <p:cNvSpPr/>
          <p:nvPr/>
        </p:nvSpPr>
        <p:spPr>
          <a:xfrm>
            <a:off x="5740075" y="41422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Layout</a:t>
            </a:r>
            <a:endParaRPr/>
          </a:p>
        </p:txBody>
      </p:sp>
      <p:sp>
        <p:nvSpPr>
          <p:cNvPr id="79" name="Google Shape;79;p15"/>
          <p:cNvSpPr/>
          <p:nvPr/>
        </p:nvSpPr>
        <p:spPr>
          <a:xfrm>
            <a:off x="362000" y="3934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80" name="Google Shape;80;p15"/>
          <p:cNvSpPr/>
          <p:nvPr/>
        </p:nvSpPr>
        <p:spPr>
          <a:xfrm>
            <a:off x="3973075" y="263700"/>
            <a:ext cx="17670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Serialize</a:t>
            </a:r>
            <a:endParaRPr/>
          </a:p>
        </p:txBody>
      </p:sp>
      <p:sp>
        <p:nvSpPr>
          <p:cNvPr id="81" name="Google Shape;81;p15"/>
          <p:cNvSpPr/>
          <p:nvPr/>
        </p:nvSpPr>
        <p:spPr>
          <a:xfrm>
            <a:off x="632627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sp>
        <p:nvSpPr>
          <p:cNvPr id="82" name="Google Shape;82;p15"/>
          <p:cNvSpPr/>
          <p:nvPr/>
        </p:nvSpPr>
        <p:spPr>
          <a:xfrm>
            <a:off x="7228450"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sp>
        <p:nvSpPr>
          <p:cNvPr id="83" name="Google Shape;83;p15"/>
          <p:cNvSpPr/>
          <p:nvPr/>
        </p:nvSpPr>
        <p:spPr>
          <a:xfrm>
            <a:off x="813062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cxnSp>
        <p:nvCxnSpPr>
          <p:cNvPr id="84" name="Google Shape;84;p15"/>
          <p:cNvCxnSpPr>
            <a:stCxn id="79" idx="3"/>
            <a:endCxn id="80" idx="1"/>
          </p:cNvCxnSpPr>
          <p:nvPr/>
        </p:nvCxnSpPr>
        <p:spPr>
          <a:xfrm>
            <a:off x="3062000" y="711900"/>
            <a:ext cx="911100" cy="0"/>
          </a:xfrm>
          <a:prstGeom prst="straightConnector1">
            <a:avLst/>
          </a:prstGeom>
          <a:noFill/>
          <a:ln cap="flat" cmpd="sng" w="9525">
            <a:solidFill>
              <a:schemeClr val="dk2"/>
            </a:solidFill>
            <a:prstDash val="solid"/>
            <a:round/>
            <a:headEnd len="med" w="med" type="none"/>
            <a:tailEnd len="med" w="med" type="triangle"/>
          </a:ln>
        </p:spPr>
      </p:cxnSp>
      <p:cxnSp>
        <p:nvCxnSpPr>
          <p:cNvPr id="85" name="Google Shape;85;p15"/>
          <p:cNvCxnSpPr>
            <a:stCxn id="80" idx="3"/>
            <a:endCxn id="81" idx="1"/>
          </p:cNvCxnSpPr>
          <p:nvPr/>
        </p:nvCxnSpPr>
        <p:spPr>
          <a:xfrm>
            <a:off x="5740075" y="711900"/>
            <a:ext cx="586200" cy="0"/>
          </a:xfrm>
          <a:prstGeom prst="straightConnector1">
            <a:avLst/>
          </a:prstGeom>
          <a:noFill/>
          <a:ln cap="flat" cmpd="sng" w="9525">
            <a:solidFill>
              <a:schemeClr val="dk2"/>
            </a:solidFill>
            <a:prstDash val="solid"/>
            <a:round/>
            <a:headEnd len="med" w="med" type="none"/>
            <a:tailEnd len="med" w="med" type="triangle"/>
          </a:ln>
        </p:spPr>
      </p:cxnSp>
      <p:cxnSp>
        <p:nvCxnSpPr>
          <p:cNvPr id="86" name="Google Shape;86;p15"/>
          <p:cNvCxnSpPr/>
          <p:nvPr/>
        </p:nvCxnSpPr>
        <p:spPr>
          <a:xfrm>
            <a:off x="6326275" y="1340725"/>
            <a:ext cx="2556600" cy="0"/>
          </a:xfrm>
          <a:prstGeom prst="straightConnector1">
            <a:avLst/>
          </a:prstGeom>
          <a:noFill/>
          <a:ln cap="flat" cmpd="sng" w="9525">
            <a:solidFill>
              <a:schemeClr val="dk2"/>
            </a:solidFill>
            <a:prstDash val="solid"/>
            <a:round/>
            <a:headEnd len="med" w="med" type="none"/>
            <a:tailEnd len="med" w="med" type="none"/>
          </a:ln>
        </p:spPr>
      </p:cxnSp>
      <p:cxnSp>
        <p:nvCxnSpPr>
          <p:cNvPr id="87" name="Google Shape;87;p15"/>
          <p:cNvCxnSpPr>
            <a:endCxn id="77" idx="0"/>
          </p:cNvCxnSpPr>
          <p:nvPr/>
        </p:nvCxnSpPr>
        <p:spPr>
          <a:xfrm rot="5400000">
            <a:off x="6575725" y="1873775"/>
            <a:ext cx="1532700" cy="504000"/>
          </a:xfrm>
          <a:prstGeom prst="bentConnector3">
            <a:avLst>
              <a:gd fmla="val 500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6"/>
          <p:cNvPicPr preferRelativeResize="0"/>
          <p:nvPr/>
        </p:nvPicPr>
        <p:blipFill rotWithShape="1">
          <a:blip r:embed="rId3">
            <a:alphaModFix/>
          </a:blip>
          <a:srcRect b="0" l="30790" r="28023" t="0"/>
          <a:stretch/>
        </p:blipFill>
        <p:spPr>
          <a:xfrm>
            <a:off x="0" y="0"/>
            <a:ext cx="2491126" cy="4838700"/>
          </a:xfrm>
          <a:prstGeom prst="rect">
            <a:avLst/>
          </a:prstGeom>
          <a:noFill/>
          <a:ln>
            <a:noFill/>
          </a:ln>
        </p:spPr>
      </p:pic>
      <p:pic>
        <p:nvPicPr>
          <p:cNvPr id="93" name="Google Shape;93;p16"/>
          <p:cNvPicPr preferRelativeResize="0"/>
          <p:nvPr/>
        </p:nvPicPr>
        <p:blipFill rotWithShape="1">
          <a:blip r:embed="rId3">
            <a:alphaModFix/>
          </a:blip>
          <a:srcRect b="18679" l="30790" r="28023" t="39335"/>
          <a:stretch/>
        </p:blipFill>
        <p:spPr>
          <a:xfrm>
            <a:off x="2941825" y="193501"/>
            <a:ext cx="5587674" cy="4556951"/>
          </a:xfrm>
          <a:prstGeom prst="rect">
            <a:avLst/>
          </a:prstGeom>
          <a:noFill/>
          <a:ln>
            <a:noFill/>
          </a:ln>
        </p:spPr>
      </p:pic>
      <p:sp>
        <p:nvSpPr>
          <p:cNvPr id="94" name="Google Shape;94;p16"/>
          <p:cNvSpPr/>
          <p:nvPr/>
        </p:nvSpPr>
        <p:spPr>
          <a:xfrm>
            <a:off x="3515000" y="298300"/>
            <a:ext cx="669000" cy="6450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4184000" y="298300"/>
            <a:ext cx="2313900" cy="2982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4184000" y="596500"/>
            <a:ext cx="3289500" cy="10644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4184000" y="1660900"/>
            <a:ext cx="3289500" cy="24024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4184000" y="4199675"/>
            <a:ext cx="565200" cy="2982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5005550" y="4199675"/>
            <a:ext cx="565200" cy="2982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5899625" y="4199675"/>
            <a:ext cx="565200" cy="2982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7215400" y="298300"/>
            <a:ext cx="258000" cy="2982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p:nvPr/>
        </p:nvSpPr>
        <p:spPr>
          <a:xfrm>
            <a:off x="3337625" y="1492275"/>
            <a:ext cx="5102400" cy="252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t>Activity</a:t>
            </a:r>
            <a:endParaRPr/>
          </a:p>
        </p:txBody>
      </p:sp>
      <p:sp>
        <p:nvSpPr>
          <p:cNvPr id="107" name="Google Shape;107;p17"/>
          <p:cNvSpPr/>
          <p:nvPr/>
        </p:nvSpPr>
        <p:spPr>
          <a:xfrm>
            <a:off x="3337675" y="4142250"/>
            <a:ext cx="51024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Layout</a:t>
            </a:r>
            <a:endParaRPr/>
          </a:p>
        </p:txBody>
      </p:sp>
      <p:sp>
        <p:nvSpPr>
          <p:cNvPr id="108" name="Google Shape;108;p17"/>
          <p:cNvSpPr/>
          <p:nvPr/>
        </p:nvSpPr>
        <p:spPr>
          <a:xfrm>
            <a:off x="362000" y="3934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09" name="Google Shape;109;p17"/>
          <p:cNvSpPr/>
          <p:nvPr/>
        </p:nvSpPr>
        <p:spPr>
          <a:xfrm>
            <a:off x="3973075" y="263700"/>
            <a:ext cx="17670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Serialize</a:t>
            </a:r>
            <a:endParaRPr/>
          </a:p>
        </p:txBody>
      </p:sp>
      <p:sp>
        <p:nvSpPr>
          <p:cNvPr id="110" name="Google Shape;110;p17"/>
          <p:cNvSpPr/>
          <p:nvPr/>
        </p:nvSpPr>
        <p:spPr>
          <a:xfrm>
            <a:off x="632627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sp>
        <p:nvSpPr>
          <p:cNvPr id="111" name="Google Shape;111;p17"/>
          <p:cNvSpPr/>
          <p:nvPr/>
        </p:nvSpPr>
        <p:spPr>
          <a:xfrm>
            <a:off x="7228450"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sp>
        <p:nvSpPr>
          <p:cNvPr id="112" name="Google Shape;112;p17"/>
          <p:cNvSpPr/>
          <p:nvPr/>
        </p:nvSpPr>
        <p:spPr>
          <a:xfrm>
            <a:off x="813062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cxnSp>
        <p:nvCxnSpPr>
          <p:cNvPr id="113" name="Google Shape;113;p17"/>
          <p:cNvCxnSpPr>
            <a:stCxn id="108" idx="3"/>
            <a:endCxn id="109" idx="1"/>
          </p:cNvCxnSpPr>
          <p:nvPr/>
        </p:nvCxnSpPr>
        <p:spPr>
          <a:xfrm>
            <a:off x="3062000" y="711900"/>
            <a:ext cx="911100" cy="0"/>
          </a:xfrm>
          <a:prstGeom prst="straightConnector1">
            <a:avLst/>
          </a:prstGeom>
          <a:noFill/>
          <a:ln cap="flat" cmpd="sng" w="9525">
            <a:solidFill>
              <a:schemeClr val="dk2"/>
            </a:solidFill>
            <a:prstDash val="solid"/>
            <a:round/>
            <a:headEnd len="med" w="med" type="none"/>
            <a:tailEnd len="med" w="med" type="triangle"/>
          </a:ln>
        </p:spPr>
      </p:cxnSp>
      <p:cxnSp>
        <p:nvCxnSpPr>
          <p:cNvPr id="114" name="Google Shape;114;p17"/>
          <p:cNvCxnSpPr>
            <a:stCxn id="109" idx="3"/>
            <a:endCxn id="110" idx="1"/>
          </p:cNvCxnSpPr>
          <p:nvPr/>
        </p:nvCxnSpPr>
        <p:spPr>
          <a:xfrm>
            <a:off x="5740075" y="711900"/>
            <a:ext cx="586200" cy="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7"/>
          <p:cNvCxnSpPr/>
          <p:nvPr/>
        </p:nvCxnSpPr>
        <p:spPr>
          <a:xfrm>
            <a:off x="6326275" y="1340725"/>
            <a:ext cx="2556600" cy="0"/>
          </a:xfrm>
          <a:prstGeom prst="straightConnector1">
            <a:avLst/>
          </a:prstGeom>
          <a:noFill/>
          <a:ln cap="flat" cmpd="sng" w="9525">
            <a:solidFill>
              <a:schemeClr val="dk2"/>
            </a:solidFill>
            <a:prstDash val="solid"/>
            <a:round/>
            <a:headEnd len="med" w="med" type="none"/>
            <a:tailEnd len="med" w="med" type="none"/>
          </a:ln>
        </p:spPr>
      </p:cxnSp>
      <p:sp>
        <p:nvSpPr>
          <p:cNvPr id="116" name="Google Shape;116;p17"/>
          <p:cNvSpPr/>
          <p:nvPr/>
        </p:nvSpPr>
        <p:spPr>
          <a:xfrm>
            <a:off x="3506575" y="1619975"/>
            <a:ext cx="2700000" cy="240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3506575" y="1619975"/>
            <a:ext cx="2700000" cy="48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sp>
        <p:nvSpPr>
          <p:cNvPr id="118" name="Google Shape;118;p17"/>
          <p:cNvSpPr/>
          <p:nvPr/>
        </p:nvSpPr>
        <p:spPr>
          <a:xfrm>
            <a:off x="3506575" y="2095675"/>
            <a:ext cx="2700000" cy="48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sp>
        <p:nvSpPr>
          <p:cNvPr id="119" name="Google Shape;119;p17"/>
          <p:cNvSpPr/>
          <p:nvPr/>
        </p:nvSpPr>
        <p:spPr>
          <a:xfrm>
            <a:off x="3506575" y="2579275"/>
            <a:ext cx="2700000" cy="48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sp>
        <p:nvSpPr>
          <p:cNvPr id="120" name="Google Shape;120;p17"/>
          <p:cNvSpPr/>
          <p:nvPr/>
        </p:nvSpPr>
        <p:spPr>
          <a:xfrm>
            <a:off x="3506575" y="3062875"/>
            <a:ext cx="2700000" cy="48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sp>
        <p:nvSpPr>
          <p:cNvPr id="121" name="Google Shape;121;p17"/>
          <p:cNvSpPr/>
          <p:nvPr/>
        </p:nvSpPr>
        <p:spPr>
          <a:xfrm>
            <a:off x="3506575" y="3538575"/>
            <a:ext cx="2700000" cy="48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twitt</a:t>
            </a:r>
            <a:endParaRPr/>
          </a:p>
        </p:txBody>
      </p:sp>
      <p:cxnSp>
        <p:nvCxnSpPr>
          <p:cNvPr id="122" name="Google Shape;122;p17"/>
          <p:cNvCxnSpPr>
            <a:stCxn id="106" idx="3"/>
          </p:cNvCxnSpPr>
          <p:nvPr/>
        </p:nvCxnSpPr>
        <p:spPr>
          <a:xfrm rot="10800000">
            <a:off x="7666925" y="1354425"/>
            <a:ext cx="773100" cy="1402800"/>
          </a:xfrm>
          <a:prstGeom prst="bentConnector4">
            <a:avLst>
              <a:gd fmla="val -30801" name="adj1"/>
              <a:gd fmla="val 95087" name="adj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p:nvPr/>
        </p:nvSpPr>
        <p:spPr>
          <a:xfrm>
            <a:off x="56525" y="925550"/>
            <a:ext cx="2363400" cy="4218000"/>
          </a:xfrm>
          <a:prstGeom prst="rect">
            <a:avLst/>
          </a:prstGeom>
          <a:noFill/>
          <a:ln cap="flat" cmpd="sng" w="38100">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Driven View Architecture</a:t>
            </a:r>
            <a:endParaRPr/>
          </a:p>
        </p:txBody>
      </p:sp>
      <p:cxnSp>
        <p:nvCxnSpPr>
          <p:cNvPr id="129" name="Google Shape;129;p18"/>
          <p:cNvCxnSpPr/>
          <p:nvPr/>
        </p:nvCxnSpPr>
        <p:spPr>
          <a:xfrm>
            <a:off x="2420025" y="1147100"/>
            <a:ext cx="0" cy="3737400"/>
          </a:xfrm>
          <a:prstGeom prst="straightConnector1">
            <a:avLst/>
          </a:prstGeom>
          <a:noFill/>
          <a:ln cap="flat" cmpd="sng" w="9525">
            <a:solidFill>
              <a:schemeClr val="dk2"/>
            </a:solidFill>
            <a:prstDash val="solid"/>
            <a:round/>
            <a:headEnd len="med" w="med" type="none"/>
            <a:tailEnd len="med" w="med" type="none"/>
          </a:ln>
        </p:spPr>
      </p:cxnSp>
      <p:cxnSp>
        <p:nvCxnSpPr>
          <p:cNvPr id="130" name="Google Shape;130;p18"/>
          <p:cNvCxnSpPr/>
          <p:nvPr/>
        </p:nvCxnSpPr>
        <p:spPr>
          <a:xfrm>
            <a:off x="5802150" y="1147100"/>
            <a:ext cx="0" cy="3737400"/>
          </a:xfrm>
          <a:prstGeom prst="straightConnector1">
            <a:avLst/>
          </a:prstGeom>
          <a:noFill/>
          <a:ln cap="flat" cmpd="sng" w="9525">
            <a:solidFill>
              <a:schemeClr val="dk2"/>
            </a:solidFill>
            <a:prstDash val="solid"/>
            <a:round/>
            <a:headEnd len="med" w="med" type="none"/>
            <a:tailEnd len="med" w="med" type="none"/>
          </a:ln>
        </p:spPr>
      </p:cxnSp>
      <p:sp>
        <p:nvSpPr>
          <p:cNvPr id="131" name="Google Shape;131;p18"/>
          <p:cNvSpPr txBox="1"/>
          <p:nvPr/>
        </p:nvSpPr>
        <p:spPr>
          <a:xfrm>
            <a:off x="311700" y="1147100"/>
            <a:ext cx="222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Model</a:t>
            </a:r>
            <a:endParaRPr/>
          </a:p>
        </p:txBody>
      </p:sp>
      <p:sp>
        <p:nvSpPr>
          <p:cNvPr id="132" name="Google Shape;132;p18"/>
          <p:cNvSpPr txBox="1"/>
          <p:nvPr/>
        </p:nvSpPr>
        <p:spPr>
          <a:xfrm>
            <a:off x="2795300" y="1147100"/>
            <a:ext cx="222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View</a:t>
            </a:r>
            <a:endParaRPr/>
          </a:p>
        </p:txBody>
      </p:sp>
      <p:sp>
        <p:nvSpPr>
          <p:cNvPr id="133" name="Google Shape;133;p18"/>
          <p:cNvSpPr txBox="1"/>
          <p:nvPr/>
        </p:nvSpPr>
        <p:spPr>
          <a:xfrm>
            <a:off x="6226225" y="1147100"/>
            <a:ext cx="222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Controller</a:t>
            </a:r>
            <a:endParaRPr/>
          </a:p>
        </p:txBody>
      </p:sp>
      <p:sp>
        <p:nvSpPr>
          <p:cNvPr id="134" name="Google Shape;134;p18"/>
          <p:cNvSpPr txBox="1"/>
          <p:nvPr/>
        </p:nvSpPr>
        <p:spPr>
          <a:xfrm>
            <a:off x="311700" y="2032175"/>
            <a:ext cx="22275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DATA Source</a:t>
            </a:r>
            <a:endParaRPr/>
          </a:p>
          <a:p>
            <a:pPr indent="0" lvl="0" marL="0" rtl="0" algn="ctr">
              <a:spcBef>
                <a:spcPts val="0"/>
              </a:spcBef>
              <a:spcAft>
                <a:spcPts val="0"/>
              </a:spcAft>
              <a:buNone/>
            </a:pPr>
            <a:r>
              <a:t/>
            </a:r>
            <a:endParaRPr/>
          </a:p>
          <a:p>
            <a:pPr indent="0" lvl="0" marL="0" rtl="0" algn="ctr">
              <a:lnSpc>
                <a:spcPct val="115000"/>
              </a:lnSpc>
              <a:spcBef>
                <a:spcPts val="0"/>
              </a:spcBef>
              <a:spcAft>
                <a:spcPts val="1200"/>
              </a:spcAft>
              <a:buClr>
                <a:schemeClr val="dk1"/>
              </a:buClr>
              <a:buSzPts val="1100"/>
              <a:buFont typeface="Arial"/>
              <a:buNone/>
            </a:pPr>
            <a:r>
              <a:rPr lang="en" sz="1100">
                <a:solidFill>
                  <a:schemeClr val="dk1"/>
                </a:solidFill>
                <a:highlight>
                  <a:schemeClr val="lt1"/>
                </a:highlight>
                <a:latin typeface="Courier New"/>
                <a:ea typeface="Courier New"/>
                <a:cs typeface="Courier New"/>
                <a:sym typeface="Courier New"/>
              </a:rPr>
              <a:t>List&lt;twitt&gt; twitts;</a:t>
            </a:r>
            <a:endParaRPr>
              <a:solidFill>
                <a:schemeClr val="dk1"/>
              </a:solidFill>
              <a:highlight>
                <a:schemeClr val="lt1"/>
              </a:highlight>
            </a:endParaRPr>
          </a:p>
        </p:txBody>
      </p:sp>
      <p:sp>
        <p:nvSpPr>
          <p:cNvPr id="135" name="Google Shape;135;p18"/>
          <p:cNvSpPr txBox="1"/>
          <p:nvPr/>
        </p:nvSpPr>
        <p:spPr>
          <a:xfrm>
            <a:off x="2471825" y="2032175"/>
            <a:ext cx="3274800" cy="213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UI View </a:t>
            </a:r>
            <a:endParaRPr/>
          </a:p>
          <a:p>
            <a:pPr indent="0" lvl="0" marL="0" rtl="0" algn="ctr">
              <a:spcBef>
                <a:spcPts val="0"/>
              </a:spcBef>
              <a:spcAft>
                <a:spcPts val="0"/>
              </a:spcAft>
              <a:buNone/>
            </a:pPr>
            <a:r>
              <a:rPr lang="en"/>
              <a:t>Listview - Recyclerview</a:t>
            </a:r>
            <a:endParaRPr sz="1100">
              <a:solidFill>
                <a:schemeClr val="dk1"/>
              </a:solidFill>
              <a:highlight>
                <a:schemeClr val="lt1"/>
              </a:highlight>
            </a:endParaRPr>
          </a:p>
          <a:p>
            <a:pPr indent="0" lvl="0" marL="0" rtl="0" algn="ctr">
              <a:spcBef>
                <a:spcPts val="0"/>
              </a:spcBef>
              <a:spcAft>
                <a:spcPts val="0"/>
              </a:spcAft>
              <a:buNone/>
            </a:pPr>
            <a:r>
              <a:t/>
            </a:r>
            <a:endParaRPr sz="1100">
              <a:solidFill>
                <a:schemeClr val="dk1"/>
              </a:solidFill>
              <a:highlight>
                <a:schemeClr val="lt1"/>
              </a:highlight>
            </a:endParaRPr>
          </a:p>
          <a:p>
            <a:pPr indent="0" lvl="0" marL="0" rtl="0" algn="l">
              <a:spcBef>
                <a:spcPts val="0"/>
              </a:spcBef>
              <a:spcAft>
                <a:spcPts val="0"/>
              </a:spcAft>
              <a:buNone/>
            </a:pPr>
            <a:r>
              <a:rPr lang="en" sz="800">
                <a:solidFill>
                  <a:schemeClr val="dk1"/>
                </a:solidFill>
                <a:highlight>
                  <a:schemeClr val="lt1"/>
                </a:highlight>
                <a:latin typeface="Courier New"/>
                <a:ea typeface="Courier New"/>
                <a:cs typeface="Courier New"/>
                <a:sym typeface="Courier New"/>
              </a:rPr>
              <a:t>&lt;androidx.recyclerview.widget.RecyclerView</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android:layout_width="match_parent"</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android:layout_height="match_parent"</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android:id="@+id/data_list_recyclerView"</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app:layout_constraintBottom_toBottomOf="parent"</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app:layout_constraintEnd_toEndOf="parent"</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app:layout_constraintStart_toStartOf="parent"</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highlight>
                  <a:schemeClr val="lt1"/>
                </a:highlight>
                <a:latin typeface="Courier New"/>
                <a:ea typeface="Courier New"/>
                <a:cs typeface="Courier New"/>
                <a:sym typeface="Courier New"/>
              </a:rPr>
              <a:t>   app:layout_constraintTop_toTopOf="parent"&gt;</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highlight>
                  <a:schemeClr val="lt1"/>
                </a:highlight>
                <a:latin typeface="Courier New"/>
                <a:ea typeface="Courier New"/>
                <a:cs typeface="Courier New"/>
                <a:sym typeface="Courier New"/>
              </a:rPr>
              <a:t>&lt;/androidx.recyclerview.widget.RecyclerView&gt;</a:t>
            </a:r>
            <a:endParaRPr sz="1100">
              <a:solidFill>
                <a:schemeClr val="dk1"/>
              </a:solidFill>
              <a:highlight>
                <a:schemeClr val="lt1"/>
              </a:highlight>
            </a:endParaRPr>
          </a:p>
        </p:txBody>
      </p:sp>
      <p:sp>
        <p:nvSpPr>
          <p:cNvPr id="136" name="Google Shape;136;p18"/>
          <p:cNvSpPr txBox="1"/>
          <p:nvPr/>
        </p:nvSpPr>
        <p:spPr>
          <a:xfrm>
            <a:off x="5798425" y="2147575"/>
            <a:ext cx="3274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Adapter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1200">
                <a:solidFill>
                  <a:schemeClr val="dk1"/>
                </a:solidFill>
                <a:highlight>
                  <a:schemeClr val="lt1"/>
                </a:highlight>
                <a:latin typeface="Courier New"/>
                <a:ea typeface="Courier New"/>
                <a:cs typeface="Courier New"/>
                <a:sym typeface="Courier New"/>
              </a:rPr>
              <a:t>new TwittsArrayAdapter(twitts);</a:t>
            </a:r>
            <a:endParaRPr sz="1200">
              <a:solidFill>
                <a:schemeClr val="dk1"/>
              </a:solidFill>
              <a:highlight>
                <a:schemeClr val="lt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p:nvPr/>
        </p:nvSpPr>
        <p:spPr>
          <a:xfrm>
            <a:off x="5740075" y="2892125"/>
            <a:ext cx="2700000" cy="113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Activity</a:t>
            </a:r>
            <a:endParaRPr/>
          </a:p>
          <a:p>
            <a:pPr indent="0" lvl="0" marL="0" rtl="0" algn="ctr">
              <a:spcBef>
                <a:spcPts val="0"/>
              </a:spcBef>
              <a:spcAft>
                <a:spcPts val="0"/>
              </a:spcAft>
              <a:buNone/>
            </a:pPr>
            <a:r>
              <a:rPr lang="en"/>
              <a:t>UI Views - Show Data</a:t>
            </a:r>
            <a:endParaRPr/>
          </a:p>
        </p:txBody>
      </p:sp>
      <p:sp>
        <p:nvSpPr>
          <p:cNvPr id="142" name="Google Shape;142;p19"/>
          <p:cNvSpPr/>
          <p:nvPr/>
        </p:nvSpPr>
        <p:spPr>
          <a:xfrm>
            <a:off x="5740075" y="41422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Layout</a:t>
            </a:r>
            <a:endParaRPr/>
          </a:p>
        </p:txBody>
      </p:sp>
      <p:sp>
        <p:nvSpPr>
          <p:cNvPr id="143" name="Google Shape;143;p19"/>
          <p:cNvSpPr/>
          <p:nvPr/>
        </p:nvSpPr>
        <p:spPr>
          <a:xfrm>
            <a:off x="362000" y="3934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44" name="Google Shape;144;p19"/>
          <p:cNvSpPr/>
          <p:nvPr/>
        </p:nvSpPr>
        <p:spPr>
          <a:xfrm>
            <a:off x="3973075" y="263700"/>
            <a:ext cx="17670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Serialize</a:t>
            </a:r>
            <a:endParaRPr/>
          </a:p>
        </p:txBody>
      </p:sp>
      <p:sp>
        <p:nvSpPr>
          <p:cNvPr id="145" name="Google Shape;145;p19"/>
          <p:cNvSpPr/>
          <p:nvPr/>
        </p:nvSpPr>
        <p:spPr>
          <a:xfrm>
            <a:off x="632627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sp>
        <p:nvSpPr>
          <p:cNvPr id="146" name="Google Shape;146;p19"/>
          <p:cNvSpPr/>
          <p:nvPr/>
        </p:nvSpPr>
        <p:spPr>
          <a:xfrm>
            <a:off x="7228450"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sp>
        <p:nvSpPr>
          <p:cNvPr id="147" name="Google Shape;147;p19"/>
          <p:cNvSpPr/>
          <p:nvPr/>
        </p:nvSpPr>
        <p:spPr>
          <a:xfrm>
            <a:off x="813062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cxnSp>
        <p:nvCxnSpPr>
          <p:cNvPr id="148" name="Google Shape;148;p19"/>
          <p:cNvCxnSpPr>
            <a:stCxn id="143" idx="3"/>
            <a:endCxn id="144" idx="1"/>
          </p:cNvCxnSpPr>
          <p:nvPr/>
        </p:nvCxnSpPr>
        <p:spPr>
          <a:xfrm>
            <a:off x="3062000" y="711900"/>
            <a:ext cx="911100" cy="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19"/>
          <p:cNvCxnSpPr>
            <a:stCxn id="144" idx="3"/>
            <a:endCxn id="145" idx="1"/>
          </p:cNvCxnSpPr>
          <p:nvPr/>
        </p:nvCxnSpPr>
        <p:spPr>
          <a:xfrm>
            <a:off x="5740075" y="711900"/>
            <a:ext cx="586200" cy="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19"/>
          <p:cNvCxnSpPr/>
          <p:nvPr/>
        </p:nvCxnSpPr>
        <p:spPr>
          <a:xfrm>
            <a:off x="6326275" y="1340725"/>
            <a:ext cx="2556600" cy="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p19"/>
          <p:cNvCxnSpPr>
            <a:endCxn id="141" idx="0"/>
          </p:cNvCxnSpPr>
          <p:nvPr/>
        </p:nvCxnSpPr>
        <p:spPr>
          <a:xfrm rot="5400000">
            <a:off x="6575725" y="1873775"/>
            <a:ext cx="1532700" cy="504000"/>
          </a:xfrm>
          <a:prstGeom prst="bentConnector3">
            <a:avLst>
              <a:gd fmla="val 500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p:nvPr/>
        </p:nvSpPr>
        <p:spPr>
          <a:xfrm>
            <a:off x="5740075" y="2892125"/>
            <a:ext cx="2700000" cy="113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Activity</a:t>
            </a:r>
            <a:endParaRPr/>
          </a:p>
          <a:p>
            <a:pPr indent="0" lvl="0" marL="0" rtl="0" algn="ctr">
              <a:spcBef>
                <a:spcPts val="0"/>
              </a:spcBef>
              <a:spcAft>
                <a:spcPts val="0"/>
              </a:spcAft>
              <a:buNone/>
            </a:pPr>
            <a:r>
              <a:rPr lang="en"/>
              <a:t>UI Views - Show Data</a:t>
            </a:r>
            <a:endParaRPr/>
          </a:p>
        </p:txBody>
      </p:sp>
      <p:sp>
        <p:nvSpPr>
          <p:cNvPr id="157" name="Google Shape;157;p20"/>
          <p:cNvSpPr/>
          <p:nvPr/>
        </p:nvSpPr>
        <p:spPr>
          <a:xfrm>
            <a:off x="5740075" y="41422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Layout</a:t>
            </a:r>
            <a:endParaRPr/>
          </a:p>
        </p:txBody>
      </p:sp>
      <p:sp>
        <p:nvSpPr>
          <p:cNvPr id="158" name="Google Shape;158;p20"/>
          <p:cNvSpPr/>
          <p:nvPr/>
        </p:nvSpPr>
        <p:spPr>
          <a:xfrm>
            <a:off x="362000" y="393450"/>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59" name="Google Shape;159;p20"/>
          <p:cNvSpPr/>
          <p:nvPr/>
        </p:nvSpPr>
        <p:spPr>
          <a:xfrm>
            <a:off x="3973075" y="263700"/>
            <a:ext cx="17670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Serialize</a:t>
            </a:r>
            <a:endParaRPr/>
          </a:p>
        </p:txBody>
      </p:sp>
      <p:sp>
        <p:nvSpPr>
          <p:cNvPr id="160" name="Google Shape;160;p20"/>
          <p:cNvSpPr/>
          <p:nvPr/>
        </p:nvSpPr>
        <p:spPr>
          <a:xfrm>
            <a:off x="632627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sp>
        <p:nvSpPr>
          <p:cNvPr id="161" name="Google Shape;161;p20"/>
          <p:cNvSpPr/>
          <p:nvPr/>
        </p:nvSpPr>
        <p:spPr>
          <a:xfrm>
            <a:off x="7228450"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sp>
        <p:nvSpPr>
          <p:cNvPr id="162" name="Google Shape;162;p20"/>
          <p:cNvSpPr/>
          <p:nvPr/>
        </p:nvSpPr>
        <p:spPr>
          <a:xfrm>
            <a:off x="8130625" y="367650"/>
            <a:ext cx="752100" cy="68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Model</a:t>
            </a:r>
            <a:endParaRPr/>
          </a:p>
        </p:txBody>
      </p:sp>
      <p:cxnSp>
        <p:nvCxnSpPr>
          <p:cNvPr id="163" name="Google Shape;163;p20"/>
          <p:cNvCxnSpPr>
            <a:stCxn id="159" idx="3"/>
            <a:endCxn id="160" idx="1"/>
          </p:cNvCxnSpPr>
          <p:nvPr/>
        </p:nvCxnSpPr>
        <p:spPr>
          <a:xfrm>
            <a:off x="5740075" y="711900"/>
            <a:ext cx="586200" cy="0"/>
          </a:xfrm>
          <a:prstGeom prst="straightConnector1">
            <a:avLst/>
          </a:prstGeom>
          <a:noFill/>
          <a:ln cap="flat" cmpd="sng" w="9525">
            <a:solidFill>
              <a:schemeClr val="dk2"/>
            </a:solidFill>
            <a:prstDash val="solid"/>
            <a:round/>
            <a:headEnd len="med" w="med" type="none"/>
            <a:tailEnd len="med" w="med" type="triangle"/>
          </a:ln>
        </p:spPr>
      </p:cxnSp>
      <p:cxnSp>
        <p:nvCxnSpPr>
          <p:cNvPr id="164" name="Google Shape;164;p20"/>
          <p:cNvCxnSpPr/>
          <p:nvPr/>
        </p:nvCxnSpPr>
        <p:spPr>
          <a:xfrm>
            <a:off x="6326275" y="1340725"/>
            <a:ext cx="2556600" cy="0"/>
          </a:xfrm>
          <a:prstGeom prst="straightConnector1">
            <a:avLst/>
          </a:prstGeom>
          <a:noFill/>
          <a:ln cap="flat" cmpd="sng" w="9525">
            <a:solidFill>
              <a:schemeClr val="dk2"/>
            </a:solidFill>
            <a:prstDash val="solid"/>
            <a:round/>
            <a:headEnd len="med" w="med" type="none"/>
            <a:tailEnd len="med" w="med" type="none"/>
          </a:ln>
        </p:spPr>
      </p:cxnSp>
      <p:cxnSp>
        <p:nvCxnSpPr>
          <p:cNvPr id="165" name="Google Shape;165;p20"/>
          <p:cNvCxnSpPr>
            <a:endCxn id="156" idx="0"/>
          </p:cNvCxnSpPr>
          <p:nvPr/>
        </p:nvCxnSpPr>
        <p:spPr>
          <a:xfrm rot="5400000">
            <a:off x="6575725" y="1873775"/>
            <a:ext cx="1532700" cy="5040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166" name="Google Shape;166;p20"/>
          <p:cNvSpPr/>
          <p:nvPr/>
        </p:nvSpPr>
        <p:spPr>
          <a:xfrm>
            <a:off x="362000" y="1136263"/>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Local DB</a:t>
            </a:r>
            <a:endParaRPr/>
          </a:p>
        </p:txBody>
      </p:sp>
      <p:sp>
        <p:nvSpPr>
          <p:cNvPr id="167" name="Google Shape;167;p20"/>
          <p:cNvSpPr/>
          <p:nvPr/>
        </p:nvSpPr>
        <p:spPr>
          <a:xfrm>
            <a:off x="362000" y="1879075"/>
            <a:ext cx="27000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Shared Preferences</a:t>
            </a:r>
            <a:endParaRPr/>
          </a:p>
        </p:txBody>
      </p:sp>
      <p:cxnSp>
        <p:nvCxnSpPr>
          <p:cNvPr id="168" name="Google Shape;168;p20"/>
          <p:cNvCxnSpPr>
            <a:stCxn id="167" idx="3"/>
            <a:endCxn id="159" idx="1"/>
          </p:cNvCxnSpPr>
          <p:nvPr/>
        </p:nvCxnSpPr>
        <p:spPr>
          <a:xfrm flipH="1" rot="10800000">
            <a:off x="3062000" y="711925"/>
            <a:ext cx="911100" cy="14856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169" name="Google Shape;169;p20"/>
          <p:cNvCxnSpPr>
            <a:stCxn id="166" idx="3"/>
            <a:endCxn id="159" idx="1"/>
          </p:cNvCxnSpPr>
          <p:nvPr/>
        </p:nvCxnSpPr>
        <p:spPr>
          <a:xfrm flipH="1" rot="10800000">
            <a:off x="3062000" y="711913"/>
            <a:ext cx="911100" cy="7428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170" name="Google Shape;170;p20"/>
          <p:cNvCxnSpPr>
            <a:stCxn id="158" idx="3"/>
            <a:endCxn id="159" idx="1"/>
          </p:cNvCxnSpPr>
          <p:nvPr/>
        </p:nvCxnSpPr>
        <p:spPr>
          <a:xfrm>
            <a:off x="3062000" y="711900"/>
            <a:ext cx="911100" cy="600"/>
          </a:xfrm>
          <a:prstGeom prst="bentConnector3">
            <a:avLst>
              <a:gd fmla="val 49999"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174" name="Shape 174"/>
        <p:cNvGrpSpPr/>
        <p:nvPr/>
      </p:nvGrpSpPr>
      <p:grpSpPr>
        <a:xfrm>
          <a:off x="0" y="0"/>
          <a:ext cx="0" cy="0"/>
          <a:chOff x="0" y="0"/>
          <a:chExt cx="0" cy="0"/>
        </a:xfrm>
      </p:grpSpPr>
      <p:sp>
        <p:nvSpPr>
          <p:cNvPr id="175" name="Google Shape;17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Data</a:t>
            </a:r>
            <a:endParaRPr>
              <a:solidFill>
                <a:schemeClr val="lt1"/>
              </a:solidFill>
            </a:endParaRPr>
          </a:p>
        </p:txBody>
      </p:sp>
      <p:sp>
        <p:nvSpPr>
          <p:cNvPr id="176" name="Google Shape;176;p21"/>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A9B7C6"/>
                </a:solidFill>
                <a:highlight>
                  <a:srgbClr val="2B2B2B"/>
                </a:highlight>
                <a:latin typeface="Courier New"/>
                <a:ea typeface="Courier New"/>
                <a:cs typeface="Courier New"/>
                <a:sym typeface="Courier New"/>
              </a:rPr>
              <a:t>List&lt;twitt&gt; </a:t>
            </a:r>
            <a:r>
              <a:rPr lang="en" sz="1100">
                <a:solidFill>
                  <a:srgbClr val="9876AA"/>
                </a:solidFill>
                <a:highlight>
                  <a:srgbClr val="2B2B2B"/>
                </a:highlight>
                <a:latin typeface="Courier New"/>
                <a:ea typeface="Courier New"/>
                <a:cs typeface="Courier New"/>
                <a:sym typeface="Courier New"/>
              </a:rPr>
              <a:t>twitts;</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00">
                <a:solidFill>
                  <a:srgbClr val="A9B7C6"/>
                </a:solidFill>
                <a:highlight>
                  <a:srgbClr val="2B2B2B"/>
                </a:highlight>
                <a:latin typeface="Courier New"/>
                <a:ea typeface="Courier New"/>
                <a:cs typeface="Courier New"/>
                <a:sym typeface="Courier New"/>
              </a:rPr>
              <a:t>retrofitAPI.getTwitts().enqueue(</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Callback&lt;List&lt;twitt&gt;&gt;()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BBB529"/>
                </a:solidFill>
                <a:highlight>
                  <a:srgbClr val="2B2B2B"/>
                </a:highlight>
                <a:latin typeface="Courier New"/>
                <a:ea typeface="Courier New"/>
                <a:cs typeface="Courier New"/>
                <a:sym typeface="Courier New"/>
              </a:rPr>
              <a:t>@Override</a:t>
            </a:r>
            <a:br>
              <a:rPr lang="en" sz="1100">
                <a:solidFill>
                  <a:srgbClr val="BBB529"/>
                </a:solidFill>
                <a:highlight>
                  <a:srgbClr val="2B2B2B"/>
                </a:highlight>
                <a:latin typeface="Courier New"/>
                <a:ea typeface="Courier New"/>
                <a:cs typeface="Courier New"/>
                <a:sym typeface="Courier New"/>
              </a:rPr>
            </a:br>
            <a:r>
              <a:rPr lang="en" sz="1100">
                <a:solidFill>
                  <a:srgbClr val="BBB529"/>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onResponse</a:t>
            </a:r>
            <a:r>
              <a:rPr lang="en" sz="1100">
                <a:solidFill>
                  <a:srgbClr val="A9B7C6"/>
                </a:solidFill>
                <a:highlight>
                  <a:srgbClr val="2B2B2B"/>
                </a:highlight>
                <a:latin typeface="Courier New"/>
                <a:ea typeface="Courier New"/>
                <a:cs typeface="Courier New"/>
                <a:sym typeface="Courier New"/>
              </a:rPr>
              <a:t>(Call&lt;List&lt;twitt&gt;&gt; call</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Response&lt;List&lt;twitt&gt;&gt; response)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if </a:t>
            </a:r>
            <a:r>
              <a:rPr lang="en" sz="1100">
                <a:solidFill>
                  <a:srgbClr val="A9B7C6"/>
                </a:solidFill>
                <a:highlight>
                  <a:srgbClr val="2B2B2B"/>
                </a:highlight>
                <a:latin typeface="Courier New"/>
                <a:ea typeface="Courier New"/>
                <a:cs typeface="Courier New"/>
                <a:sym typeface="Courier New"/>
              </a:rPr>
              <a:t>(response.isSuccessful())</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9876AA"/>
                </a:solidFill>
                <a:highlight>
                  <a:srgbClr val="2B2B2B"/>
                </a:highlight>
                <a:latin typeface="Courier New"/>
                <a:ea typeface="Courier New"/>
                <a:cs typeface="Courier New"/>
                <a:sym typeface="Courier New"/>
              </a:rPr>
              <a:t>twitts </a:t>
            </a:r>
            <a:r>
              <a:rPr lang="en" sz="1100">
                <a:solidFill>
                  <a:srgbClr val="A9B7C6"/>
                </a:solidFill>
                <a:highlight>
                  <a:srgbClr val="2B2B2B"/>
                </a:highlight>
                <a:latin typeface="Courier New"/>
                <a:ea typeface="Courier New"/>
                <a:cs typeface="Courier New"/>
                <a:sym typeface="Courier New"/>
              </a:rPr>
              <a:t>= response.body()</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BBB529"/>
                </a:solidFill>
                <a:highlight>
                  <a:srgbClr val="2B2B2B"/>
                </a:highlight>
                <a:latin typeface="Courier New"/>
                <a:ea typeface="Courier New"/>
                <a:cs typeface="Courier New"/>
                <a:sym typeface="Courier New"/>
              </a:rPr>
              <a:t>@Override</a:t>
            </a:r>
            <a:br>
              <a:rPr lang="en" sz="1100">
                <a:solidFill>
                  <a:srgbClr val="BBB529"/>
                </a:solidFill>
                <a:highlight>
                  <a:srgbClr val="2B2B2B"/>
                </a:highlight>
                <a:latin typeface="Courier New"/>
                <a:ea typeface="Courier New"/>
                <a:cs typeface="Courier New"/>
                <a:sym typeface="Courier New"/>
              </a:rPr>
            </a:br>
            <a:r>
              <a:rPr lang="en" sz="1100">
                <a:solidFill>
                  <a:srgbClr val="BBB529"/>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onFailure</a:t>
            </a:r>
            <a:r>
              <a:rPr lang="en" sz="1100">
                <a:solidFill>
                  <a:srgbClr val="A9B7C6"/>
                </a:solidFill>
                <a:highlight>
                  <a:srgbClr val="2B2B2B"/>
                </a:highlight>
                <a:latin typeface="Courier New"/>
                <a:ea typeface="Courier New"/>
                <a:cs typeface="Courier New"/>
                <a:sym typeface="Courier New"/>
              </a:rPr>
              <a:t>(Call&lt;List&lt;twitt&gt;&gt; call</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Throwable t) {</a:t>
            </a:r>
            <a:br>
              <a:rPr lang="en" sz="1100">
                <a:solidFill>
                  <a:srgbClr val="A9B7C6"/>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300">
              <a:solidFill>
                <a:srgbClr val="A9B7C6"/>
              </a:solidFill>
              <a:highlight>
                <a:srgbClr val="2B2B2B"/>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cxnSp>
        <p:nvCxnSpPr>
          <p:cNvPr id="181" name="Google Shape;181;p22"/>
          <p:cNvCxnSpPr/>
          <p:nvPr/>
        </p:nvCxnSpPr>
        <p:spPr>
          <a:xfrm>
            <a:off x="2529375" y="-7050"/>
            <a:ext cx="14100" cy="5136300"/>
          </a:xfrm>
          <a:prstGeom prst="straightConnector1">
            <a:avLst/>
          </a:prstGeom>
          <a:noFill/>
          <a:ln cap="flat" cmpd="sng" w="9525">
            <a:solidFill>
              <a:schemeClr val="dk2"/>
            </a:solidFill>
            <a:prstDash val="solid"/>
            <a:round/>
            <a:headEnd len="med" w="med" type="none"/>
            <a:tailEnd len="med" w="med" type="none"/>
          </a:ln>
        </p:spPr>
      </p:cxnSp>
      <p:sp>
        <p:nvSpPr>
          <p:cNvPr id="182" name="Google Shape;182;p22"/>
          <p:cNvSpPr/>
          <p:nvPr/>
        </p:nvSpPr>
        <p:spPr>
          <a:xfrm>
            <a:off x="65050" y="72275"/>
            <a:ext cx="2322900" cy="113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Activity</a:t>
            </a:r>
            <a:endParaRPr/>
          </a:p>
          <a:p>
            <a:pPr indent="0" lvl="0" marL="0" rtl="0" algn="ctr">
              <a:spcBef>
                <a:spcPts val="0"/>
              </a:spcBef>
              <a:spcAft>
                <a:spcPts val="0"/>
              </a:spcAft>
              <a:buNone/>
            </a:pPr>
            <a:r>
              <a:rPr lang="en"/>
              <a:t>UI Views - Show Data</a:t>
            </a:r>
            <a:endParaRPr/>
          </a:p>
        </p:txBody>
      </p:sp>
      <p:sp>
        <p:nvSpPr>
          <p:cNvPr id="183" name="Google Shape;183;p22"/>
          <p:cNvSpPr/>
          <p:nvPr/>
        </p:nvSpPr>
        <p:spPr>
          <a:xfrm>
            <a:off x="65050" y="1272600"/>
            <a:ext cx="2322900" cy="6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Source (Code Base)</a:t>
            </a:r>
            <a:endParaRPr/>
          </a:p>
          <a:p>
            <a:pPr indent="0" lvl="0" marL="0" rtl="0" algn="ctr">
              <a:spcBef>
                <a:spcPts val="0"/>
              </a:spcBef>
              <a:spcAft>
                <a:spcPts val="0"/>
              </a:spcAft>
              <a:buNone/>
            </a:pPr>
            <a:r>
              <a:rPr lang="en"/>
              <a:t>List&lt;Object&gt;</a:t>
            </a:r>
            <a:endParaRPr/>
          </a:p>
        </p:txBody>
      </p:sp>
      <p:sp>
        <p:nvSpPr>
          <p:cNvPr id="184" name="Google Shape;184;p22"/>
          <p:cNvSpPr txBox="1"/>
          <p:nvPr/>
        </p:nvSpPr>
        <p:spPr>
          <a:xfrm>
            <a:off x="6270825" y="72275"/>
            <a:ext cx="222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Data Source</a:t>
            </a:r>
            <a:endParaRPr/>
          </a:p>
        </p:txBody>
      </p:sp>
      <p:sp>
        <p:nvSpPr>
          <p:cNvPr id="185" name="Google Shape;185;p22"/>
          <p:cNvSpPr/>
          <p:nvPr/>
        </p:nvSpPr>
        <p:spPr>
          <a:xfrm>
            <a:off x="5736975" y="534750"/>
            <a:ext cx="32952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86" name="Google Shape;186;p22"/>
          <p:cNvSpPr/>
          <p:nvPr/>
        </p:nvSpPr>
        <p:spPr>
          <a:xfrm>
            <a:off x="5736975" y="1253738"/>
            <a:ext cx="32952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Local DB</a:t>
            </a:r>
            <a:endParaRPr/>
          </a:p>
        </p:txBody>
      </p:sp>
      <p:sp>
        <p:nvSpPr>
          <p:cNvPr id="187" name="Google Shape;187;p22"/>
          <p:cNvSpPr/>
          <p:nvPr/>
        </p:nvSpPr>
        <p:spPr>
          <a:xfrm>
            <a:off x="5736975" y="1972725"/>
            <a:ext cx="32952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Shared Preferences</a:t>
            </a:r>
            <a:endParaRPr/>
          </a:p>
        </p:txBody>
      </p:sp>
      <p:cxnSp>
        <p:nvCxnSpPr>
          <p:cNvPr id="188" name="Google Shape;188;p22"/>
          <p:cNvCxnSpPr/>
          <p:nvPr/>
        </p:nvCxnSpPr>
        <p:spPr>
          <a:xfrm>
            <a:off x="5077375" y="3600"/>
            <a:ext cx="14100" cy="5136300"/>
          </a:xfrm>
          <a:prstGeom prst="straightConnector1">
            <a:avLst/>
          </a:prstGeom>
          <a:noFill/>
          <a:ln cap="flat" cmpd="sng" w="9525">
            <a:solidFill>
              <a:schemeClr val="dk2"/>
            </a:solidFill>
            <a:prstDash val="solid"/>
            <a:round/>
            <a:headEnd len="med" w="med" type="none"/>
            <a:tailEnd len="med" w="med" type="none"/>
          </a:ln>
        </p:spPr>
      </p:cxnSp>
      <p:sp>
        <p:nvSpPr>
          <p:cNvPr id="189" name="Google Shape;189;p22"/>
          <p:cNvSpPr txBox="1"/>
          <p:nvPr/>
        </p:nvSpPr>
        <p:spPr>
          <a:xfrm>
            <a:off x="2654238" y="72275"/>
            <a:ext cx="222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Serialize</a:t>
            </a:r>
            <a:endParaRPr/>
          </a:p>
        </p:txBody>
      </p:sp>
      <p:sp>
        <p:nvSpPr>
          <p:cNvPr id="190" name="Google Shape;190;p22"/>
          <p:cNvSpPr/>
          <p:nvPr/>
        </p:nvSpPr>
        <p:spPr>
          <a:xfrm>
            <a:off x="2738675" y="4222800"/>
            <a:ext cx="2143500" cy="6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Seralizer</a:t>
            </a:r>
            <a:endParaRPr/>
          </a:p>
        </p:txBody>
      </p:sp>
      <p:cxnSp>
        <p:nvCxnSpPr>
          <p:cNvPr id="191" name="Google Shape;191;p22"/>
          <p:cNvCxnSpPr>
            <a:stCxn id="190" idx="0"/>
            <a:endCxn id="183" idx="2"/>
          </p:cNvCxnSpPr>
          <p:nvPr/>
        </p:nvCxnSpPr>
        <p:spPr>
          <a:xfrm flipH="1" rot="5400000">
            <a:off x="1373825" y="1786200"/>
            <a:ext cx="2289300" cy="25839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192" name="Google Shape;192;p22"/>
          <p:cNvCxnSpPr>
            <a:stCxn id="185" idx="1"/>
            <a:endCxn id="190" idx="3"/>
          </p:cNvCxnSpPr>
          <p:nvPr/>
        </p:nvCxnSpPr>
        <p:spPr>
          <a:xfrm flipH="1">
            <a:off x="4882275" y="853200"/>
            <a:ext cx="854700" cy="3688200"/>
          </a:xfrm>
          <a:prstGeom prst="bentConnector3">
            <a:avLst>
              <a:gd fmla="val 50006" name="adj1"/>
            </a:avLst>
          </a:prstGeom>
          <a:noFill/>
          <a:ln cap="flat" cmpd="sng" w="9525">
            <a:solidFill>
              <a:schemeClr val="dk2"/>
            </a:solidFill>
            <a:prstDash val="solid"/>
            <a:round/>
            <a:headEnd len="med" w="med" type="none"/>
            <a:tailEnd len="med" w="med" type="none"/>
          </a:ln>
        </p:spPr>
      </p:cxnSp>
      <p:cxnSp>
        <p:nvCxnSpPr>
          <p:cNvPr id="193" name="Google Shape;193;p22"/>
          <p:cNvCxnSpPr>
            <a:stCxn id="186" idx="1"/>
            <a:endCxn id="190" idx="3"/>
          </p:cNvCxnSpPr>
          <p:nvPr/>
        </p:nvCxnSpPr>
        <p:spPr>
          <a:xfrm flipH="1">
            <a:off x="4882275" y="1572188"/>
            <a:ext cx="854700" cy="2969100"/>
          </a:xfrm>
          <a:prstGeom prst="bentConnector3">
            <a:avLst>
              <a:gd fmla="val 32239" name="adj1"/>
            </a:avLst>
          </a:prstGeom>
          <a:noFill/>
          <a:ln cap="flat" cmpd="sng" w="9525">
            <a:solidFill>
              <a:schemeClr val="dk2"/>
            </a:solidFill>
            <a:prstDash val="solid"/>
            <a:round/>
            <a:headEnd len="med" w="med" type="none"/>
            <a:tailEnd len="med" w="med" type="none"/>
          </a:ln>
        </p:spPr>
      </p:cxnSp>
      <p:cxnSp>
        <p:nvCxnSpPr>
          <p:cNvPr id="194" name="Google Shape;194;p22"/>
          <p:cNvCxnSpPr>
            <a:stCxn id="187" idx="1"/>
            <a:endCxn id="190" idx="3"/>
          </p:cNvCxnSpPr>
          <p:nvPr/>
        </p:nvCxnSpPr>
        <p:spPr>
          <a:xfrm flipH="1">
            <a:off x="4882275" y="2291175"/>
            <a:ext cx="854700" cy="2250000"/>
          </a:xfrm>
          <a:prstGeom prst="bentConnector3">
            <a:avLst>
              <a:gd fmla="val 16532"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p:nvPr/>
        </p:nvSpPr>
        <p:spPr>
          <a:xfrm>
            <a:off x="6796775" y="388600"/>
            <a:ext cx="2268000" cy="2310600"/>
          </a:xfrm>
          <a:prstGeom prst="rect">
            <a:avLst/>
          </a:prstGeom>
          <a:solidFill>
            <a:srgbClr val="00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Source</a:t>
            </a:r>
            <a:endParaRPr/>
          </a:p>
        </p:txBody>
      </p:sp>
      <p:sp>
        <p:nvSpPr>
          <p:cNvPr id="201" name="Google Shape;201;p2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a:t>Local Data Source</a:t>
            </a:r>
            <a:endParaRPr/>
          </a:p>
          <a:p>
            <a:pPr indent="-304800" lvl="1" marL="914400" rtl="0" algn="l">
              <a:spcBef>
                <a:spcPts val="0"/>
              </a:spcBef>
              <a:spcAft>
                <a:spcPts val="0"/>
              </a:spcAft>
              <a:buSzPts val="1200"/>
              <a:buChar char="○"/>
            </a:pPr>
            <a:r>
              <a:rPr lang="en"/>
              <a:t>Resources</a:t>
            </a:r>
            <a:endParaRPr/>
          </a:p>
          <a:p>
            <a:pPr indent="-304800" lvl="1" marL="914400" rtl="0" algn="l">
              <a:spcBef>
                <a:spcPts val="0"/>
              </a:spcBef>
              <a:spcAft>
                <a:spcPts val="0"/>
              </a:spcAft>
              <a:buSzPts val="1200"/>
              <a:buChar char="○"/>
            </a:pPr>
            <a:r>
              <a:rPr lang="en"/>
              <a:t>Shared preferences</a:t>
            </a:r>
            <a:endParaRPr/>
          </a:p>
          <a:p>
            <a:pPr indent="-304800" lvl="1" marL="914400" rtl="0" algn="l">
              <a:spcBef>
                <a:spcPts val="0"/>
              </a:spcBef>
              <a:spcAft>
                <a:spcPts val="0"/>
              </a:spcAft>
              <a:buSzPts val="1200"/>
              <a:buChar char="○"/>
            </a:pPr>
            <a:r>
              <a:rPr lang="en"/>
              <a:t>Database</a:t>
            </a:r>
            <a:endParaRPr/>
          </a:p>
          <a:p>
            <a:pPr indent="-304800" lvl="0" marL="457200" rtl="0" algn="l">
              <a:spcBef>
                <a:spcPts val="0"/>
              </a:spcBef>
              <a:spcAft>
                <a:spcPts val="0"/>
              </a:spcAft>
              <a:buSzPts val="1200"/>
              <a:buChar char="●"/>
            </a:pPr>
            <a:r>
              <a:rPr lang="en"/>
              <a:t>Remote Data Source</a:t>
            </a:r>
            <a:endParaRPr/>
          </a:p>
          <a:p>
            <a:pPr indent="-304800" lvl="1" marL="914400" rtl="0" algn="l">
              <a:spcBef>
                <a:spcPts val="0"/>
              </a:spcBef>
              <a:spcAft>
                <a:spcPts val="0"/>
              </a:spcAft>
              <a:buSzPts val="1200"/>
              <a:buChar char="○"/>
            </a:pPr>
            <a:r>
              <a:rPr lang="en"/>
              <a:t>Rest API</a:t>
            </a:r>
            <a:endParaRPr/>
          </a:p>
        </p:txBody>
      </p:sp>
      <p:sp>
        <p:nvSpPr>
          <p:cNvPr id="202" name="Google Shape;202;p23"/>
          <p:cNvSpPr/>
          <p:nvPr/>
        </p:nvSpPr>
        <p:spPr>
          <a:xfrm>
            <a:off x="5731400" y="3732075"/>
            <a:ext cx="2700000" cy="113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Activity</a:t>
            </a:r>
            <a:endParaRPr/>
          </a:p>
          <a:p>
            <a:pPr indent="0" lvl="0" marL="0" rtl="0" algn="ctr">
              <a:spcBef>
                <a:spcPts val="0"/>
              </a:spcBef>
              <a:spcAft>
                <a:spcPts val="0"/>
              </a:spcAft>
              <a:buNone/>
            </a:pPr>
            <a:r>
              <a:rPr lang="en"/>
              <a:t>UI Views - Show Data</a:t>
            </a:r>
            <a:endParaRPr/>
          </a:p>
        </p:txBody>
      </p:sp>
      <p:sp>
        <p:nvSpPr>
          <p:cNvPr id="203" name="Google Shape;203;p23"/>
          <p:cNvSpPr/>
          <p:nvPr/>
        </p:nvSpPr>
        <p:spPr>
          <a:xfrm>
            <a:off x="5731400" y="2883475"/>
            <a:ext cx="2700000" cy="6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Source (Code Base)</a:t>
            </a:r>
            <a:endParaRPr/>
          </a:p>
          <a:p>
            <a:pPr indent="0" lvl="0" marL="0" rtl="0" algn="ctr">
              <a:spcBef>
                <a:spcPts val="0"/>
              </a:spcBef>
              <a:spcAft>
                <a:spcPts val="0"/>
              </a:spcAft>
              <a:buNone/>
            </a:pPr>
            <a:r>
              <a:rPr lang="en"/>
              <a:t>List&lt;Object&gt;</a:t>
            </a:r>
            <a:endParaRPr/>
          </a:p>
        </p:txBody>
      </p:sp>
      <p:sp>
        <p:nvSpPr>
          <p:cNvPr id="204" name="Google Shape;204;p23"/>
          <p:cNvSpPr/>
          <p:nvPr/>
        </p:nvSpPr>
        <p:spPr>
          <a:xfrm>
            <a:off x="4662875" y="1907913"/>
            <a:ext cx="1692900" cy="6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Local</a:t>
            </a:r>
            <a:endParaRPr/>
          </a:p>
        </p:txBody>
      </p:sp>
      <p:sp>
        <p:nvSpPr>
          <p:cNvPr id="205" name="Google Shape;205;p23"/>
          <p:cNvSpPr/>
          <p:nvPr/>
        </p:nvSpPr>
        <p:spPr>
          <a:xfrm>
            <a:off x="7040650" y="1907913"/>
            <a:ext cx="1692900" cy="6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Remote</a:t>
            </a:r>
            <a:endParaRPr/>
          </a:p>
        </p:txBody>
      </p:sp>
      <p:sp>
        <p:nvSpPr>
          <p:cNvPr id="206" name="Google Shape;206;p23"/>
          <p:cNvSpPr/>
          <p:nvPr/>
        </p:nvSpPr>
        <p:spPr>
          <a:xfrm>
            <a:off x="3880100" y="525050"/>
            <a:ext cx="2016900" cy="37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Resource</a:t>
            </a:r>
            <a:endParaRPr/>
          </a:p>
        </p:txBody>
      </p:sp>
      <p:sp>
        <p:nvSpPr>
          <p:cNvPr id="207" name="Google Shape;207;p23"/>
          <p:cNvSpPr/>
          <p:nvPr/>
        </p:nvSpPr>
        <p:spPr>
          <a:xfrm>
            <a:off x="3880100" y="994375"/>
            <a:ext cx="2016900" cy="37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Local DB</a:t>
            </a:r>
            <a:endParaRPr/>
          </a:p>
        </p:txBody>
      </p:sp>
      <p:sp>
        <p:nvSpPr>
          <p:cNvPr id="208" name="Google Shape;208;p23"/>
          <p:cNvSpPr/>
          <p:nvPr/>
        </p:nvSpPr>
        <p:spPr>
          <a:xfrm>
            <a:off x="3880100" y="1463700"/>
            <a:ext cx="2016900" cy="37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Shared preferences</a:t>
            </a:r>
            <a:endParaRPr/>
          </a:p>
        </p:txBody>
      </p:sp>
      <p:sp>
        <p:nvSpPr>
          <p:cNvPr id="209" name="Google Shape;209;p23"/>
          <p:cNvSpPr/>
          <p:nvPr/>
        </p:nvSpPr>
        <p:spPr>
          <a:xfrm>
            <a:off x="7040650" y="602988"/>
            <a:ext cx="1692900" cy="6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Rest API</a:t>
            </a:r>
            <a:endParaRPr/>
          </a:p>
        </p:txBody>
      </p:sp>
      <p:cxnSp>
        <p:nvCxnSpPr>
          <p:cNvPr id="210" name="Google Shape;210;p23"/>
          <p:cNvCxnSpPr/>
          <p:nvPr/>
        </p:nvCxnSpPr>
        <p:spPr>
          <a:xfrm>
            <a:off x="3688050" y="2691850"/>
            <a:ext cx="5482800" cy="7200"/>
          </a:xfrm>
          <a:prstGeom prst="straightConnector1">
            <a:avLst/>
          </a:prstGeom>
          <a:noFill/>
          <a:ln cap="flat" cmpd="sng" w="9525">
            <a:solidFill>
              <a:schemeClr val="dk2"/>
            </a:solidFill>
            <a:prstDash val="solid"/>
            <a:round/>
            <a:headEnd len="med" w="med" type="none"/>
            <a:tailEnd len="med" w="med" type="none"/>
          </a:ln>
        </p:spPr>
      </p:cxnSp>
      <p:sp>
        <p:nvSpPr>
          <p:cNvPr id="211" name="Google Shape;211;p23"/>
          <p:cNvSpPr txBox="1"/>
          <p:nvPr/>
        </p:nvSpPr>
        <p:spPr>
          <a:xfrm>
            <a:off x="4535875" y="15725"/>
            <a:ext cx="4069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Data Source</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215" name="Shape 215"/>
        <p:cNvGrpSpPr/>
        <p:nvPr/>
      </p:nvGrpSpPr>
      <p:grpSpPr>
        <a:xfrm>
          <a:off x="0" y="0"/>
          <a:ext cx="0" cy="0"/>
          <a:chOff x="0" y="0"/>
          <a:chExt cx="0" cy="0"/>
        </a:xfrm>
      </p:grpSpPr>
      <p:sp>
        <p:nvSpPr>
          <p:cNvPr id="216" name="Google Shape;21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Data Source - Code Base</a:t>
            </a:r>
            <a:endParaRPr>
              <a:solidFill>
                <a:schemeClr val="lt1"/>
              </a:solidFill>
            </a:endParaRPr>
          </a:p>
        </p:txBody>
      </p:sp>
      <p:sp>
        <p:nvSpPr>
          <p:cNvPr id="217" name="Google Shape;217;p2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simpleListView </a:t>
            </a:r>
            <a:r>
              <a:rPr lang="en" sz="1000">
                <a:solidFill>
                  <a:srgbClr val="A9B7C6"/>
                </a:solidFill>
                <a:highlight>
                  <a:srgbClr val="2B2B2B"/>
                </a:highlight>
                <a:latin typeface="Courier New"/>
                <a:ea typeface="Courier New"/>
                <a:cs typeface="Courier New"/>
                <a:sym typeface="Courier New"/>
              </a:rPr>
              <a:t>= </a:t>
            </a:r>
            <a:r>
              <a:rPr lang="en" sz="1000">
                <a:solidFill>
                  <a:srgbClr val="9876AA"/>
                </a:solidFill>
                <a:highlight>
                  <a:srgbClr val="2B2B2B"/>
                </a:highlight>
                <a:latin typeface="Courier New"/>
                <a:ea typeface="Courier New"/>
                <a:cs typeface="Courier New"/>
                <a:sym typeface="Courier New"/>
              </a:rPr>
              <a:t>activityListViewBinding</a:t>
            </a:r>
            <a:r>
              <a:rPr lang="en" sz="1000">
                <a:solidFill>
                  <a:srgbClr val="A9B7C6"/>
                </a:solidFill>
                <a:highlight>
                  <a:srgbClr val="2B2B2B"/>
                </a:highlight>
                <a:latin typeface="Courier New"/>
                <a:ea typeface="Courier New"/>
                <a:cs typeface="Courier New"/>
                <a:sym typeface="Courier New"/>
              </a:rPr>
              <a:t>.</a:t>
            </a:r>
            <a:r>
              <a:rPr lang="en" sz="1000">
                <a:solidFill>
                  <a:srgbClr val="9876AA"/>
                </a:solidFill>
                <a:highlight>
                  <a:srgbClr val="2B2B2B"/>
                </a:highlight>
                <a:latin typeface="Courier New"/>
                <a:ea typeface="Courier New"/>
                <a:cs typeface="Courier New"/>
                <a:sym typeface="Courier New"/>
              </a:rPr>
              <a:t>simpleListView</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simpleListArrayList </a:t>
            </a: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new </a:t>
            </a:r>
            <a:r>
              <a:rPr lang="en" sz="1000">
                <a:solidFill>
                  <a:srgbClr val="A9B7C6"/>
                </a:solidFill>
                <a:highlight>
                  <a:srgbClr val="2B2B2B"/>
                </a:highlight>
                <a:latin typeface="Courier New"/>
                <a:ea typeface="Courier New"/>
                <a:cs typeface="Courier New"/>
                <a:sym typeface="Courier New"/>
              </a:rPr>
              <a:t>ArrayList&lt;String&gt;()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simpleListArrayList</a:t>
            </a:r>
            <a:r>
              <a:rPr lang="en" sz="1000">
                <a:solidFill>
                  <a:srgbClr val="A9B7C6"/>
                </a:solidFill>
                <a:highlight>
                  <a:srgbClr val="2B2B2B"/>
                </a:highlight>
                <a:latin typeface="Courier New"/>
                <a:ea typeface="Courier New"/>
                <a:cs typeface="Courier New"/>
                <a:sym typeface="Courier New"/>
              </a:rPr>
              <a:t>.add(</a:t>
            </a:r>
            <a:r>
              <a:rPr lang="en" sz="1000">
                <a:solidFill>
                  <a:srgbClr val="6A8759"/>
                </a:solidFill>
                <a:highlight>
                  <a:srgbClr val="2B2B2B"/>
                </a:highlight>
                <a:latin typeface="Courier New"/>
                <a:ea typeface="Courier New"/>
                <a:cs typeface="Courier New"/>
                <a:sym typeface="Courier New"/>
              </a:rPr>
              <a:t>"Mercury"</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simpleListArrayList</a:t>
            </a:r>
            <a:r>
              <a:rPr lang="en" sz="1000">
                <a:solidFill>
                  <a:srgbClr val="A9B7C6"/>
                </a:solidFill>
                <a:highlight>
                  <a:srgbClr val="2B2B2B"/>
                </a:highlight>
                <a:latin typeface="Courier New"/>
                <a:ea typeface="Courier New"/>
                <a:cs typeface="Courier New"/>
                <a:sym typeface="Courier New"/>
              </a:rPr>
              <a:t>.add(</a:t>
            </a:r>
            <a:r>
              <a:rPr lang="en" sz="1000">
                <a:solidFill>
                  <a:srgbClr val="6A8759"/>
                </a:solidFill>
                <a:highlight>
                  <a:srgbClr val="2B2B2B"/>
                </a:highlight>
                <a:latin typeface="Courier New"/>
                <a:ea typeface="Courier New"/>
                <a:cs typeface="Courier New"/>
                <a:sym typeface="Courier New"/>
              </a:rPr>
              <a:t>"Venus"</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simpleListArrayList</a:t>
            </a:r>
            <a:r>
              <a:rPr lang="en" sz="1000">
                <a:solidFill>
                  <a:srgbClr val="A9B7C6"/>
                </a:solidFill>
                <a:highlight>
                  <a:srgbClr val="2B2B2B"/>
                </a:highlight>
                <a:latin typeface="Courier New"/>
                <a:ea typeface="Courier New"/>
                <a:cs typeface="Courier New"/>
                <a:sym typeface="Courier New"/>
              </a:rPr>
              <a:t>.add(</a:t>
            </a:r>
            <a:r>
              <a:rPr lang="en" sz="1000">
                <a:solidFill>
                  <a:srgbClr val="6A8759"/>
                </a:solidFill>
                <a:highlight>
                  <a:srgbClr val="2B2B2B"/>
                </a:highlight>
                <a:latin typeface="Courier New"/>
                <a:ea typeface="Courier New"/>
                <a:cs typeface="Courier New"/>
                <a:sym typeface="Courier New"/>
              </a:rPr>
              <a:t>"Earth"</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simpleListArrayList</a:t>
            </a:r>
            <a:r>
              <a:rPr lang="en" sz="1000">
                <a:solidFill>
                  <a:srgbClr val="A9B7C6"/>
                </a:solidFill>
                <a:highlight>
                  <a:srgbClr val="2B2B2B"/>
                </a:highlight>
                <a:latin typeface="Courier New"/>
                <a:ea typeface="Courier New"/>
                <a:cs typeface="Courier New"/>
                <a:sym typeface="Courier New"/>
              </a:rPr>
              <a:t>.add(</a:t>
            </a:r>
            <a:r>
              <a:rPr lang="en" sz="1000">
                <a:solidFill>
                  <a:srgbClr val="6A8759"/>
                </a:solidFill>
                <a:highlight>
                  <a:srgbClr val="2B2B2B"/>
                </a:highlight>
                <a:latin typeface="Courier New"/>
                <a:ea typeface="Courier New"/>
                <a:cs typeface="Courier New"/>
                <a:sym typeface="Courier New"/>
              </a:rPr>
              <a:t>"Mars"</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simpleListAdapter </a:t>
            </a: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new </a:t>
            </a:r>
            <a:r>
              <a:rPr lang="en" sz="1000">
                <a:solidFill>
                  <a:srgbClr val="A9B7C6"/>
                </a:solidFill>
                <a:highlight>
                  <a:srgbClr val="2B2B2B"/>
                </a:highlight>
                <a:latin typeface="Courier New"/>
                <a:ea typeface="Courier New"/>
                <a:cs typeface="Courier New"/>
                <a:sym typeface="Courier New"/>
              </a:rPr>
              <a:t>ArrayAdapter&lt;String&gt;(</a:t>
            </a:r>
            <a:r>
              <a:rPr lang="en" sz="1000">
                <a:solidFill>
                  <a:srgbClr val="CC7832"/>
                </a:solidFill>
                <a:highlight>
                  <a:srgbClr val="2B2B2B"/>
                </a:highlight>
                <a:latin typeface="Courier New"/>
                <a:ea typeface="Courier New"/>
                <a:cs typeface="Courier New"/>
                <a:sym typeface="Courier New"/>
              </a:rPr>
              <a:t>this, </a:t>
            </a:r>
            <a:r>
              <a:rPr lang="en" sz="1000">
                <a:solidFill>
                  <a:srgbClr val="A9B7C6"/>
                </a:solidFill>
                <a:highlight>
                  <a:srgbClr val="2B2B2B"/>
                </a:highlight>
                <a:latin typeface="Courier New"/>
                <a:ea typeface="Courier New"/>
                <a:cs typeface="Courier New"/>
                <a:sym typeface="Courier New"/>
              </a:rPr>
              <a:t>android.R.layout.</a:t>
            </a:r>
            <a:r>
              <a:rPr i="1" lang="en" sz="1000">
                <a:solidFill>
                  <a:srgbClr val="9876AA"/>
                </a:solidFill>
                <a:highlight>
                  <a:srgbClr val="2B2B2B"/>
                </a:highlight>
                <a:latin typeface="Courier New"/>
                <a:ea typeface="Courier New"/>
                <a:cs typeface="Courier New"/>
                <a:sym typeface="Courier New"/>
              </a:rPr>
              <a:t>simple_list_item_1</a:t>
            </a:r>
            <a:r>
              <a:rPr lang="en" sz="1000">
                <a:solidFill>
                  <a:srgbClr val="CC7832"/>
                </a:solidFill>
                <a:highlight>
                  <a:srgbClr val="2B2B2B"/>
                </a:highlight>
                <a:latin typeface="Courier New"/>
                <a:ea typeface="Courier New"/>
                <a:cs typeface="Courier New"/>
                <a:sym typeface="Courier New"/>
              </a:rPr>
              <a:t>, </a:t>
            </a:r>
            <a:r>
              <a:rPr lang="en" sz="1000">
                <a:solidFill>
                  <a:srgbClr val="9876AA"/>
                </a:solidFill>
                <a:highlight>
                  <a:srgbClr val="2B2B2B"/>
                </a:highlight>
                <a:latin typeface="Courier New"/>
                <a:ea typeface="Courier New"/>
                <a:cs typeface="Courier New"/>
                <a:sym typeface="Courier New"/>
              </a:rPr>
              <a:t>simpleListArrayList</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000">
                <a:solidFill>
                  <a:srgbClr val="9876AA"/>
                </a:solidFill>
                <a:highlight>
                  <a:srgbClr val="2B2B2B"/>
                </a:highlight>
                <a:latin typeface="Courier New"/>
                <a:ea typeface="Courier New"/>
                <a:cs typeface="Courier New"/>
                <a:sym typeface="Courier New"/>
              </a:rPr>
              <a:t>simpleListView</a:t>
            </a:r>
            <a:r>
              <a:rPr lang="en" sz="1000">
                <a:solidFill>
                  <a:srgbClr val="A9B7C6"/>
                </a:solidFill>
                <a:highlight>
                  <a:srgbClr val="2B2B2B"/>
                </a:highlight>
                <a:latin typeface="Courier New"/>
                <a:ea typeface="Courier New"/>
                <a:cs typeface="Courier New"/>
                <a:sym typeface="Courier New"/>
              </a:rPr>
              <a:t>.setAdapter(</a:t>
            </a:r>
            <a:r>
              <a:rPr lang="en" sz="1000">
                <a:solidFill>
                  <a:srgbClr val="9876AA"/>
                </a:solidFill>
                <a:highlight>
                  <a:srgbClr val="2B2B2B"/>
                </a:highlight>
                <a:latin typeface="Courier New"/>
                <a:ea typeface="Courier New"/>
                <a:cs typeface="Courier New"/>
                <a:sym typeface="Courier New"/>
              </a:rPr>
              <a:t>simpleListAdapter</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000">
              <a:solidFill>
                <a:srgbClr val="E8BF6A"/>
              </a:solidFill>
              <a:highlight>
                <a:srgbClr val="2B2B2B"/>
              </a:highlight>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221" name="Shape 221"/>
        <p:cNvGrpSpPr/>
        <p:nvPr/>
      </p:nvGrpSpPr>
      <p:grpSpPr>
        <a:xfrm>
          <a:off x="0" y="0"/>
          <a:ext cx="0" cy="0"/>
          <a:chOff x="0" y="0"/>
          <a:chExt cx="0" cy="0"/>
        </a:xfrm>
      </p:grpSpPr>
      <p:sp>
        <p:nvSpPr>
          <p:cNvPr id="222" name="Google Shape;22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Local Data Source - Resources</a:t>
            </a:r>
            <a:endParaRPr>
              <a:solidFill>
                <a:schemeClr val="lt1"/>
              </a:solidFill>
            </a:endParaRPr>
          </a:p>
        </p:txBody>
      </p:sp>
      <p:sp>
        <p:nvSpPr>
          <p:cNvPr id="223" name="Google Shape;223;p2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000">
                <a:solidFill>
                  <a:srgbClr val="E8BF6A"/>
                </a:solidFill>
                <a:highlight>
                  <a:srgbClr val="2B2B2B"/>
                </a:highlight>
                <a:latin typeface="Courier New"/>
                <a:ea typeface="Courier New"/>
                <a:cs typeface="Courier New"/>
                <a:sym typeface="Courier New"/>
              </a:rPr>
              <a:t>&lt;string-array </a:t>
            </a:r>
            <a:r>
              <a:rPr lang="en" sz="1000">
                <a:solidFill>
                  <a:srgbClr val="BABABA"/>
                </a:solidFill>
                <a:highlight>
                  <a:srgbClr val="2B2B2B"/>
                </a:highlight>
                <a:latin typeface="Courier New"/>
                <a:ea typeface="Courier New"/>
                <a:cs typeface="Courier New"/>
                <a:sym typeface="Courier New"/>
              </a:rPr>
              <a:t>name</a:t>
            </a:r>
            <a:r>
              <a:rPr lang="en" sz="1000">
                <a:solidFill>
                  <a:srgbClr val="6A8759"/>
                </a:solidFill>
                <a:highlight>
                  <a:srgbClr val="2B2B2B"/>
                </a:highlight>
                <a:latin typeface="Courier New"/>
                <a:ea typeface="Courier New"/>
                <a:cs typeface="Courier New"/>
                <a:sym typeface="Courier New"/>
              </a:rPr>
              <a:t>="planets_array"</a:t>
            </a:r>
            <a:r>
              <a:rPr lang="en" sz="1000">
                <a:solidFill>
                  <a:srgbClr val="E8BF6A"/>
                </a:solidFill>
                <a:highlight>
                  <a:srgbClr val="2B2B2B"/>
                </a:highlight>
                <a:latin typeface="Courier New"/>
                <a:ea typeface="Courier New"/>
                <a:cs typeface="Courier New"/>
                <a:sym typeface="Courier New"/>
              </a:rPr>
              <a:t>&gt;</a:t>
            </a:r>
            <a:br>
              <a:rPr lang="en" sz="1000">
                <a:solidFill>
                  <a:srgbClr val="E8BF6A"/>
                </a:solidFill>
                <a:highlight>
                  <a:srgbClr val="2B2B2B"/>
                </a:highlight>
                <a:latin typeface="Courier New"/>
                <a:ea typeface="Courier New"/>
                <a:cs typeface="Courier New"/>
                <a:sym typeface="Courier New"/>
              </a:rPr>
            </a:br>
            <a:r>
              <a:rPr lang="en" sz="1000">
                <a:solidFill>
                  <a:srgbClr val="E8BF6A"/>
                </a:solidFill>
                <a:highlight>
                  <a:srgbClr val="2B2B2B"/>
                </a:highlight>
                <a:latin typeface="Courier New"/>
                <a:ea typeface="Courier New"/>
                <a:cs typeface="Courier New"/>
                <a:sym typeface="Courier New"/>
              </a:rPr>
              <a:t>   &lt;item&gt;</a:t>
            </a:r>
            <a:r>
              <a:rPr lang="en" sz="1000">
                <a:solidFill>
                  <a:srgbClr val="A9B7C6"/>
                </a:solidFill>
                <a:highlight>
                  <a:srgbClr val="2B2B2B"/>
                </a:highlight>
                <a:latin typeface="Courier New"/>
                <a:ea typeface="Courier New"/>
                <a:cs typeface="Courier New"/>
                <a:sym typeface="Courier New"/>
              </a:rPr>
              <a:t>Mercury</a:t>
            </a:r>
            <a:r>
              <a:rPr lang="en" sz="1000">
                <a:solidFill>
                  <a:srgbClr val="E8BF6A"/>
                </a:solidFill>
                <a:highlight>
                  <a:srgbClr val="2B2B2B"/>
                </a:highlight>
                <a:latin typeface="Courier New"/>
                <a:ea typeface="Courier New"/>
                <a:cs typeface="Courier New"/>
                <a:sym typeface="Courier New"/>
              </a:rPr>
              <a:t>&lt;/item&gt;</a:t>
            </a:r>
            <a:br>
              <a:rPr lang="en" sz="1000">
                <a:solidFill>
                  <a:srgbClr val="E8BF6A"/>
                </a:solidFill>
                <a:highlight>
                  <a:srgbClr val="2B2B2B"/>
                </a:highlight>
                <a:latin typeface="Courier New"/>
                <a:ea typeface="Courier New"/>
                <a:cs typeface="Courier New"/>
                <a:sym typeface="Courier New"/>
              </a:rPr>
            </a:br>
            <a:r>
              <a:rPr lang="en" sz="1000">
                <a:solidFill>
                  <a:srgbClr val="E8BF6A"/>
                </a:solidFill>
                <a:highlight>
                  <a:srgbClr val="2B2B2B"/>
                </a:highlight>
                <a:latin typeface="Courier New"/>
                <a:ea typeface="Courier New"/>
                <a:cs typeface="Courier New"/>
                <a:sym typeface="Courier New"/>
              </a:rPr>
              <a:t>   &lt;item&gt;</a:t>
            </a:r>
            <a:r>
              <a:rPr lang="en" sz="1000">
                <a:solidFill>
                  <a:srgbClr val="A9B7C6"/>
                </a:solidFill>
                <a:highlight>
                  <a:srgbClr val="2B2B2B"/>
                </a:highlight>
                <a:latin typeface="Courier New"/>
                <a:ea typeface="Courier New"/>
                <a:cs typeface="Courier New"/>
                <a:sym typeface="Courier New"/>
              </a:rPr>
              <a:t>Venus</a:t>
            </a:r>
            <a:r>
              <a:rPr lang="en" sz="1000">
                <a:solidFill>
                  <a:srgbClr val="E8BF6A"/>
                </a:solidFill>
                <a:highlight>
                  <a:srgbClr val="2B2B2B"/>
                </a:highlight>
                <a:latin typeface="Courier New"/>
                <a:ea typeface="Courier New"/>
                <a:cs typeface="Courier New"/>
                <a:sym typeface="Courier New"/>
              </a:rPr>
              <a:t>&lt;/item&gt;</a:t>
            </a:r>
            <a:br>
              <a:rPr lang="en" sz="1000">
                <a:solidFill>
                  <a:srgbClr val="E8BF6A"/>
                </a:solidFill>
                <a:highlight>
                  <a:srgbClr val="2B2B2B"/>
                </a:highlight>
                <a:latin typeface="Courier New"/>
                <a:ea typeface="Courier New"/>
                <a:cs typeface="Courier New"/>
                <a:sym typeface="Courier New"/>
              </a:rPr>
            </a:br>
            <a:r>
              <a:rPr lang="en" sz="1000">
                <a:solidFill>
                  <a:srgbClr val="E8BF6A"/>
                </a:solidFill>
                <a:highlight>
                  <a:srgbClr val="2B2B2B"/>
                </a:highlight>
                <a:latin typeface="Courier New"/>
                <a:ea typeface="Courier New"/>
                <a:cs typeface="Courier New"/>
                <a:sym typeface="Courier New"/>
              </a:rPr>
              <a:t>   &lt;item&gt;</a:t>
            </a:r>
            <a:r>
              <a:rPr lang="en" sz="1000">
                <a:solidFill>
                  <a:srgbClr val="A9B7C6"/>
                </a:solidFill>
                <a:highlight>
                  <a:srgbClr val="2B2B2B"/>
                </a:highlight>
                <a:latin typeface="Courier New"/>
                <a:ea typeface="Courier New"/>
                <a:cs typeface="Courier New"/>
                <a:sym typeface="Courier New"/>
              </a:rPr>
              <a:t>Earth</a:t>
            </a:r>
            <a:r>
              <a:rPr lang="en" sz="1000">
                <a:solidFill>
                  <a:srgbClr val="E8BF6A"/>
                </a:solidFill>
                <a:highlight>
                  <a:srgbClr val="2B2B2B"/>
                </a:highlight>
                <a:latin typeface="Courier New"/>
                <a:ea typeface="Courier New"/>
                <a:cs typeface="Courier New"/>
                <a:sym typeface="Courier New"/>
              </a:rPr>
              <a:t>&lt;/item&gt;</a:t>
            </a:r>
            <a:br>
              <a:rPr lang="en" sz="1000">
                <a:solidFill>
                  <a:srgbClr val="E8BF6A"/>
                </a:solidFill>
                <a:highlight>
                  <a:srgbClr val="2B2B2B"/>
                </a:highlight>
                <a:latin typeface="Courier New"/>
                <a:ea typeface="Courier New"/>
                <a:cs typeface="Courier New"/>
                <a:sym typeface="Courier New"/>
              </a:rPr>
            </a:br>
            <a:r>
              <a:rPr lang="en" sz="1000">
                <a:solidFill>
                  <a:srgbClr val="E8BF6A"/>
                </a:solidFill>
                <a:highlight>
                  <a:srgbClr val="2B2B2B"/>
                </a:highlight>
                <a:latin typeface="Courier New"/>
                <a:ea typeface="Courier New"/>
                <a:cs typeface="Courier New"/>
                <a:sym typeface="Courier New"/>
              </a:rPr>
              <a:t>   &lt;item&gt;</a:t>
            </a:r>
            <a:r>
              <a:rPr lang="en" sz="1000">
                <a:solidFill>
                  <a:srgbClr val="A9B7C6"/>
                </a:solidFill>
                <a:highlight>
                  <a:srgbClr val="2B2B2B"/>
                </a:highlight>
                <a:latin typeface="Courier New"/>
                <a:ea typeface="Courier New"/>
                <a:cs typeface="Courier New"/>
                <a:sym typeface="Courier New"/>
              </a:rPr>
              <a:t>Mars</a:t>
            </a:r>
            <a:r>
              <a:rPr lang="en" sz="1000">
                <a:solidFill>
                  <a:srgbClr val="E8BF6A"/>
                </a:solidFill>
                <a:highlight>
                  <a:srgbClr val="2B2B2B"/>
                </a:highlight>
                <a:latin typeface="Courier New"/>
                <a:ea typeface="Courier New"/>
                <a:cs typeface="Courier New"/>
                <a:sym typeface="Courier New"/>
              </a:rPr>
              <a:t>&lt;/item&gt;</a:t>
            </a:r>
            <a:br>
              <a:rPr lang="en" sz="1000">
                <a:solidFill>
                  <a:srgbClr val="E8BF6A"/>
                </a:solidFill>
                <a:highlight>
                  <a:srgbClr val="2B2B2B"/>
                </a:highlight>
                <a:latin typeface="Courier New"/>
                <a:ea typeface="Courier New"/>
                <a:cs typeface="Courier New"/>
                <a:sym typeface="Courier New"/>
              </a:rPr>
            </a:br>
            <a:r>
              <a:rPr lang="en" sz="1000">
                <a:solidFill>
                  <a:srgbClr val="E8BF6A"/>
                </a:solidFill>
                <a:highlight>
                  <a:srgbClr val="2B2B2B"/>
                </a:highlight>
                <a:latin typeface="Courier New"/>
                <a:ea typeface="Courier New"/>
                <a:cs typeface="Courier New"/>
                <a:sym typeface="Courier New"/>
              </a:rPr>
              <a:t>&lt;/string-array&gt;</a:t>
            </a:r>
            <a:endParaRPr sz="1000">
              <a:solidFill>
                <a:srgbClr val="E8BF6A"/>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br>
              <a:rPr lang="en" sz="10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Resources res = getResources()</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String[] planets = res.getStringArray(R.array.</a:t>
            </a:r>
            <a:r>
              <a:rPr i="1" lang="en" sz="1000">
                <a:solidFill>
                  <a:srgbClr val="9876AA"/>
                </a:solidFill>
                <a:highlight>
                  <a:srgbClr val="2B2B2B"/>
                </a:highlight>
                <a:latin typeface="Courier New"/>
                <a:ea typeface="Courier New"/>
                <a:cs typeface="Courier New"/>
                <a:sym typeface="Courier New"/>
              </a:rPr>
              <a:t>planets_array</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t/>
            </a:r>
            <a:endParaRPr sz="1000">
              <a:solidFill>
                <a:srgbClr val="E8BF6A"/>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300">
              <a:solidFill>
                <a:srgbClr val="A9B7C6"/>
              </a:solidFill>
              <a:highlight>
                <a:srgbClr val="2B2B2B"/>
              </a:highlight>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Shared Preferences</a:t>
            </a:r>
            <a:endParaRPr/>
          </a:p>
        </p:txBody>
      </p:sp>
      <p:sp>
        <p:nvSpPr>
          <p:cNvPr id="229" name="Google Shape;229;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solidFill>
                  <a:schemeClr val="hlink"/>
                </a:solidFill>
                <a:hlinkClick r:id="rId3"/>
              </a:rPr>
              <a:t>SharedPreferences | Android Developers</a:t>
            </a: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Shared Preferences</a:t>
            </a:r>
            <a:endParaRPr/>
          </a:p>
        </p:txBody>
      </p:sp>
      <p:sp>
        <p:nvSpPr>
          <p:cNvPr id="235" name="Google Shape;23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SharedPreferences object points to a file containing key-value pairs and provides simple methods to read and write them.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239" name="Shape 239"/>
        <p:cNvGrpSpPr/>
        <p:nvPr/>
      </p:nvGrpSpPr>
      <p:grpSpPr>
        <a:xfrm>
          <a:off x="0" y="0"/>
          <a:ext cx="0" cy="0"/>
          <a:chOff x="0" y="0"/>
          <a:chExt cx="0" cy="0"/>
        </a:xfrm>
      </p:grpSpPr>
      <p:sp>
        <p:nvSpPr>
          <p:cNvPr id="240" name="Google Shape;24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Shared Preferences</a:t>
            </a:r>
            <a:endParaRPr>
              <a:solidFill>
                <a:schemeClr val="lt1"/>
              </a:solidFill>
            </a:endParaRPr>
          </a:p>
        </p:txBody>
      </p:sp>
      <p:sp>
        <p:nvSpPr>
          <p:cNvPr id="241" name="Google Shape;241;p28"/>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A9B7C6"/>
                </a:solidFill>
                <a:highlight>
                  <a:srgbClr val="2B2B2B"/>
                </a:highlight>
              </a:rPr>
              <a:t>Write Data </a:t>
            </a:r>
            <a:endParaRPr>
              <a:solidFill>
                <a:srgbClr val="A9B7C6"/>
              </a:solidFill>
              <a:highlight>
                <a:srgbClr val="2B2B2B"/>
              </a:highlight>
            </a:endParaRPr>
          </a:p>
          <a:p>
            <a:pPr indent="0" lvl="0" marL="0" rtl="0" algn="l">
              <a:spcBef>
                <a:spcPts val="1200"/>
              </a:spcBef>
              <a:spcAft>
                <a:spcPts val="0"/>
              </a:spcAft>
              <a:buNone/>
            </a:pPr>
            <a:r>
              <a:rPr lang="en" sz="1000">
                <a:solidFill>
                  <a:srgbClr val="A9B7C6"/>
                </a:solidFill>
                <a:highlight>
                  <a:srgbClr val="2B2B2B"/>
                </a:highlight>
                <a:latin typeface="Courier New"/>
                <a:ea typeface="Courier New"/>
                <a:cs typeface="Courier New"/>
                <a:sym typeface="Courier New"/>
              </a:rPr>
              <a:t>String CONST_DATA = </a:t>
            </a:r>
            <a:r>
              <a:rPr lang="en" sz="1000">
                <a:solidFill>
                  <a:srgbClr val="6A8759"/>
                </a:solidFill>
                <a:highlight>
                  <a:srgbClr val="2B2B2B"/>
                </a:highlight>
                <a:latin typeface="Courier New"/>
                <a:ea typeface="Courier New"/>
                <a:cs typeface="Courier New"/>
                <a:sym typeface="Courier New"/>
              </a:rPr>
              <a:t>"LANGUAGE"</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SharedPreferences preferences = </a:t>
            </a:r>
            <a:r>
              <a:rPr lang="en" sz="1000">
                <a:solidFill>
                  <a:srgbClr val="CC7832"/>
                </a:solidFill>
                <a:highlight>
                  <a:srgbClr val="2B2B2B"/>
                </a:highlight>
                <a:latin typeface="Courier New"/>
                <a:ea typeface="Courier New"/>
                <a:cs typeface="Courier New"/>
                <a:sym typeface="Courier New"/>
              </a:rPr>
              <a:t>this</a:t>
            </a:r>
            <a:r>
              <a:rPr lang="en" sz="1000">
                <a:solidFill>
                  <a:srgbClr val="A9B7C6"/>
                </a:solidFill>
                <a:highlight>
                  <a:srgbClr val="2B2B2B"/>
                </a:highlight>
                <a:latin typeface="Courier New"/>
                <a:ea typeface="Courier New"/>
                <a:cs typeface="Courier New"/>
                <a:sym typeface="Courier New"/>
              </a:rPr>
              <a:t>.getSharedPreferences(CONST_DATA</a:t>
            </a: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Context.</a:t>
            </a:r>
            <a:r>
              <a:rPr i="1" lang="en" sz="1000">
                <a:solidFill>
                  <a:srgbClr val="9876AA"/>
                </a:solidFill>
                <a:highlight>
                  <a:srgbClr val="2B2B2B"/>
                </a:highlight>
                <a:latin typeface="Courier New"/>
                <a:ea typeface="Courier New"/>
                <a:cs typeface="Courier New"/>
                <a:sym typeface="Courier New"/>
              </a:rPr>
              <a:t>MODE_PRIVATE</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SharedPreferences.Editor editor = preferences.edit()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editor.putString(CONST_DATA</a:t>
            </a:r>
            <a:r>
              <a:rPr lang="en" sz="1000">
                <a:solidFill>
                  <a:srgbClr val="CC7832"/>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String.</a:t>
            </a:r>
            <a:r>
              <a:rPr i="1" lang="en" sz="1000">
                <a:solidFill>
                  <a:srgbClr val="A9B7C6"/>
                </a:solidFill>
                <a:highlight>
                  <a:srgbClr val="2B2B2B"/>
                </a:highlight>
                <a:latin typeface="Courier New"/>
                <a:ea typeface="Courier New"/>
                <a:cs typeface="Courier New"/>
                <a:sym typeface="Courier New"/>
              </a:rPr>
              <a:t>valueOf</a:t>
            </a:r>
            <a:r>
              <a:rPr lang="en" sz="1000">
                <a:solidFill>
                  <a:srgbClr val="A9B7C6"/>
                </a:solidFill>
                <a:highlight>
                  <a:srgbClr val="2B2B2B"/>
                </a:highlight>
                <a:latin typeface="Courier New"/>
                <a:ea typeface="Courier New"/>
                <a:cs typeface="Courier New"/>
                <a:sym typeface="Courier New"/>
              </a:rPr>
              <a:t>(data))</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editor.apply()</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None/>
            </a:pPr>
            <a:r>
              <a:t/>
            </a:r>
            <a:endParaRPr>
              <a:solidFill>
                <a:srgbClr val="A9B7C6"/>
              </a:solidFill>
              <a:highlight>
                <a:srgbClr val="2B2B2B"/>
              </a:highlight>
            </a:endParaRPr>
          </a:p>
          <a:p>
            <a:pPr indent="0" lvl="0" marL="0" rtl="0" algn="l">
              <a:spcBef>
                <a:spcPts val="1200"/>
              </a:spcBef>
              <a:spcAft>
                <a:spcPts val="0"/>
              </a:spcAft>
              <a:buClr>
                <a:schemeClr val="dk1"/>
              </a:buClr>
              <a:buSzPts val="1100"/>
              <a:buFont typeface="Arial"/>
              <a:buNone/>
            </a:pPr>
            <a:r>
              <a:rPr lang="en">
                <a:solidFill>
                  <a:srgbClr val="A9B7C6"/>
                </a:solidFill>
                <a:highlight>
                  <a:srgbClr val="2B2B2B"/>
                </a:highlight>
              </a:rPr>
              <a:t>Read</a:t>
            </a:r>
            <a:r>
              <a:rPr lang="en">
                <a:solidFill>
                  <a:srgbClr val="A9B7C6"/>
                </a:solidFill>
                <a:highlight>
                  <a:srgbClr val="2B2B2B"/>
                </a:highlight>
              </a:rPr>
              <a:t> Data </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rPr lang="en" sz="1000">
                <a:solidFill>
                  <a:srgbClr val="A9B7C6"/>
                </a:solidFill>
                <a:highlight>
                  <a:srgbClr val="2B2B2B"/>
                </a:highlight>
                <a:latin typeface="Courier New"/>
                <a:ea typeface="Courier New"/>
                <a:cs typeface="Courier New"/>
                <a:sym typeface="Courier New"/>
              </a:rPr>
              <a:t>String CONST_DATA = </a:t>
            </a:r>
            <a:r>
              <a:rPr lang="en" sz="1000">
                <a:solidFill>
                  <a:srgbClr val="6A8759"/>
                </a:solidFill>
                <a:highlight>
                  <a:srgbClr val="2B2B2B"/>
                </a:highlight>
                <a:latin typeface="Courier New"/>
                <a:ea typeface="Courier New"/>
                <a:cs typeface="Courier New"/>
                <a:sym typeface="Courier New"/>
              </a:rPr>
              <a:t>"</a:t>
            </a:r>
            <a:r>
              <a:rPr lang="en" sz="1000">
                <a:solidFill>
                  <a:srgbClr val="6A8759"/>
                </a:solidFill>
                <a:highlight>
                  <a:srgbClr val="2B2B2B"/>
                </a:highlight>
                <a:latin typeface="Courier New"/>
                <a:ea typeface="Courier New"/>
                <a:cs typeface="Courier New"/>
                <a:sym typeface="Courier New"/>
              </a:rPr>
              <a:t>LANGUAGE</a:t>
            </a:r>
            <a:r>
              <a:rPr lang="en" sz="1000">
                <a:solidFill>
                  <a:srgbClr val="6A8759"/>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SharedPreferences preferences = </a:t>
            </a:r>
            <a:r>
              <a:rPr lang="en" sz="1000">
                <a:solidFill>
                  <a:srgbClr val="CC7832"/>
                </a:solidFill>
                <a:highlight>
                  <a:srgbClr val="2B2B2B"/>
                </a:highlight>
                <a:latin typeface="Courier New"/>
                <a:ea typeface="Courier New"/>
                <a:cs typeface="Courier New"/>
                <a:sym typeface="Courier New"/>
              </a:rPr>
              <a:t>this</a:t>
            </a:r>
            <a:r>
              <a:rPr lang="en" sz="1000">
                <a:solidFill>
                  <a:srgbClr val="A9B7C6"/>
                </a:solidFill>
                <a:highlight>
                  <a:srgbClr val="2B2B2B"/>
                </a:highlight>
                <a:latin typeface="Courier New"/>
                <a:ea typeface="Courier New"/>
                <a:cs typeface="Courier New"/>
                <a:sym typeface="Courier New"/>
              </a:rPr>
              <a:t>.getSharedPreferences(CONST_DATA</a:t>
            </a: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Context.</a:t>
            </a:r>
            <a:r>
              <a:rPr i="1" lang="en" sz="1000">
                <a:solidFill>
                  <a:srgbClr val="9876AA"/>
                </a:solidFill>
                <a:highlight>
                  <a:srgbClr val="2B2B2B"/>
                </a:highlight>
                <a:latin typeface="Courier New"/>
                <a:ea typeface="Courier New"/>
                <a:cs typeface="Courier New"/>
                <a:sym typeface="Courier New"/>
              </a:rPr>
              <a:t>MODE_PRIVATE</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result = preferences.getString(CONST_DATA</a:t>
            </a:r>
            <a:r>
              <a:rPr lang="en" sz="1000">
                <a:solidFill>
                  <a:srgbClr val="CC7832"/>
                </a:solidFill>
                <a:highlight>
                  <a:srgbClr val="2B2B2B"/>
                </a:highlight>
                <a:latin typeface="Courier New"/>
                <a:ea typeface="Courier New"/>
                <a:cs typeface="Courier New"/>
                <a:sym typeface="Courier New"/>
              </a:rPr>
              <a:t>, </a:t>
            </a:r>
            <a:r>
              <a:rPr lang="en" sz="1000">
                <a:solidFill>
                  <a:srgbClr val="6A8759"/>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Shared Preferences Modes</a:t>
            </a:r>
            <a:endParaRPr/>
          </a:p>
        </p:txBody>
      </p:sp>
      <p:sp>
        <p:nvSpPr>
          <p:cNvPr id="247" name="Google Shape;24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MODE_PRIVATE</a:t>
            </a:r>
            <a:r>
              <a:rPr lang="en"/>
              <a:t> is the operating mode for the preferences. It is the default mode and means the created file will be accessed by only the calling application.</a:t>
            </a:r>
            <a:endParaRPr/>
          </a:p>
          <a:p>
            <a:pPr indent="0" lvl="0" marL="0" rtl="0" algn="l">
              <a:spcBef>
                <a:spcPts val="1200"/>
              </a:spcBef>
              <a:spcAft>
                <a:spcPts val="0"/>
              </a:spcAft>
              <a:buClr>
                <a:schemeClr val="dk1"/>
              </a:buClr>
              <a:buSzPts val="1100"/>
              <a:buFont typeface="Arial"/>
              <a:buNone/>
            </a:pPr>
            <a:r>
              <a:rPr b="1" lang="en"/>
              <a:t>MODE_WORLD_READABLE</a:t>
            </a:r>
            <a:r>
              <a:rPr lang="en"/>
              <a:t> other application can read the created file but can not modify it.</a:t>
            </a:r>
            <a:endParaRPr/>
          </a:p>
          <a:p>
            <a:pPr indent="0" lvl="0" marL="0" rtl="0" algn="l">
              <a:spcBef>
                <a:spcPts val="1200"/>
              </a:spcBef>
              <a:spcAft>
                <a:spcPts val="0"/>
              </a:spcAft>
              <a:buClr>
                <a:schemeClr val="dk1"/>
              </a:buClr>
              <a:buSzPts val="1100"/>
              <a:buFont typeface="Arial"/>
              <a:buNone/>
            </a:pPr>
            <a:r>
              <a:rPr lang="en"/>
              <a:t>In case of </a:t>
            </a:r>
            <a:r>
              <a:rPr b="1" lang="en"/>
              <a:t>MODE_WORLD_WRITEABLE</a:t>
            </a:r>
            <a:r>
              <a:rPr lang="en"/>
              <a:t> other applications also have write permissions for the created file</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251" name="Shape 251"/>
        <p:cNvGrpSpPr/>
        <p:nvPr/>
      </p:nvGrpSpPr>
      <p:grpSpPr>
        <a:xfrm>
          <a:off x="0" y="0"/>
          <a:ext cx="0" cy="0"/>
          <a:chOff x="0" y="0"/>
          <a:chExt cx="0" cy="0"/>
        </a:xfrm>
      </p:grpSpPr>
      <p:sp>
        <p:nvSpPr>
          <p:cNvPr id="252" name="Google Shape;252;p3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editor.putLong()</a:t>
            </a:r>
            <a:br>
              <a:rPr lang="en" sz="10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editor.putInt()</a:t>
            </a:r>
            <a:br>
              <a:rPr lang="en" sz="10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editor.putFloat()</a:t>
            </a:r>
            <a:br>
              <a:rPr lang="en" sz="10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editor.putBoolean()</a:t>
            </a:r>
            <a:br>
              <a:rPr lang="en" sz="10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editor.putString()</a:t>
            </a:r>
            <a:endParaRPr sz="10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0"/>
              </a:spcAft>
              <a:buNone/>
            </a:pPr>
            <a:br>
              <a:rPr lang="en" sz="13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editor.putStringSet()</a:t>
            </a:r>
            <a:endParaRPr sz="13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0"/>
              </a:spcAft>
              <a:buNone/>
            </a:pPr>
            <a:r>
              <a:rPr lang="en" sz="1000">
                <a:solidFill>
                  <a:srgbClr val="A9B7C6"/>
                </a:solidFill>
                <a:highlight>
                  <a:srgbClr val="2B2B2B"/>
                </a:highlight>
                <a:latin typeface="Courier New"/>
                <a:ea typeface="Courier New"/>
                <a:cs typeface="Courier New"/>
                <a:sym typeface="Courier New"/>
              </a:rPr>
              <a:t>SharedPreferences ss = getSharedPreferences(</a:t>
            </a:r>
            <a:r>
              <a:rPr lang="en" sz="1000">
                <a:solidFill>
                  <a:srgbClr val="6A8759"/>
                </a:solidFill>
                <a:highlight>
                  <a:srgbClr val="2B2B2B"/>
                </a:highlight>
                <a:latin typeface="Courier New"/>
                <a:ea typeface="Courier New"/>
                <a:cs typeface="Courier New"/>
                <a:sym typeface="Courier New"/>
              </a:rPr>
              <a:t>"db"</a:t>
            </a:r>
            <a:r>
              <a:rPr lang="en" sz="1000">
                <a:solidFill>
                  <a:srgbClr val="CC7832"/>
                </a:solidFill>
                <a:highlight>
                  <a:srgbClr val="2B2B2B"/>
                </a:highlight>
                <a:latin typeface="Courier New"/>
                <a:ea typeface="Courier New"/>
                <a:cs typeface="Courier New"/>
                <a:sym typeface="Courier New"/>
              </a:rPr>
              <a:t>, </a:t>
            </a:r>
            <a:r>
              <a:rPr lang="en" sz="1000">
                <a:solidFill>
                  <a:srgbClr val="6897BB"/>
                </a:solidFill>
                <a:highlight>
                  <a:srgbClr val="2B2B2B"/>
                </a:highlight>
                <a:latin typeface="Courier New"/>
                <a:ea typeface="Courier New"/>
                <a:cs typeface="Courier New"/>
                <a:sym typeface="Courier New"/>
              </a:rPr>
              <a:t>0</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Set&lt;String&gt; hs = ss.getStringSet(</a:t>
            </a:r>
            <a:r>
              <a:rPr lang="en" sz="1000">
                <a:solidFill>
                  <a:srgbClr val="6A8759"/>
                </a:solidFill>
                <a:highlight>
                  <a:srgbClr val="2B2B2B"/>
                </a:highlight>
                <a:latin typeface="Courier New"/>
                <a:ea typeface="Courier New"/>
                <a:cs typeface="Courier New"/>
                <a:sym typeface="Courier New"/>
              </a:rPr>
              <a:t>"set"</a:t>
            </a:r>
            <a:r>
              <a:rPr lang="en" sz="1000">
                <a:solidFill>
                  <a:srgbClr val="CC7832"/>
                </a:solidFill>
                <a:highlight>
                  <a:srgbClr val="2B2B2B"/>
                </a:highlight>
                <a:latin typeface="Courier New"/>
                <a:ea typeface="Courier New"/>
                <a:cs typeface="Courier New"/>
                <a:sym typeface="Courier New"/>
              </a:rPr>
              <a:t>, new </a:t>
            </a:r>
            <a:r>
              <a:rPr lang="en" sz="1000">
                <a:solidFill>
                  <a:srgbClr val="A9B7C6"/>
                </a:solidFill>
                <a:highlight>
                  <a:srgbClr val="2B2B2B"/>
                </a:highlight>
                <a:latin typeface="Courier New"/>
                <a:ea typeface="Courier New"/>
                <a:cs typeface="Courier New"/>
                <a:sym typeface="Courier New"/>
              </a:rPr>
              <a:t>HashSet&lt;String&gt;())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Set&lt;String&gt; in = </a:t>
            </a:r>
            <a:r>
              <a:rPr lang="en" sz="1000">
                <a:solidFill>
                  <a:srgbClr val="CC7832"/>
                </a:solidFill>
                <a:highlight>
                  <a:srgbClr val="2B2B2B"/>
                </a:highlight>
                <a:latin typeface="Courier New"/>
                <a:ea typeface="Courier New"/>
                <a:cs typeface="Courier New"/>
                <a:sym typeface="Courier New"/>
              </a:rPr>
              <a:t>new </a:t>
            </a:r>
            <a:r>
              <a:rPr lang="en" sz="1000">
                <a:solidFill>
                  <a:srgbClr val="A9B7C6"/>
                </a:solidFill>
                <a:highlight>
                  <a:srgbClr val="2B2B2B"/>
                </a:highlight>
                <a:latin typeface="Courier New"/>
                <a:ea typeface="Courier New"/>
                <a:cs typeface="Courier New"/>
                <a:sym typeface="Courier New"/>
              </a:rPr>
              <a:t>HashSet&lt;String&gt;(hs)</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in.add(String.</a:t>
            </a:r>
            <a:r>
              <a:rPr i="1" lang="en" sz="1000">
                <a:solidFill>
                  <a:srgbClr val="A9B7C6"/>
                </a:solidFill>
                <a:highlight>
                  <a:srgbClr val="2B2B2B"/>
                </a:highlight>
                <a:latin typeface="Courier New"/>
                <a:ea typeface="Courier New"/>
                <a:cs typeface="Courier New"/>
                <a:sym typeface="Courier New"/>
              </a:rPr>
              <a:t>valueOf</a:t>
            </a:r>
            <a:r>
              <a:rPr lang="en" sz="1000">
                <a:solidFill>
                  <a:srgbClr val="A9B7C6"/>
                </a:solidFill>
                <a:highlight>
                  <a:srgbClr val="2B2B2B"/>
                </a:highlight>
                <a:latin typeface="Courier New"/>
                <a:ea typeface="Courier New"/>
                <a:cs typeface="Courier New"/>
                <a:sym typeface="Courier New"/>
              </a:rPr>
              <a:t>(hs.size()+</a:t>
            </a:r>
            <a:r>
              <a:rPr lang="en" sz="1000">
                <a:solidFill>
                  <a:srgbClr val="6897BB"/>
                </a:solidFill>
                <a:highlight>
                  <a:srgbClr val="2B2B2B"/>
                </a:highlight>
                <a:latin typeface="Courier New"/>
                <a:ea typeface="Courier New"/>
                <a:cs typeface="Courier New"/>
                <a:sym typeface="Courier New"/>
              </a:rPr>
              <a:t>1</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ss.edit().putStringSet(</a:t>
            </a:r>
            <a:r>
              <a:rPr lang="en" sz="1000">
                <a:solidFill>
                  <a:srgbClr val="6A8759"/>
                </a:solidFill>
                <a:highlight>
                  <a:srgbClr val="2B2B2B"/>
                </a:highlight>
                <a:latin typeface="Courier New"/>
                <a:ea typeface="Courier New"/>
                <a:cs typeface="Courier New"/>
                <a:sym typeface="Courier New"/>
              </a:rPr>
              <a:t>"set"</a:t>
            </a: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in).commit()</a:t>
            </a:r>
            <a:r>
              <a:rPr lang="en" sz="1000">
                <a:solidFill>
                  <a:srgbClr val="CC7832"/>
                </a:solidFill>
                <a:highlight>
                  <a:srgbClr val="2B2B2B"/>
                </a:highlight>
                <a:latin typeface="Courier New"/>
                <a:ea typeface="Courier New"/>
                <a:cs typeface="Courier New"/>
                <a:sym typeface="Courier New"/>
              </a:rPr>
              <a:t>; </a:t>
            </a:r>
            <a:r>
              <a:rPr lang="en" sz="1000">
                <a:solidFill>
                  <a:srgbClr val="808080"/>
                </a:solidFill>
                <a:highlight>
                  <a:srgbClr val="2B2B2B"/>
                </a:highlight>
                <a:latin typeface="Courier New"/>
                <a:ea typeface="Courier New"/>
                <a:cs typeface="Courier New"/>
                <a:sym typeface="Courier New"/>
              </a:rPr>
              <a:t>// brevity</a:t>
            </a:r>
            <a:endParaRPr sz="13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300">
              <a:solidFill>
                <a:srgbClr val="A9B7C6"/>
              </a:solidFill>
              <a:highlight>
                <a:srgbClr val="2B2B2B"/>
              </a:highlight>
              <a:latin typeface="Courier New"/>
              <a:ea typeface="Courier New"/>
              <a:cs typeface="Courier New"/>
              <a:sym typeface="Courier New"/>
            </a:endParaRPr>
          </a:p>
        </p:txBody>
      </p:sp>
      <p:sp>
        <p:nvSpPr>
          <p:cNvPr id="253" name="Google Shape;25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Shared Preferences Data Types</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a:t>
            </a:r>
            <a:endParaRPr/>
          </a:p>
        </p:txBody>
      </p:sp>
      <p:sp>
        <p:nvSpPr>
          <p:cNvPr id="259" name="Google Shape;25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Set is the group of elements, or we can say collection of elements, that can </a:t>
            </a:r>
            <a:r>
              <a:rPr b="1" lang="en"/>
              <a:t>never contains Duplicate element.</a:t>
            </a:r>
            <a:r>
              <a:rPr lang="en"/>
              <a:t> If in case duplicate elements is added then Set Interface will not add it in that group of elements. Set also allow null element and as it avoids duplicity, so only one null is allowed.</a:t>
            </a:r>
            <a:endParaRPr/>
          </a:p>
          <a:p>
            <a:pPr indent="0" lvl="0" marL="0" rtl="0" algn="l">
              <a:spcBef>
                <a:spcPts val="1200"/>
              </a:spcBef>
              <a:spcAft>
                <a:spcPts val="0"/>
              </a:spcAft>
              <a:buNone/>
            </a:pPr>
            <a:r>
              <a:rPr lang="en"/>
              <a:t>The formal definition of the Set interface states that no two elements in the Set are equal such that e1.equals(e2) is never true.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Set | Android Developers</a:t>
            </a:r>
            <a:r>
              <a:rPr lang="en"/>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 Sample</a:t>
            </a:r>
            <a:endParaRPr/>
          </a:p>
        </p:txBody>
      </p:sp>
      <p:sp>
        <p:nvSpPr>
          <p:cNvPr id="265" name="Google Shape;26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Set&lt;Integer&gt; hashSetobject= new HashSet&lt;Integer&gt;();</a:t>
            </a:r>
            <a:br>
              <a:rPr lang="en"/>
            </a:br>
            <a:br>
              <a:rPr lang="en"/>
            </a:br>
            <a:r>
              <a:rPr lang="en"/>
              <a:t>hashSetobject.add(1);  </a:t>
            </a:r>
            <a:br>
              <a:rPr lang="en"/>
            </a:br>
            <a:r>
              <a:rPr lang="en"/>
              <a:t>hashSetobject.add(2);</a:t>
            </a:r>
            <a:br>
              <a:rPr lang="en"/>
            </a:br>
            <a:r>
              <a:rPr lang="en"/>
              <a:t>hashSetobject.add(4);</a:t>
            </a:r>
            <a:br>
              <a:rPr lang="en"/>
            </a:br>
            <a:br>
              <a:rPr lang="en"/>
            </a:br>
            <a:r>
              <a:rPr lang="en"/>
              <a:t>System.out.println("HashSet object is : " + hashSetobject );  </a:t>
            </a:r>
            <a:endParaRPr/>
          </a:p>
          <a:p>
            <a:pPr indent="0" lvl="0" marL="0" rtl="0" algn="l">
              <a:spcBef>
                <a:spcPts val="1200"/>
              </a:spcBef>
              <a:spcAft>
                <a:spcPts val="1200"/>
              </a:spcAft>
              <a:buNone/>
            </a:pPr>
            <a:r>
              <a:rPr lang="en"/>
              <a:t>HashSet object is : [1, 2, 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EncryptedSharedPreferences</a:t>
            </a:r>
            <a:endParaRPr/>
          </a:p>
        </p:txBody>
      </p:sp>
      <p:sp>
        <p:nvSpPr>
          <p:cNvPr id="271" name="Google Shape;27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Wraps the SharedPreferences class and automatically encrypts keys and values using a two-scheme method:</a:t>
            </a:r>
            <a:endParaRPr/>
          </a:p>
          <a:p>
            <a:pPr indent="-342900" lvl="0" marL="457200" rtl="0" algn="l">
              <a:spcBef>
                <a:spcPts val="1200"/>
              </a:spcBef>
              <a:spcAft>
                <a:spcPts val="0"/>
              </a:spcAft>
              <a:buSzPts val="1800"/>
              <a:buChar char="●"/>
            </a:pPr>
            <a:r>
              <a:rPr lang="en"/>
              <a:t>Keys are encrypted using a deterministic encryption algorithm such that the key can be encrypted and properly looked up.</a:t>
            </a:r>
            <a:endParaRPr/>
          </a:p>
          <a:p>
            <a:pPr indent="-342900" lvl="0" marL="457200" rtl="0" algn="l">
              <a:spcBef>
                <a:spcPts val="0"/>
              </a:spcBef>
              <a:spcAft>
                <a:spcPts val="0"/>
              </a:spcAft>
              <a:buSzPts val="1800"/>
              <a:buChar char="●"/>
            </a:pPr>
            <a:r>
              <a:rPr lang="en"/>
              <a:t>Values are encrypted using AES-256 GCM and are non-deterministic.</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EncryptedSharedPreferences | Android Developers</a:t>
            </a:r>
            <a:r>
              <a:rPr lang="en"/>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275" name="Shape 275"/>
        <p:cNvGrpSpPr/>
        <p:nvPr/>
      </p:nvGrpSpPr>
      <p:grpSpPr>
        <a:xfrm>
          <a:off x="0" y="0"/>
          <a:ext cx="0" cy="0"/>
          <a:chOff x="0" y="0"/>
          <a:chExt cx="0" cy="0"/>
        </a:xfrm>
      </p:grpSpPr>
      <p:sp>
        <p:nvSpPr>
          <p:cNvPr id="276" name="Google Shape;276;p3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KeyGenParameterSpec keyGenParameterSpec = MasterKeys.</a:t>
            </a:r>
            <a:r>
              <a:rPr i="1" lang="en" sz="1000">
                <a:solidFill>
                  <a:srgbClr val="9876AA"/>
                </a:solidFill>
                <a:highlight>
                  <a:srgbClr val="2B2B2B"/>
                </a:highlight>
                <a:latin typeface="Courier New"/>
                <a:ea typeface="Courier New"/>
                <a:cs typeface="Courier New"/>
                <a:sym typeface="Courier New"/>
              </a:rPr>
              <a:t>AES256_GCM_SPEC</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String mainKeyAlias = MasterKeys.</a:t>
            </a:r>
            <a:r>
              <a:rPr i="1" lang="en" sz="1000">
                <a:solidFill>
                  <a:srgbClr val="A9B7C6"/>
                </a:solidFill>
                <a:highlight>
                  <a:srgbClr val="2B2B2B"/>
                </a:highlight>
                <a:latin typeface="Courier New"/>
                <a:ea typeface="Courier New"/>
                <a:cs typeface="Courier New"/>
                <a:sym typeface="Courier New"/>
              </a:rPr>
              <a:t>getOrCreate</a:t>
            </a:r>
            <a:r>
              <a:rPr lang="en" sz="1000">
                <a:solidFill>
                  <a:srgbClr val="A9B7C6"/>
                </a:solidFill>
                <a:highlight>
                  <a:srgbClr val="2B2B2B"/>
                </a:highlight>
                <a:latin typeface="Courier New"/>
                <a:ea typeface="Courier New"/>
                <a:cs typeface="Courier New"/>
                <a:sym typeface="Courier New"/>
              </a:rPr>
              <a:t>(keyGenParameterSpec)</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String sharedPrefsFile = </a:t>
            </a:r>
            <a:r>
              <a:rPr lang="en" sz="1000">
                <a:solidFill>
                  <a:srgbClr val="6A8759"/>
                </a:solidFill>
                <a:highlight>
                  <a:srgbClr val="2B2B2B"/>
                </a:highlight>
                <a:latin typeface="Courier New"/>
                <a:ea typeface="Courier New"/>
                <a:cs typeface="Courier New"/>
                <a:sym typeface="Courier New"/>
              </a:rPr>
              <a:t>"encrypted_preferences"</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SharedPreferences sharedPreferences = EncryptedSharedPreferences.</a:t>
            </a:r>
            <a:r>
              <a:rPr i="1" lang="en" sz="1000">
                <a:solidFill>
                  <a:srgbClr val="A9B7C6"/>
                </a:solidFill>
                <a:highlight>
                  <a:srgbClr val="2B2B2B"/>
                </a:highlight>
                <a:latin typeface="Courier New"/>
                <a:ea typeface="Courier New"/>
                <a:cs typeface="Courier New"/>
                <a:sym typeface="Courier New"/>
              </a:rPr>
              <a:t>create</a:t>
            </a:r>
            <a:r>
              <a:rPr lang="en" sz="1000">
                <a:solidFill>
                  <a:srgbClr val="A9B7C6"/>
                </a:solidFill>
                <a:highlight>
                  <a:srgbClr val="2B2B2B"/>
                </a:highlight>
                <a:latin typeface="Courier New"/>
                <a:ea typeface="Courier New"/>
                <a:cs typeface="Courier New"/>
                <a:sym typeface="Courier New"/>
              </a:rPr>
              <a:t>(</a:t>
            </a:r>
            <a:br>
              <a:rPr lang="en" sz="1000">
                <a:solidFill>
                  <a:srgbClr val="A9B7C6"/>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       sharedPrefsFile</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mainKeyAlias</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getApplicationContext()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EncryptedSharedPreferences.PrefKeyEncryptionScheme.</a:t>
            </a:r>
            <a:r>
              <a:rPr i="1" lang="en" sz="1000">
                <a:solidFill>
                  <a:srgbClr val="9876AA"/>
                </a:solidFill>
                <a:highlight>
                  <a:srgbClr val="2B2B2B"/>
                </a:highlight>
                <a:latin typeface="Courier New"/>
                <a:ea typeface="Courier New"/>
                <a:cs typeface="Courier New"/>
                <a:sym typeface="Courier New"/>
              </a:rPr>
              <a:t>AES256_SIV</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EncryptedSharedPreferences.PrefValueEncryptionScheme.</a:t>
            </a:r>
            <a:r>
              <a:rPr i="1" lang="en" sz="1000">
                <a:solidFill>
                  <a:srgbClr val="9876AA"/>
                </a:solidFill>
                <a:highlight>
                  <a:srgbClr val="2B2B2B"/>
                </a:highlight>
                <a:latin typeface="Courier New"/>
                <a:ea typeface="Courier New"/>
                <a:cs typeface="Courier New"/>
                <a:sym typeface="Courier New"/>
              </a:rPr>
              <a:t>AES256_GCM</a:t>
            </a:r>
            <a:br>
              <a:rPr i="1" lang="en" sz="1000">
                <a:solidFill>
                  <a:srgbClr val="9876AA"/>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None/>
            </a:pPr>
            <a:r>
              <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None/>
            </a:pPr>
            <a:r>
              <a:rPr lang="en" sz="1000">
                <a:solidFill>
                  <a:srgbClr val="A9B7C6"/>
                </a:solidFill>
                <a:highlight>
                  <a:srgbClr val="2B2B2B"/>
                </a:highlight>
                <a:latin typeface="Courier New"/>
                <a:ea typeface="Courier New"/>
                <a:cs typeface="Courier New"/>
                <a:sym typeface="Courier New"/>
              </a:rPr>
              <a:t>SharedPreferences.Editor </a:t>
            </a:r>
            <a:r>
              <a:rPr lang="en" sz="1000">
                <a:solidFill>
                  <a:srgbClr val="A9B7C6"/>
                </a:solidFill>
                <a:highlight>
                  <a:srgbClr val="2B2B2B"/>
                </a:highlight>
                <a:latin typeface="Courier New"/>
                <a:ea typeface="Courier New"/>
                <a:cs typeface="Courier New"/>
                <a:sym typeface="Courier New"/>
              </a:rPr>
              <a:t>sharedPrefsEditor = sharedPreferences.edit()</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sharedPrefsEditor.putString(CONST_DATA</a:t>
            </a:r>
            <a:r>
              <a:rPr lang="en" sz="1000">
                <a:solidFill>
                  <a:srgbClr val="CC7832"/>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String.</a:t>
            </a:r>
            <a:r>
              <a:rPr i="1" lang="en" sz="1000">
                <a:solidFill>
                  <a:srgbClr val="A9B7C6"/>
                </a:solidFill>
                <a:highlight>
                  <a:srgbClr val="2B2B2B"/>
                </a:highlight>
                <a:latin typeface="Courier New"/>
                <a:ea typeface="Courier New"/>
                <a:cs typeface="Courier New"/>
                <a:sym typeface="Courier New"/>
              </a:rPr>
              <a:t>valueOf</a:t>
            </a:r>
            <a:r>
              <a:rPr lang="en" sz="1000">
                <a:solidFill>
                  <a:srgbClr val="A9B7C6"/>
                </a:solidFill>
                <a:highlight>
                  <a:srgbClr val="2B2B2B"/>
                </a:highlight>
                <a:latin typeface="Courier New"/>
                <a:ea typeface="Courier New"/>
                <a:cs typeface="Courier New"/>
                <a:sym typeface="Courier New"/>
              </a:rPr>
              <a:t>(data))</a:t>
            </a:r>
            <a:r>
              <a:rPr lang="en" sz="1000">
                <a:solidFill>
                  <a:srgbClr val="CC7832"/>
                </a:solidFill>
                <a:highlight>
                  <a:srgbClr val="2B2B2B"/>
                </a:highlight>
                <a:latin typeface="Courier New"/>
                <a:ea typeface="Courier New"/>
                <a:cs typeface="Courier New"/>
                <a:sym typeface="Courier New"/>
              </a:rPr>
              <a:t>;</a:t>
            </a:r>
            <a:br>
              <a:rPr lang="en" sz="1000">
                <a:solidFill>
                  <a:srgbClr val="CC7832"/>
                </a:solidFill>
                <a:highlight>
                  <a:srgbClr val="2B2B2B"/>
                </a:highlight>
                <a:latin typeface="Courier New"/>
                <a:ea typeface="Courier New"/>
                <a:cs typeface="Courier New"/>
                <a:sym typeface="Courier New"/>
              </a:rPr>
            </a:br>
            <a:r>
              <a:rPr lang="en" sz="1000">
                <a:solidFill>
                  <a:srgbClr val="A9B7C6"/>
                </a:solidFill>
                <a:highlight>
                  <a:srgbClr val="2B2B2B"/>
                </a:highlight>
                <a:latin typeface="Courier New"/>
                <a:ea typeface="Courier New"/>
                <a:cs typeface="Courier New"/>
                <a:sym typeface="Courier New"/>
              </a:rPr>
              <a:t>sharedPrefsEditor.apply()</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000">
              <a:solidFill>
                <a:srgbClr val="A9B7C6"/>
              </a:solidFill>
              <a:highlight>
                <a:srgbClr val="2B2B2B"/>
              </a:highlight>
              <a:latin typeface="Courier New"/>
              <a:ea typeface="Courier New"/>
              <a:cs typeface="Courier New"/>
              <a:sym typeface="Courier New"/>
            </a:endParaRPr>
          </a:p>
        </p:txBody>
      </p:sp>
      <p:sp>
        <p:nvSpPr>
          <p:cNvPr id="277" name="Google Shape;27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EncryptedSharedPreferences</a:t>
            </a:r>
            <a:endParaRPr>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Creating a Database With SQLite</a:t>
            </a:r>
            <a:endParaRPr/>
          </a:p>
        </p:txBody>
      </p:sp>
      <p:sp>
        <p:nvSpPr>
          <p:cNvPr id="283" name="Google Shape;283;p3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solidFill>
                  <a:schemeClr val="hlink"/>
                </a:solidFill>
                <a:hlinkClick r:id="rId3"/>
              </a:rPr>
              <a:t>Save data using SQLite | Android Developers</a:t>
            </a:r>
            <a:r>
              <a:rPr lang="en"/>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Database</a:t>
            </a:r>
            <a:endParaRPr/>
          </a:p>
        </p:txBody>
      </p:sp>
      <p:sp>
        <p:nvSpPr>
          <p:cNvPr id="289" name="Google Shape;28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database is an organized collection of data, so that it can be easily accessed and managed.</a:t>
            </a:r>
            <a:endParaRPr/>
          </a:p>
          <a:p>
            <a:pPr indent="-342900" lvl="0" marL="457200" rtl="0" algn="l">
              <a:spcBef>
                <a:spcPts val="0"/>
              </a:spcBef>
              <a:spcAft>
                <a:spcPts val="0"/>
              </a:spcAft>
              <a:buSzPts val="1800"/>
              <a:buChar char="●"/>
            </a:pPr>
            <a:r>
              <a:rPr lang="en"/>
              <a:t>You can organize data into tables, rows, columns, and index it to make it easier to find relevant information.</a:t>
            </a:r>
            <a:endParaRPr/>
          </a:p>
          <a:p>
            <a:pPr indent="-342900" lvl="0" marL="457200" rtl="0" algn="l">
              <a:spcBef>
                <a:spcPts val="0"/>
              </a:spcBef>
              <a:spcAft>
                <a:spcPts val="0"/>
              </a:spcAft>
              <a:buSzPts val="1800"/>
              <a:buChar char="●"/>
            </a:pPr>
            <a:r>
              <a:rPr lang="en"/>
              <a:t>Database handlers create a database in such a way that only one set of software program provides access of data to all the users.</a:t>
            </a:r>
            <a:endParaRPr/>
          </a:p>
          <a:p>
            <a:pPr indent="-342900" lvl="0" marL="457200" rtl="0" algn="l">
              <a:spcBef>
                <a:spcPts val="0"/>
              </a:spcBef>
              <a:spcAft>
                <a:spcPts val="0"/>
              </a:spcAft>
              <a:buSzPts val="1800"/>
              <a:buChar char="●"/>
            </a:pPr>
            <a:r>
              <a:rPr lang="en"/>
              <a:t>There are many databases available like MySQL, Sybase, Oracle, MongoDB, Informix, PostgreSQL, SQL Server, etc.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 Tables</a:t>
            </a:r>
            <a:endParaRPr/>
          </a:p>
        </p:txBody>
      </p:sp>
      <p:sp>
        <p:nvSpPr>
          <p:cNvPr id="295" name="Google Shape;295;p37"/>
          <p:cNvSpPr/>
          <p:nvPr/>
        </p:nvSpPr>
        <p:spPr>
          <a:xfrm>
            <a:off x="441625" y="1324850"/>
            <a:ext cx="2741400" cy="124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Users</a:t>
            </a:r>
            <a:endParaRPr/>
          </a:p>
          <a:p>
            <a:pPr indent="-317500" lvl="0" marL="457200" rtl="0" algn="l">
              <a:spcBef>
                <a:spcPts val="0"/>
              </a:spcBef>
              <a:spcAft>
                <a:spcPts val="0"/>
              </a:spcAft>
              <a:buSzPts val="1400"/>
              <a:buChar char="●"/>
            </a:pPr>
            <a:r>
              <a:rPr lang="en"/>
              <a:t>Identifier(Int) Auto Inc.</a:t>
            </a:r>
            <a:endParaRPr/>
          </a:p>
          <a:p>
            <a:pPr indent="-317500" lvl="0" marL="457200" rtl="0" algn="l">
              <a:spcBef>
                <a:spcPts val="0"/>
              </a:spcBef>
              <a:spcAft>
                <a:spcPts val="0"/>
              </a:spcAft>
              <a:buSzPts val="1400"/>
              <a:buChar char="●"/>
            </a:pPr>
            <a:r>
              <a:rPr lang="en"/>
              <a:t>Name(String)</a:t>
            </a:r>
            <a:endParaRPr/>
          </a:p>
          <a:p>
            <a:pPr indent="-317500" lvl="0" marL="457200" rtl="0" algn="l">
              <a:spcBef>
                <a:spcPts val="0"/>
              </a:spcBef>
              <a:spcAft>
                <a:spcPts val="0"/>
              </a:spcAft>
              <a:buSzPts val="1400"/>
              <a:buChar char="●"/>
            </a:pPr>
            <a:r>
              <a:rPr lang="en"/>
              <a:t>Surname</a:t>
            </a:r>
            <a:r>
              <a:rPr lang="en">
                <a:solidFill>
                  <a:schemeClr val="dk1"/>
                </a:solidFill>
              </a:rPr>
              <a:t>(String)</a:t>
            </a:r>
            <a:endParaRPr/>
          </a:p>
        </p:txBody>
      </p:sp>
      <p:sp>
        <p:nvSpPr>
          <p:cNvPr id="296" name="Google Shape;296;p37"/>
          <p:cNvSpPr/>
          <p:nvPr/>
        </p:nvSpPr>
        <p:spPr>
          <a:xfrm>
            <a:off x="4572000" y="1324850"/>
            <a:ext cx="2741400" cy="124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Lessons</a:t>
            </a:r>
            <a:endParaRPr/>
          </a:p>
          <a:p>
            <a:pPr indent="-317500" lvl="0" marL="457200" rtl="0" algn="l">
              <a:spcBef>
                <a:spcPts val="0"/>
              </a:spcBef>
              <a:spcAft>
                <a:spcPts val="0"/>
              </a:spcAft>
              <a:buSzPts val="1400"/>
              <a:buChar char="●"/>
            </a:pPr>
            <a:r>
              <a:rPr lang="en"/>
              <a:t>Identifier(Int) Auto Inc.</a:t>
            </a:r>
            <a:endParaRPr/>
          </a:p>
          <a:p>
            <a:pPr indent="-317500" lvl="0" marL="457200" rtl="0" algn="l">
              <a:spcBef>
                <a:spcPts val="0"/>
              </a:spcBef>
              <a:spcAft>
                <a:spcPts val="0"/>
              </a:spcAft>
              <a:buSzPts val="1400"/>
              <a:buChar char="●"/>
            </a:pPr>
            <a:r>
              <a:rPr lang="en"/>
              <a:t>Name(String)</a:t>
            </a:r>
            <a:endParaRPr/>
          </a:p>
          <a:p>
            <a:pPr indent="-317500" lvl="0" marL="457200" rtl="0" algn="l">
              <a:spcBef>
                <a:spcPts val="0"/>
              </a:spcBef>
              <a:spcAft>
                <a:spcPts val="0"/>
              </a:spcAft>
              <a:buSzPts val="1400"/>
              <a:buChar char="●"/>
            </a:pPr>
            <a:r>
              <a:rPr lang="en"/>
              <a:t>Instructor</a:t>
            </a:r>
            <a:r>
              <a:rPr lang="en">
                <a:solidFill>
                  <a:schemeClr val="dk1"/>
                </a:solidFill>
              </a:rPr>
              <a:t>(Int)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a:t>
            </a:r>
            <a:endParaRPr/>
          </a:p>
        </p:txBody>
      </p:sp>
      <p:sp>
        <p:nvSpPr>
          <p:cNvPr id="302" name="Google Shape;30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3" name="Google Shape;303;p38"/>
          <p:cNvPicPr preferRelativeResize="0"/>
          <p:nvPr/>
        </p:nvPicPr>
        <p:blipFill>
          <a:blip r:embed="rId3">
            <a:alphaModFix/>
          </a:blip>
          <a:stretch>
            <a:fillRect/>
          </a:stretch>
        </p:blipFill>
        <p:spPr>
          <a:xfrm>
            <a:off x="3947653" y="0"/>
            <a:ext cx="5196344" cy="5143500"/>
          </a:xfrm>
          <a:prstGeom prst="rect">
            <a:avLst/>
          </a:prstGeom>
          <a:noFill/>
          <a:ln>
            <a:noFill/>
          </a:ln>
        </p:spPr>
      </p:pic>
      <p:pic>
        <p:nvPicPr>
          <p:cNvPr id="304" name="Google Shape;304;p38"/>
          <p:cNvPicPr preferRelativeResize="0"/>
          <p:nvPr/>
        </p:nvPicPr>
        <p:blipFill>
          <a:blip r:embed="rId4">
            <a:alphaModFix/>
          </a:blip>
          <a:stretch>
            <a:fillRect/>
          </a:stretch>
        </p:blipFill>
        <p:spPr>
          <a:xfrm>
            <a:off x="0" y="1533513"/>
            <a:ext cx="5181600" cy="3609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a:t>
            </a:r>
            <a:endParaRPr/>
          </a:p>
        </p:txBody>
      </p:sp>
      <p:sp>
        <p:nvSpPr>
          <p:cNvPr id="310" name="Google Shape;31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SQL or </a:t>
            </a:r>
            <a:r>
              <a:rPr b="1" lang="en"/>
              <a:t>Structured Query Language</a:t>
            </a:r>
            <a:r>
              <a:rPr lang="en"/>
              <a:t> is used to operate on the data stored in a database. </a:t>
            </a:r>
            <a:br>
              <a:rPr lang="en"/>
            </a:br>
            <a:r>
              <a:rPr lang="en"/>
              <a:t>QUERY LANGUAGE</a:t>
            </a:r>
            <a:endParaRPr/>
          </a:p>
          <a:p>
            <a:pPr indent="0" lvl="0" marL="0" rtl="0" algn="l">
              <a:spcBef>
                <a:spcPts val="1200"/>
              </a:spcBef>
              <a:spcAft>
                <a:spcPts val="1200"/>
              </a:spcAft>
              <a:buClr>
                <a:schemeClr val="dk1"/>
              </a:buClr>
              <a:buSzPts val="1100"/>
              <a:buFont typeface="Arial"/>
              <a:buNone/>
            </a:pPr>
            <a:r>
              <a:rPr b="1" lang="en" sz="3600"/>
              <a:t>“</a:t>
            </a:r>
            <a:r>
              <a:rPr b="1" lang="en" sz="3600"/>
              <a:t>QUERY”</a:t>
            </a:r>
            <a:endParaRPr b="1" sz="3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QUERY</a:t>
            </a:r>
            <a:endParaRPr/>
          </a:p>
        </p:txBody>
      </p:sp>
      <p:sp>
        <p:nvSpPr>
          <p:cNvPr id="316" name="Google Shape;31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Select</a:t>
            </a:r>
            <a:endParaRPr/>
          </a:p>
          <a:p>
            <a:pPr indent="-342900" lvl="0" marL="457200" rtl="0" algn="l">
              <a:spcBef>
                <a:spcPts val="0"/>
              </a:spcBef>
              <a:spcAft>
                <a:spcPts val="0"/>
              </a:spcAft>
              <a:buSzPts val="1800"/>
              <a:buChar char="●"/>
            </a:pPr>
            <a:r>
              <a:rPr lang="en"/>
              <a:t>Insert </a:t>
            </a:r>
            <a:endParaRPr/>
          </a:p>
          <a:p>
            <a:pPr indent="-342900" lvl="0" marL="457200" rtl="0" algn="l">
              <a:spcBef>
                <a:spcPts val="0"/>
              </a:spcBef>
              <a:spcAft>
                <a:spcPts val="0"/>
              </a:spcAft>
              <a:buSzPts val="1800"/>
              <a:buChar char="●"/>
            </a:pPr>
            <a:r>
              <a:rPr lang="en"/>
              <a:t>Update</a:t>
            </a:r>
            <a:endParaRPr/>
          </a:p>
          <a:p>
            <a:pPr indent="-342900" lvl="0" marL="457200" rtl="0" algn="l">
              <a:spcBef>
                <a:spcPts val="0"/>
              </a:spcBef>
              <a:spcAft>
                <a:spcPts val="0"/>
              </a:spcAft>
              <a:buSzPts val="1800"/>
              <a:buChar char="●"/>
            </a:pPr>
            <a:r>
              <a:rPr lang="en"/>
              <a:t>Delete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Create</a:t>
            </a:r>
            <a:endParaRPr/>
          </a:p>
          <a:p>
            <a:pPr indent="-342900" lvl="0" marL="457200" rtl="0" algn="l">
              <a:spcBef>
                <a:spcPts val="0"/>
              </a:spcBef>
              <a:spcAft>
                <a:spcPts val="0"/>
              </a:spcAft>
              <a:buSzPts val="1800"/>
              <a:buChar char="●"/>
            </a:pPr>
            <a:r>
              <a:rPr lang="en"/>
              <a:t>Drop</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SQLite</a:t>
            </a:r>
            <a:endParaRPr/>
          </a:p>
        </p:txBody>
      </p:sp>
      <p:sp>
        <p:nvSpPr>
          <p:cNvPr id="322" name="Google Shape;32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SQLite is a relational database management system which is self-contained, server-less and need zero configuration.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Save data using SQLite</a:t>
            </a:r>
            <a:endParaRPr/>
          </a:p>
        </p:txBody>
      </p:sp>
      <p:sp>
        <p:nvSpPr>
          <p:cNvPr id="328" name="Google Shape;32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Saving data to a database is ideal for repeating or structured data, such as contact information. The APIs you'll need to use a database on Android are available in the android.database.sqlite package.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Define a schema and contract</a:t>
            </a:r>
            <a:endParaRPr/>
          </a:p>
        </p:txBody>
      </p:sp>
      <p:sp>
        <p:nvSpPr>
          <p:cNvPr id="334" name="Google Shape;334;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One of the main principles of SQL databases is the schema: a formal declaration of how the database is organized. The schema is reflected in the SQL statements that you use to create your database. You may find it helpful to create a companion class, known as a contract class, which explicitly specifies the layout of your schema in a systematic and self-documenting way.</a:t>
            </a:r>
            <a:endParaRPr/>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SQLiteOpenHelper</a:t>
            </a:r>
            <a:endParaRPr/>
          </a:p>
        </p:txBody>
      </p:sp>
      <p:sp>
        <p:nvSpPr>
          <p:cNvPr id="340" name="Google Shape;340;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 helper class to manage database creation and version management.</a:t>
            </a:r>
            <a:endParaRPr/>
          </a:p>
          <a:p>
            <a:pPr indent="0" lvl="0" marL="0" rtl="0" algn="l">
              <a:spcBef>
                <a:spcPts val="1200"/>
              </a:spcBef>
              <a:spcAft>
                <a:spcPts val="0"/>
              </a:spcAft>
              <a:buClr>
                <a:schemeClr val="dk1"/>
              </a:buClr>
              <a:buSzPts val="1100"/>
              <a:buFont typeface="Arial"/>
              <a:buNone/>
            </a:pPr>
            <a:r>
              <a:rPr lang="en"/>
              <a:t>You create a subclass implementing onCreate(SQLiteDatabase), onUpgrade(SQLiteDatabase, int, int) and optionally onOpen(SQLiteDatabase), and this class takes care of opening the database if it exists, creating it if it does not, and upgrading it as necessary. Transactions are used to make sure the database is always in a sensible state.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SQLiteOpenHelper | Android Developers</a:t>
            </a:r>
            <a:r>
              <a:rPr lang="en"/>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Create a database using an SQL helper</a:t>
            </a:r>
            <a:endParaRPr/>
          </a:p>
        </p:txBody>
      </p:sp>
      <p:sp>
        <p:nvSpPr>
          <p:cNvPr id="346" name="Google Shape;34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Android stores your database in your app's private folder. Your data is secure, because by default this area is not accessible to other apps or the user.</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The SQLiteOpenHelper class contains a useful set of APIs for managing your database. When you use this class to obtain references to your database, the system performs the potentially long-running operations of creating and updating the database only when needed and not during app startup. All you need to do is call </a:t>
            </a:r>
            <a:r>
              <a:rPr b="1" lang="en"/>
              <a:t>getWritableDatabase()</a:t>
            </a:r>
            <a:r>
              <a:rPr lang="en"/>
              <a:t> or </a:t>
            </a:r>
            <a:r>
              <a:rPr b="1" lang="en"/>
              <a:t>getReadableDatabase()</a:t>
            </a:r>
            <a:r>
              <a:rPr lang="en"/>
              <a:t>.</a:t>
            </a:r>
            <a:br>
              <a:rPr lang="en"/>
            </a:br>
            <a:endParaRPr/>
          </a:p>
          <a:p>
            <a:pPr indent="0" lvl="0" marL="0" rtl="0" algn="l">
              <a:spcBef>
                <a:spcPts val="1200"/>
              </a:spcBef>
              <a:spcAft>
                <a:spcPts val="1200"/>
              </a:spcAft>
              <a:buNone/>
            </a:pPr>
            <a:r>
              <a:rPr lang="en" u="sng">
                <a:solidFill>
                  <a:schemeClr val="hlink"/>
                </a:solidFill>
                <a:hlinkClick r:id="rId3"/>
              </a:rPr>
              <a:t>SQLiteOpenHelper | Android Developers</a:t>
            </a:r>
            <a:r>
              <a:rPr lang="en"/>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getWritableDatabase</a:t>
            </a:r>
            <a:endParaRPr/>
          </a:p>
        </p:txBody>
      </p:sp>
      <p:sp>
        <p:nvSpPr>
          <p:cNvPr id="352" name="Google Shape;352;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Create and/or open a database that will be used for reading and writing. </a:t>
            </a:r>
            <a:r>
              <a:rPr lang="en" u="sng"/>
              <a:t>The first time this is called, the database will be opened and onCreate(SQLiteDatabase), onUpgrade(SQLiteDatabase, int, int) and/or onOpen(SQLiteDatabase) will be called.</a:t>
            </a:r>
            <a:endParaRPr u="sng"/>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Once opened successfully, the database is cached, so you can call this method every time you need to write to the database. (Make sure to call close() when you no longer need the database.) Errors such as bad permissions or a full disk may cause this method to fail, but future attempts may succeed if the problem is fixed.</a:t>
            </a:r>
            <a:endParaRPr/>
          </a:p>
          <a:p>
            <a:pPr indent="0" lvl="0" marL="0" rtl="0" algn="l">
              <a:spcBef>
                <a:spcPts val="1200"/>
              </a:spcBef>
              <a:spcAft>
                <a:spcPts val="1200"/>
              </a:spcAft>
              <a:buNone/>
            </a:pPr>
            <a:r>
              <a:rPr lang="en" u="sng">
                <a:solidFill>
                  <a:schemeClr val="hlink"/>
                </a:solidFill>
                <a:hlinkClick r:id="rId3"/>
              </a:rPr>
              <a:t>SQLiteOpenHelper | Android Developers</a:t>
            </a:r>
            <a:r>
              <a:rPr lang="en"/>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getReadableDatabase</a:t>
            </a:r>
            <a:endParaRPr/>
          </a:p>
        </p:txBody>
      </p:sp>
      <p:sp>
        <p:nvSpPr>
          <p:cNvPr id="358" name="Google Shape;358;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Create and/or open a database. This will be the same object returned by getWritableDatabase() unless some problem, such as a full disk, requires the database to be opened read-only. In that case, a read-only database object will be returned. If the problem is fixed, a future call to getWritableDatabase() may succeed, in which case the read-only database object will be closed and the read/write object will be returned in the future.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SQLiteOpenHelper | Android Developers</a:t>
            </a:r>
            <a:r>
              <a:rPr lang="en"/>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362" name="Shape 362"/>
        <p:cNvGrpSpPr/>
        <p:nvPr/>
      </p:nvGrpSpPr>
      <p:grpSpPr>
        <a:xfrm>
          <a:off x="0" y="0"/>
          <a:ext cx="0" cy="0"/>
          <a:chOff x="0" y="0"/>
          <a:chExt cx="0" cy="0"/>
        </a:xfrm>
      </p:grpSpPr>
      <p:sp>
        <p:nvSpPr>
          <p:cNvPr id="363" name="Google Shape;363;p48"/>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rgbClr val="CC7832"/>
                </a:solidFill>
                <a:highlight>
                  <a:srgbClr val="2B2B2B"/>
                </a:highlight>
                <a:latin typeface="Courier New"/>
                <a:ea typeface="Courier New"/>
                <a:cs typeface="Courier New"/>
                <a:sym typeface="Courier New"/>
              </a:rPr>
              <a:t>public class </a:t>
            </a:r>
            <a:r>
              <a:rPr lang="en" sz="1100">
                <a:solidFill>
                  <a:srgbClr val="A9B7C6"/>
                </a:solidFill>
                <a:highlight>
                  <a:srgbClr val="2B2B2B"/>
                </a:highlight>
                <a:latin typeface="Courier New"/>
                <a:ea typeface="Courier New"/>
                <a:cs typeface="Courier New"/>
                <a:sym typeface="Courier New"/>
              </a:rPr>
              <a:t>DB </a:t>
            </a:r>
            <a:r>
              <a:rPr lang="en" sz="1100">
                <a:solidFill>
                  <a:srgbClr val="CC7832"/>
                </a:solidFill>
                <a:highlight>
                  <a:srgbClr val="2B2B2B"/>
                </a:highlight>
                <a:latin typeface="Courier New"/>
                <a:ea typeface="Courier New"/>
                <a:cs typeface="Courier New"/>
                <a:sym typeface="Courier New"/>
              </a:rPr>
              <a:t>extends </a:t>
            </a:r>
            <a:r>
              <a:rPr lang="en" sz="1100">
                <a:solidFill>
                  <a:srgbClr val="A9B7C6"/>
                </a:solidFill>
                <a:highlight>
                  <a:srgbClr val="2B2B2B"/>
                </a:highlight>
                <a:latin typeface="Courier New"/>
                <a:ea typeface="Courier New"/>
                <a:cs typeface="Courier New"/>
                <a:sym typeface="Courier New"/>
              </a:rPr>
              <a:t>SQLiteOpenHelper {</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final static </a:t>
            </a:r>
            <a:r>
              <a:rPr lang="en" sz="1100">
                <a:solidFill>
                  <a:srgbClr val="A9B7C6"/>
                </a:solidFill>
                <a:highlight>
                  <a:srgbClr val="2B2B2B"/>
                </a:highlight>
                <a:latin typeface="Courier New"/>
                <a:ea typeface="Courier New"/>
                <a:cs typeface="Courier New"/>
                <a:sym typeface="Courier New"/>
              </a:rPr>
              <a:t>String </a:t>
            </a:r>
            <a:r>
              <a:rPr i="1" lang="en" sz="1100">
                <a:solidFill>
                  <a:srgbClr val="9876AA"/>
                </a:solidFill>
                <a:highlight>
                  <a:srgbClr val="2B2B2B"/>
                </a:highlight>
                <a:latin typeface="Courier New"/>
                <a:ea typeface="Courier New"/>
                <a:cs typeface="Courier New"/>
                <a:sym typeface="Courier New"/>
              </a:rPr>
              <a:t>databaseName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"PersonDB"</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final static int </a:t>
            </a:r>
            <a:r>
              <a:rPr i="1" lang="en" sz="1100">
                <a:solidFill>
                  <a:srgbClr val="9876AA"/>
                </a:solidFill>
                <a:highlight>
                  <a:srgbClr val="2B2B2B"/>
                </a:highlight>
                <a:latin typeface="Courier New"/>
                <a:ea typeface="Courier New"/>
                <a:cs typeface="Courier New"/>
                <a:sym typeface="Courier New"/>
              </a:rPr>
              <a:t>databaseVersion </a:t>
            </a:r>
            <a:r>
              <a:rPr lang="en" sz="1100">
                <a:solidFill>
                  <a:srgbClr val="A9B7C6"/>
                </a:solidFill>
                <a:highlight>
                  <a:srgbClr val="2B2B2B"/>
                </a:highlight>
                <a:latin typeface="Courier New"/>
                <a:ea typeface="Courier New"/>
                <a:cs typeface="Courier New"/>
                <a:sym typeface="Courier New"/>
              </a:rPr>
              <a:t>= </a:t>
            </a:r>
            <a:r>
              <a:rPr lang="en" sz="1100">
                <a:solidFill>
                  <a:srgbClr val="6897BB"/>
                </a:solidFill>
                <a:highlight>
                  <a:srgbClr val="2B2B2B"/>
                </a:highlight>
                <a:latin typeface="Courier New"/>
                <a:ea typeface="Courier New"/>
                <a:cs typeface="Courier New"/>
                <a:sym typeface="Courier New"/>
              </a:rPr>
              <a:t>1</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public </a:t>
            </a:r>
            <a:r>
              <a:rPr lang="en" sz="1100">
                <a:solidFill>
                  <a:srgbClr val="FFC66D"/>
                </a:solidFill>
                <a:highlight>
                  <a:srgbClr val="2B2B2B"/>
                </a:highlight>
                <a:latin typeface="Courier New"/>
                <a:ea typeface="Courier New"/>
                <a:cs typeface="Courier New"/>
                <a:sym typeface="Courier New"/>
              </a:rPr>
              <a:t>DB</a:t>
            </a:r>
            <a:r>
              <a:rPr lang="en" sz="1100">
                <a:solidFill>
                  <a:srgbClr val="A9B7C6"/>
                </a:solidFill>
                <a:highlight>
                  <a:srgbClr val="2B2B2B"/>
                </a:highlight>
                <a:latin typeface="Courier New"/>
                <a:ea typeface="Courier New"/>
                <a:cs typeface="Courier New"/>
                <a:sym typeface="Courier New"/>
              </a:rPr>
              <a:t>(Context context)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super</a:t>
            </a:r>
            <a:r>
              <a:rPr lang="en" sz="1100">
                <a:solidFill>
                  <a:srgbClr val="A9B7C6"/>
                </a:solidFill>
                <a:highlight>
                  <a:srgbClr val="2B2B2B"/>
                </a:highlight>
                <a:latin typeface="Courier New"/>
                <a:ea typeface="Courier New"/>
                <a:cs typeface="Courier New"/>
                <a:sym typeface="Courier New"/>
              </a:rPr>
              <a:t>(context</a:t>
            </a:r>
            <a:r>
              <a:rPr lang="en" sz="1100">
                <a:solidFill>
                  <a:srgbClr val="CC7832"/>
                </a:solidFill>
                <a:highlight>
                  <a:srgbClr val="2B2B2B"/>
                </a:highlight>
                <a:latin typeface="Courier New"/>
                <a:ea typeface="Courier New"/>
                <a:cs typeface="Courier New"/>
                <a:sym typeface="Courier New"/>
              </a:rPr>
              <a:t>,</a:t>
            </a:r>
            <a:r>
              <a:rPr i="1" lang="en" sz="1100">
                <a:solidFill>
                  <a:srgbClr val="9876AA"/>
                </a:solidFill>
                <a:highlight>
                  <a:srgbClr val="2B2B2B"/>
                </a:highlight>
                <a:latin typeface="Courier New"/>
                <a:ea typeface="Courier New"/>
                <a:cs typeface="Courier New"/>
                <a:sym typeface="Courier New"/>
              </a:rPr>
              <a:t>databaseName</a:t>
            </a:r>
            <a:r>
              <a:rPr lang="en" sz="1100">
                <a:solidFill>
                  <a:srgbClr val="CC7832"/>
                </a:solidFill>
                <a:highlight>
                  <a:srgbClr val="2B2B2B"/>
                </a:highlight>
                <a:latin typeface="Courier New"/>
                <a:ea typeface="Courier New"/>
                <a:cs typeface="Courier New"/>
                <a:sym typeface="Courier New"/>
              </a:rPr>
              <a:t>,null,</a:t>
            </a:r>
            <a:r>
              <a:rPr i="1" lang="en" sz="1100">
                <a:solidFill>
                  <a:srgbClr val="9876AA"/>
                </a:solidFill>
                <a:highlight>
                  <a:srgbClr val="2B2B2B"/>
                </a:highlight>
                <a:latin typeface="Courier New"/>
                <a:ea typeface="Courier New"/>
                <a:cs typeface="Courier New"/>
                <a:sym typeface="Courier New"/>
              </a:rPr>
              <a:t>databaseVersion</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p:txBody>
      </p:sp>
      <p:sp>
        <p:nvSpPr>
          <p:cNvPr id="364" name="Google Shape;36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SQLiteOpenHelper</a:t>
            </a:r>
            <a:endParaRPr>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Singleton</a:t>
            </a:r>
            <a:endParaRPr/>
          </a:p>
        </p:txBody>
      </p:sp>
      <p:sp>
        <p:nvSpPr>
          <p:cNvPr id="370" name="Google Shape;370;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singleton design pattern restricts the instantiation of a class to a single instance. This is done in order to provide coordinated access to a certain resource, throughout an entire software system. Through this design pattern, the singleton class ensures that it’s only instantiated once, and can provide easy access to the single instance.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374" name="Shape 374"/>
        <p:cNvGrpSpPr/>
        <p:nvPr/>
      </p:nvGrpSpPr>
      <p:grpSpPr>
        <a:xfrm>
          <a:off x="0" y="0"/>
          <a:ext cx="0" cy="0"/>
          <a:chOff x="0" y="0"/>
          <a:chExt cx="0" cy="0"/>
        </a:xfrm>
      </p:grpSpPr>
      <p:sp>
        <p:nvSpPr>
          <p:cNvPr id="375" name="Google Shape;375;p5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rgbClr val="CC7832"/>
                </a:solidFill>
                <a:highlight>
                  <a:srgbClr val="2B2B2B"/>
                </a:highlight>
                <a:latin typeface="Courier New"/>
                <a:ea typeface="Courier New"/>
                <a:cs typeface="Courier New"/>
                <a:sym typeface="Courier New"/>
              </a:rPr>
              <a:t>public synchronized static </a:t>
            </a:r>
            <a:r>
              <a:rPr lang="en" sz="1100">
                <a:solidFill>
                  <a:srgbClr val="A9B7C6"/>
                </a:solidFill>
                <a:highlight>
                  <a:srgbClr val="2B2B2B"/>
                </a:highlight>
                <a:latin typeface="Courier New"/>
                <a:ea typeface="Courier New"/>
                <a:cs typeface="Courier New"/>
                <a:sym typeface="Courier New"/>
              </a:rPr>
              <a:t>DB </a:t>
            </a:r>
            <a:r>
              <a:rPr lang="en" sz="1100">
                <a:solidFill>
                  <a:srgbClr val="FFC66D"/>
                </a:solidFill>
                <a:highlight>
                  <a:srgbClr val="2B2B2B"/>
                </a:highlight>
                <a:latin typeface="Courier New"/>
                <a:ea typeface="Courier New"/>
                <a:cs typeface="Courier New"/>
                <a:sym typeface="Courier New"/>
              </a:rPr>
              <a:t>getInstance</a:t>
            </a:r>
            <a:r>
              <a:rPr lang="en" sz="1100">
                <a:solidFill>
                  <a:srgbClr val="A9B7C6"/>
                </a:solidFill>
                <a:highlight>
                  <a:srgbClr val="2B2B2B"/>
                </a:highlight>
                <a:latin typeface="Courier New"/>
                <a:ea typeface="Courier New"/>
                <a:cs typeface="Courier New"/>
                <a:sym typeface="Courier New"/>
              </a:rPr>
              <a:t>(Context context)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if</a:t>
            </a:r>
            <a:r>
              <a:rPr lang="en" sz="1100">
                <a:solidFill>
                  <a:srgbClr val="A9B7C6"/>
                </a:solidFill>
                <a:highlight>
                  <a:srgbClr val="2B2B2B"/>
                </a:highlight>
                <a:latin typeface="Courier New"/>
                <a:ea typeface="Courier New"/>
                <a:cs typeface="Courier New"/>
                <a:sym typeface="Courier New"/>
              </a:rPr>
              <a:t>(</a:t>
            </a:r>
            <a:r>
              <a:rPr i="1" lang="en" sz="1100">
                <a:solidFill>
                  <a:srgbClr val="9876AA"/>
                </a:solidFill>
                <a:highlight>
                  <a:srgbClr val="2B2B2B"/>
                </a:highlight>
                <a:latin typeface="Courier New"/>
                <a:ea typeface="Courier New"/>
                <a:cs typeface="Courier New"/>
                <a:sym typeface="Courier New"/>
              </a:rPr>
              <a:t>dbInstance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null</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i="1" lang="en" sz="1100">
                <a:solidFill>
                  <a:srgbClr val="9876AA"/>
                </a:solidFill>
                <a:highlight>
                  <a:srgbClr val="2B2B2B"/>
                </a:highlight>
                <a:latin typeface="Courier New"/>
                <a:ea typeface="Courier New"/>
                <a:cs typeface="Courier New"/>
                <a:sym typeface="Courier New"/>
              </a:rPr>
              <a:t>dbInstance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DB(context.getApplicationContext())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return </a:t>
            </a:r>
            <a:r>
              <a:rPr i="1" lang="en" sz="1100">
                <a:solidFill>
                  <a:srgbClr val="9876AA"/>
                </a:solidFill>
                <a:highlight>
                  <a:srgbClr val="2B2B2B"/>
                </a:highlight>
                <a:latin typeface="Courier New"/>
                <a:ea typeface="Courier New"/>
                <a:cs typeface="Courier New"/>
                <a:sym typeface="Courier New"/>
              </a:rPr>
              <a:t>dbInstance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376" name="Google Shape;37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Singleton DB Class</a:t>
            </a:r>
            <a:endParaRPr>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Synchronized </a:t>
            </a:r>
            <a:endParaRPr/>
          </a:p>
        </p:txBody>
      </p:sp>
      <p:sp>
        <p:nvSpPr>
          <p:cNvPr id="382" name="Google Shape;38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Synchronization in java is the capability to control the access of multiple threads to any shared resource. In the Multithreading concept, multiple threads try to access the shared resources at a time to produce inconsistent results. The synchronization is necessary for reliable communication between threads.</a:t>
            </a:r>
            <a:endParaRPr/>
          </a:p>
          <a:p>
            <a:pPr indent="0" lvl="0" marL="0" rtl="0" algn="l">
              <a:spcBef>
                <a:spcPts val="1200"/>
              </a:spcBef>
              <a:spcAft>
                <a:spcPts val="0"/>
              </a:spcAft>
              <a:buClr>
                <a:schemeClr val="dk1"/>
              </a:buClr>
              <a:buSzPts val="1100"/>
              <a:buFont typeface="Arial"/>
              <a:buNone/>
            </a:pPr>
            <a:r>
              <a:rPr lang="en"/>
              <a:t>Why we use Synchronization</a:t>
            </a:r>
            <a:endParaRPr/>
          </a:p>
          <a:p>
            <a:pPr indent="-342900" lvl="0" marL="457200" rtl="0" algn="l">
              <a:spcBef>
                <a:spcPts val="1200"/>
              </a:spcBef>
              <a:spcAft>
                <a:spcPts val="0"/>
              </a:spcAft>
              <a:buSzPts val="1800"/>
              <a:buChar char="●"/>
            </a:pPr>
            <a:r>
              <a:rPr lang="en"/>
              <a:t>Synchronization helps in preventing thread interference.</a:t>
            </a:r>
            <a:endParaRPr/>
          </a:p>
          <a:p>
            <a:pPr indent="-342900" lvl="0" marL="457200" rtl="0" algn="l">
              <a:spcBef>
                <a:spcPts val="0"/>
              </a:spcBef>
              <a:spcAft>
                <a:spcPts val="0"/>
              </a:spcAft>
              <a:buSzPts val="1800"/>
              <a:buChar char="●"/>
            </a:pPr>
            <a:r>
              <a:rPr lang="en"/>
              <a:t>Synchronization helps to prevent concurrency problems.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386" name="Shape 386"/>
        <p:cNvGrpSpPr/>
        <p:nvPr/>
      </p:nvGrpSpPr>
      <p:grpSpPr>
        <a:xfrm>
          <a:off x="0" y="0"/>
          <a:ext cx="0" cy="0"/>
          <a:chOff x="0" y="0"/>
          <a:chExt cx="0" cy="0"/>
        </a:xfrm>
      </p:grpSpPr>
      <p:sp>
        <p:nvSpPr>
          <p:cNvPr id="387" name="Google Shape;387;p52"/>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100">
                <a:solidFill>
                  <a:srgbClr val="CC7832"/>
                </a:solidFill>
                <a:highlight>
                  <a:srgbClr val="2B2B2B"/>
                </a:highlight>
                <a:latin typeface="Courier New"/>
                <a:ea typeface="Courier New"/>
                <a:cs typeface="Courier New"/>
                <a:sym typeface="Courier New"/>
              </a:rPr>
              <a:t>public class </a:t>
            </a:r>
            <a:r>
              <a:rPr lang="en" sz="1100">
                <a:solidFill>
                  <a:srgbClr val="A9B7C6"/>
                </a:solidFill>
                <a:highlight>
                  <a:srgbClr val="2B2B2B"/>
                </a:highlight>
                <a:latin typeface="Courier New"/>
                <a:ea typeface="Courier New"/>
                <a:cs typeface="Courier New"/>
                <a:sym typeface="Courier New"/>
              </a:rPr>
              <a:t>DB </a:t>
            </a:r>
            <a:r>
              <a:rPr lang="en" sz="1100">
                <a:solidFill>
                  <a:srgbClr val="CC7832"/>
                </a:solidFill>
                <a:highlight>
                  <a:srgbClr val="2B2B2B"/>
                </a:highlight>
                <a:latin typeface="Courier New"/>
                <a:ea typeface="Courier New"/>
                <a:cs typeface="Courier New"/>
                <a:sym typeface="Courier New"/>
              </a:rPr>
              <a:t>extends </a:t>
            </a:r>
            <a:r>
              <a:rPr lang="en" sz="1100">
                <a:solidFill>
                  <a:srgbClr val="A9B7C6"/>
                </a:solidFill>
                <a:highlight>
                  <a:srgbClr val="2B2B2B"/>
                </a:highlight>
                <a:latin typeface="Courier New"/>
                <a:ea typeface="Courier New"/>
                <a:cs typeface="Courier New"/>
                <a:sym typeface="Courier New"/>
              </a:rPr>
              <a:t>SQLiteOpenHelper {</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final static </a:t>
            </a:r>
            <a:r>
              <a:rPr lang="en" sz="1100">
                <a:solidFill>
                  <a:srgbClr val="A9B7C6"/>
                </a:solidFill>
                <a:highlight>
                  <a:srgbClr val="2B2B2B"/>
                </a:highlight>
                <a:latin typeface="Courier New"/>
                <a:ea typeface="Courier New"/>
                <a:cs typeface="Courier New"/>
                <a:sym typeface="Courier New"/>
              </a:rPr>
              <a:t>String </a:t>
            </a:r>
            <a:r>
              <a:rPr i="1" lang="en" sz="1100">
                <a:solidFill>
                  <a:srgbClr val="9876AA"/>
                </a:solidFill>
                <a:highlight>
                  <a:srgbClr val="2B2B2B"/>
                </a:highlight>
                <a:latin typeface="Courier New"/>
                <a:ea typeface="Courier New"/>
                <a:cs typeface="Courier New"/>
                <a:sym typeface="Courier New"/>
              </a:rPr>
              <a:t>databaseName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"PersonDB"</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final static int </a:t>
            </a:r>
            <a:r>
              <a:rPr i="1" lang="en" sz="1100">
                <a:solidFill>
                  <a:srgbClr val="9876AA"/>
                </a:solidFill>
                <a:highlight>
                  <a:srgbClr val="2B2B2B"/>
                </a:highlight>
                <a:latin typeface="Courier New"/>
                <a:ea typeface="Courier New"/>
                <a:cs typeface="Courier New"/>
                <a:sym typeface="Courier New"/>
              </a:rPr>
              <a:t>databaseVersion </a:t>
            </a:r>
            <a:r>
              <a:rPr lang="en" sz="1100">
                <a:solidFill>
                  <a:srgbClr val="A9B7C6"/>
                </a:solidFill>
                <a:highlight>
                  <a:srgbClr val="2B2B2B"/>
                </a:highlight>
                <a:latin typeface="Courier New"/>
                <a:ea typeface="Courier New"/>
                <a:cs typeface="Courier New"/>
                <a:sym typeface="Courier New"/>
              </a:rPr>
              <a:t>= </a:t>
            </a:r>
            <a:r>
              <a:rPr lang="en" sz="1100">
                <a:solidFill>
                  <a:srgbClr val="6897BB"/>
                </a:solidFill>
                <a:highlight>
                  <a:srgbClr val="2B2B2B"/>
                </a:highlight>
                <a:latin typeface="Courier New"/>
                <a:ea typeface="Courier New"/>
                <a:cs typeface="Courier New"/>
                <a:sym typeface="Courier New"/>
              </a:rPr>
              <a:t>1</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a:t>
            </a:r>
            <a:r>
              <a:rPr lang="en" sz="1100">
                <a:solidFill>
                  <a:srgbClr val="A9B7C6"/>
                </a:solidFill>
                <a:highlight>
                  <a:srgbClr val="2B2B2B"/>
                </a:highlight>
                <a:latin typeface="Courier New"/>
                <a:ea typeface="Courier New"/>
                <a:cs typeface="Courier New"/>
                <a:sym typeface="Courier New"/>
              </a:rPr>
              <a:t>String </a:t>
            </a:r>
            <a:r>
              <a:rPr lang="en" sz="1100">
                <a:solidFill>
                  <a:srgbClr val="9876AA"/>
                </a:solidFill>
                <a:highlight>
                  <a:srgbClr val="2B2B2B"/>
                </a:highlight>
                <a:latin typeface="Courier New"/>
                <a:ea typeface="Courier New"/>
                <a:cs typeface="Courier New"/>
                <a:sym typeface="Courier New"/>
              </a:rPr>
              <a:t>PERSON_TABLE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Persons</a:t>
            </a:r>
            <a:r>
              <a:rPr lang="en" sz="1100">
                <a:solidFill>
                  <a:srgbClr val="6A8759"/>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static </a:t>
            </a:r>
            <a:r>
              <a:rPr lang="en" sz="1100">
                <a:solidFill>
                  <a:srgbClr val="A9B7C6"/>
                </a:solidFill>
                <a:highlight>
                  <a:srgbClr val="2B2B2B"/>
                </a:highlight>
                <a:latin typeface="Courier New"/>
                <a:ea typeface="Courier New"/>
                <a:cs typeface="Courier New"/>
                <a:sym typeface="Courier New"/>
              </a:rPr>
              <a:t>DB </a:t>
            </a:r>
            <a:r>
              <a:rPr i="1" lang="en" sz="1100">
                <a:solidFill>
                  <a:srgbClr val="9876AA"/>
                </a:solidFill>
                <a:highlight>
                  <a:srgbClr val="2B2B2B"/>
                </a:highlight>
                <a:latin typeface="Courier New"/>
                <a:ea typeface="Courier New"/>
                <a:cs typeface="Courier New"/>
                <a:sym typeface="Courier New"/>
              </a:rPr>
              <a:t>dbInstance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null;</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public synchronized static </a:t>
            </a:r>
            <a:r>
              <a:rPr lang="en" sz="1100">
                <a:solidFill>
                  <a:srgbClr val="A9B7C6"/>
                </a:solidFill>
                <a:highlight>
                  <a:srgbClr val="2B2B2B"/>
                </a:highlight>
                <a:latin typeface="Courier New"/>
                <a:ea typeface="Courier New"/>
                <a:cs typeface="Courier New"/>
                <a:sym typeface="Courier New"/>
              </a:rPr>
              <a:t>DB </a:t>
            </a:r>
            <a:r>
              <a:rPr lang="en" sz="1100">
                <a:solidFill>
                  <a:srgbClr val="FFC66D"/>
                </a:solidFill>
                <a:highlight>
                  <a:srgbClr val="2B2B2B"/>
                </a:highlight>
                <a:latin typeface="Courier New"/>
                <a:ea typeface="Courier New"/>
                <a:cs typeface="Courier New"/>
                <a:sym typeface="Courier New"/>
              </a:rPr>
              <a:t>getInstance</a:t>
            </a:r>
            <a:r>
              <a:rPr lang="en" sz="1100">
                <a:solidFill>
                  <a:srgbClr val="A9B7C6"/>
                </a:solidFill>
                <a:highlight>
                  <a:srgbClr val="2B2B2B"/>
                </a:highlight>
                <a:latin typeface="Courier New"/>
                <a:ea typeface="Courier New"/>
                <a:cs typeface="Courier New"/>
                <a:sym typeface="Courier New"/>
              </a:rPr>
              <a:t>(Context context)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if</a:t>
            </a:r>
            <a:r>
              <a:rPr lang="en" sz="1100">
                <a:solidFill>
                  <a:srgbClr val="A9B7C6"/>
                </a:solidFill>
                <a:highlight>
                  <a:srgbClr val="2B2B2B"/>
                </a:highlight>
                <a:latin typeface="Courier New"/>
                <a:ea typeface="Courier New"/>
                <a:cs typeface="Courier New"/>
                <a:sym typeface="Courier New"/>
              </a:rPr>
              <a:t>(</a:t>
            </a:r>
            <a:r>
              <a:rPr i="1" lang="en" sz="1100">
                <a:solidFill>
                  <a:srgbClr val="9876AA"/>
                </a:solidFill>
                <a:highlight>
                  <a:srgbClr val="2B2B2B"/>
                </a:highlight>
                <a:latin typeface="Courier New"/>
                <a:ea typeface="Courier New"/>
                <a:cs typeface="Courier New"/>
                <a:sym typeface="Courier New"/>
              </a:rPr>
              <a:t>dbInstance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null</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i="1" lang="en" sz="1100">
                <a:solidFill>
                  <a:srgbClr val="9876AA"/>
                </a:solidFill>
                <a:highlight>
                  <a:srgbClr val="2B2B2B"/>
                </a:highlight>
                <a:latin typeface="Courier New"/>
                <a:ea typeface="Courier New"/>
                <a:cs typeface="Courier New"/>
                <a:sym typeface="Courier New"/>
              </a:rPr>
              <a:t>dbInstance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DB(context.getApplicationContext())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return </a:t>
            </a:r>
            <a:r>
              <a:rPr i="1" lang="en" sz="1100">
                <a:solidFill>
                  <a:srgbClr val="9876AA"/>
                </a:solidFill>
                <a:highlight>
                  <a:srgbClr val="2B2B2B"/>
                </a:highlight>
                <a:latin typeface="Courier New"/>
                <a:ea typeface="Courier New"/>
                <a:cs typeface="Courier New"/>
                <a:sym typeface="Courier New"/>
              </a:rPr>
              <a:t>dbInstance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None/>
            </a:pP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public </a:t>
            </a:r>
            <a:r>
              <a:rPr lang="en" sz="1100">
                <a:solidFill>
                  <a:srgbClr val="FFC66D"/>
                </a:solidFill>
                <a:highlight>
                  <a:srgbClr val="2B2B2B"/>
                </a:highlight>
                <a:latin typeface="Courier New"/>
                <a:ea typeface="Courier New"/>
                <a:cs typeface="Courier New"/>
                <a:sym typeface="Courier New"/>
              </a:rPr>
              <a:t>DB</a:t>
            </a:r>
            <a:r>
              <a:rPr lang="en" sz="1100">
                <a:solidFill>
                  <a:srgbClr val="A9B7C6"/>
                </a:solidFill>
                <a:highlight>
                  <a:srgbClr val="2B2B2B"/>
                </a:highlight>
                <a:latin typeface="Courier New"/>
                <a:ea typeface="Courier New"/>
                <a:cs typeface="Courier New"/>
                <a:sym typeface="Courier New"/>
              </a:rPr>
              <a:t>(Context context)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super</a:t>
            </a:r>
            <a:r>
              <a:rPr lang="en" sz="1100">
                <a:solidFill>
                  <a:srgbClr val="A9B7C6"/>
                </a:solidFill>
                <a:highlight>
                  <a:srgbClr val="2B2B2B"/>
                </a:highlight>
                <a:latin typeface="Courier New"/>
                <a:ea typeface="Courier New"/>
                <a:cs typeface="Courier New"/>
                <a:sym typeface="Courier New"/>
              </a:rPr>
              <a:t>(context</a:t>
            </a:r>
            <a:r>
              <a:rPr lang="en" sz="1100">
                <a:solidFill>
                  <a:srgbClr val="CC7832"/>
                </a:solidFill>
                <a:highlight>
                  <a:srgbClr val="2B2B2B"/>
                </a:highlight>
                <a:latin typeface="Courier New"/>
                <a:ea typeface="Courier New"/>
                <a:cs typeface="Courier New"/>
                <a:sym typeface="Courier New"/>
              </a:rPr>
              <a:t>,</a:t>
            </a:r>
            <a:r>
              <a:rPr i="1" lang="en" sz="1100">
                <a:solidFill>
                  <a:srgbClr val="9876AA"/>
                </a:solidFill>
                <a:highlight>
                  <a:srgbClr val="2B2B2B"/>
                </a:highlight>
                <a:latin typeface="Courier New"/>
                <a:ea typeface="Courier New"/>
                <a:cs typeface="Courier New"/>
                <a:sym typeface="Courier New"/>
              </a:rPr>
              <a:t>databaseName</a:t>
            </a:r>
            <a:r>
              <a:rPr lang="en" sz="1100">
                <a:solidFill>
                  <a:srgbClr val="CC7832"/>
                </a:solidFill>
                <a:highlight>
                  <a:srgbClr val="2B2B2B"/>
                </a:highlight>
                <a:latin typeface="Courier New"/>
                <a:ea typeface="Courier New"/>
                <a:cs typeface="Courier New"/>
                <a:sym typeface="Courier New"/>
              </a:rPr>
              <a:t>,null,</a:t>
            </a:r>
            <a:r>
              <a:rPr i="1" lang="en" sz="1100">
                <a:solidFill>
                  <a:srgbClr val="9876AA"/>
                </a:solidFill>
                <a:highlight>
                  <a:srgbClr val="2B2B2B"/>
                </a:highlight>
                <a:latin typeface="Courier New"/>
                <a:ea typeface="Courier New"/>
                <a:cs typeface="Courier New"/>
                <a:sym typeface="Courier New"/>
              </a:rPr>
              <a:t>databaseVersion</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p:txBody>
      </p:sp>
      <p:sp>
        <p:nvSpPr>
          <p:cNvPr id="388" name="Google Shape;38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SQLiteOpenHelper</a:t>
            </a:r>
            <a:endParaRPr>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onCreate</a:t>
            </a:r>
            <a:endParaRPr/>
          </a:p>
        </p:txBody>
      </p:sp>
      <p:sp>
        <p:nvSpPr>
          <p:cNvPr id="394" name="Google Shape;39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250">
                <a:highlight>
                  <a:srgbClr val="FFFFFF"/>
                </a:highlight>
                <a:latin typeface="Roboto"/>
                <a:ea typeface="Roboto"/>
                <a:cs typeface="Roboto"/>
                <a:sym typeface="Roboto"/>
              </a:rPr>
              <a:t>Called when the database is created for the first time. This is where the creation of tables and the initial population of the tables should happen.</a:t>
            </a:r>
            <a:br>
              <a:rPr lang="en" sz="1250">
                <a:highlight>
                  <a:srgbClr val="FFFFFF"/>
                </a:highlight>
                <a:latin typeface="Roboto"/>
                <a:ea typeface="Roboto"/>
                <a:cs typeface="Roboto"/>
                <a:sym typeface="Roboto"/>
              </a:rPr>
            </a:br>
            <a:br>
              <a:rPr lang="en" sz="1250">
                <a:highlight>
                  <a:srgbClr val="FFFFFF"/>
                </a:highlight>
                <a:latin typeface="Roboto"/>
                <a:ea typeface="Roboto"/>
                <a:cs typeface="Roboto"/>
                <a:sym typeface="Roboto"/>
              </a:rPr>
            </a:br>
            <a:r>
              <a:rPr lang="en" sz="1250">
                <a:highlight>
                  <a:srgbClr val="FFFFFF"/>
                </a:highlight>
              </a:rPr>
              <a:t>public abstract void onCreate (</a:t>
            </a:r>
            <a:r>
              <a:rPr b="1" lang="en" sz="1250" u="sng">
                <a:highlight>
                  <a:srgbClr val="FFFFFF"/>
                </a:highlight>
                <a:hlinkClick r:id="rId3"/>
              </a:rPr>
              <a:t>SQLiteDatabase</a:t>
            </a:r>
            <a:r>
              <a:rPr lang="en" sz="1250">
                <a:highlight>
                  <a:srgbClr val="FFFFFF"/>
                </a:highlight>
              </a:rPr>
              <a:t> db)</a:t>
            </a:r>
            <a:endParaRPr sz="1250">
              <a:highlight>
                <a:srgbClr val="FFFFFF"/>
              </a:highlight>
              <a:latin typeface="Roboto"/>
              <a:ea typeface="Roboto"/>
              <a:cs typeface="Roboto"/>
              <a:sym typeface="Roboto"/>
            </a:endParaRPr>
          </a:p>
          <a:p>
            <a:pPr indent="0" lvl="0" marL="0" rtl="0" algn="l">
              <a:spcBef>
                <a:spcPts val="1200"/>
              </a:spcBef>
              <a:spcAft>
                <a:spcPts val="0"/>
              </a:spcAft>
              <a:buNone/>
            </a:pPr>
            <a:r>
              <a:t/>
            </a:r>
            <a:endParaRPr sz="1250">
              <a:highlight>
                <a:srgbClr val="FFFFFF"/>
              </a:highlight>
              <a:latin typeface="Roboto"/>
              <a:ea typeface="Roboto"/>
              <a:cs typeface="Roboto"/>
              <a:sym typeface="Roboto"/>
            </a:endParaRPr>
          </a:p>
          <a:p>
            <a:pPr indent="0" lvl="0" marL="0" rtl="0" algn="l">
              <a:spcBef>
                <a:spcPts val="1200"/>
              </a:spcBef>
              <a:spcAft>
                <a:spcPts val="0"/>
              </a:spcAft>
              <a:buNone/>
            </a:pPr>
            <a:r>
              <a:t/>
            </a:r>
            <a:endParaRPr sz="1250">
              <a:highlight>
                <a:srgbClr val="FFFFFF"/>
              </a:highlight>
              <a:latin typeface="Roboto"/>
              <a:ea typeface="Roboto"/>
              <a:cs typeface="Roboto"/>
              <a:sym typeface="Roboto"/>
            </a:endParaRPr>
          </a:p>
          <a:p>
            <a:pPr indent="0" lvl="0" marL="0" rtl="0" algn="l">
              <a:spcBef>
                <a:spcPts val="1200"/>
              </a:spcBef>
              <a:spcAft>
                <a:spcPts val="0"/>
              </a:spcAft>
              <a:buNone/>
            </a:pPr>
            <a:r>
              <a:t/>
            </a:r>
            <a:endParaRPr sz="1250">
              <a:highlight>
                <a:srgbClr val="FFFFFF"/>
              </a:highlight>
              <a:latin typeface="Roboto"/>
              <a:ea typeface="Roboto"/>
              <a:cs typeface="Roboto"/>
              <a:sym typeface="Roboto"/>
            </a:endParaRPr>
          </a:p>
          <a:p>
            <a:pPr indent="0" lvl="0" marL="0" rtl="0" algn="l">
              <a:spcBef>
                <a:spcPts val="1200"/>
              </a:spcBef>
              <a:spcAft>
                <a:spcPts val="0"/>
              </a:spcAft>
              <a:buNone/>
            </a:pPr>
            <a:r>
              <a:t/>
            </a:r>
            <a:endParaRPr>
              <a:highlight>
                <a:srgbClr val="FFFFFF"/>
              </a:highlight>
              <a:latin typeface="Roboto"/>
              <a:ea typeface="Roboto"/>
              <a:cs typeface="Roboto"/>
              <a:sym typeface="Roboto"/>
            </a:endParaRPr>
          </a:p>
          <a:p>
            <a:pPr indent="0" lvl="0" marL="0" rtl="0" algn="l">
              <a:spcBef>
                <a:spcPts val="1200"/>
              </a:spcBef>
              <a:spcAft>
                <a:spcPts val="1200"/>
              </a:spcAft>
              <a:buNone/>
            </a:pPr>
            <a:r>
              <a:rPr lang="en" u="sng">
                <a:solidFill>
                  <a:schemeClr val="hlink"/>
                </a:solidFill>
                <a:highlight>
                  <a:srgbClr val="FFFFFF"/>
                </a:highlight>
                <a:latin typeface="Roboto"/>
                <a:ea typeface="Roboto"/>
                <a:cs typeface="Roboto"/>
                <a:sym typeface="Roboto"/>
                <a:hlinkClick r:id="rId4"/>
              </a:rPr>
              <a:t>SQLiteOpenHelper | Android Developers</a:t>
            </a:r>
            <a:r>
              <a:rPr lang="en">
                <a:highlight>
                  <a:srgbClr val="FFFFFF"/>
                </a:highlight>
                <a:latin typeface="Roboto"/>
                <a:ea typeface="Roboto"/>
                <a:cs typeface="Roboto"/>
                <a:sym typeface="Roboto"/>
              </a:rPr>
              <a:t> </a:t>
            </a:r>
            <a:endParaRPr>
              <a:highlight>
                <a:srgbClr val="FFFFFF"/>
              </a:highlight>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398" name="Shape 398"/>
        <p:cNvGrpSpPr/>
        <p:nvPr/>
      </p:nvGrpSpPr>
      <p:grpSpPr>
        <a:xfrm>
          <a:off x="0" y="0"/>
          <a:ext cx="0" cy="0"/>
          <a:chOff x="0" y="0"/>
          <a:chExt cx="0" cy="0"/>
        </a:xfrm>
      </p:grpSpPr>
      <p:sp>
        <p:nvSpPr>
          <p:cNvPr id="399" name="Google Shape;399;p5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rgbClr val="BBB529"/>
                </a:solidFill>
                <a:highlight>
                  <a:srgbClr val="2B2B2B"/>
                </a:highlight>
                <a:latin typeface="Courier New"/>
                <a:ea typeface="Courier New"/>
                <a:cs typeface="Courier New"/>
                <a:sym typeface="Courier New"/>
              </a:rPr>
              <a:t>@Override</a:t>
            </a:r>
            <a:br>
              <a:rPr lang="en" sz="1100">
                <a:solidFill>
                  <a:srgbClr val="BBB529"/>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onCreate</a:t>
            </a:r>
            <a:r>
              <a:rPr lang="en" sz="1100">
                <a:solidFill>
                  <a:srgbClr val="A9B7C6"/>
                </a:solidFill>
                <a:highlight>
                  <a:srgbClr val="2B2B2B"/>
                </a:highlight>
                <a:latin typeface="Courier New"/>
                <a:ea typeface="Courier New"/>
                <a:cs typeface="Courier New"/>
                <a:sym typeface="Courier New"/>
              </a:rPr>
              <a:t>(SQLiteDatabase sqLiteDatabase)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String createQuery =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CREATE TABLE </a:t>
            </a: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9876AA"/>
                </a:solidFill>
                <a:highlight>
                  <a:srgbClr val="2B2B2B"/>
                </a:highlight>
                <a:latin typeface="Courier New"/>
                <a:ea typeface="Courier New"/>
                <a:cs typeface="Courier New"/>
                <a:sym typeface="Courier New"/>
              </a:rPr>
              <a:t>PERSON_TABLE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userID INTEGER PRIMARY KEY AUTOINCREMENT,</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name TEXT,</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surname TEXT,</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phoneNumber TEXT,</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company TEXT,</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email TEXT</a:t>
            </a:r>
            <a:r>
              <a:rPr lang="en" sz="1100">
                <a:solidFill>
                  <a:srgbClr val="6A8759"/>
                </a:solidFill>
                <a:highlight>
                  <a:srgbClr val="2B2B2B"/>
                </a:highlight>
                <a:latin typeface="Courier New"/>
                <a:ea typeface="Courier New"/>
                <a:cs typeface="Courier New"/>
                <a:sym typeface="Courier New"/>
              </a:rPr>
              <a:t>"</a:t>
            </a:r>
            <a:br>
              <a:rPr lang="en" sz="1100">
                <a:solidFill>
                  <a:srgbClr val="6A8759"/>
                </a:solidFill>
                <a:highlight>
                  <a:srgbClr val="2B2B2B"/>
                </a:highlight>
                <a:latin typeface="Courier New"/>
                <a:ea typeface="Courier New"/>
                <a:cs typeface="Courier New"/>
                <a:sym typeface="Courier New"/>
              </a:rPr>
            </a:br>
            <a:r>
              <a:rPr lang="en" sz="1100">
                <a:solidFill>
                  <a:srgbClr val="6A8759"/>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sqLiteDatabase.execSQL(createQuery)</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400" name="Google Shape;40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Create DB</a:t>
            </a:r>
            <a:endParaRPr>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onUpgrade</a:t>
            </a:r>
            <a:endParaRPr/>
          </a:p>
        </p:txBody>
      </p:sp>
      <p:sp>
        <p:nvSpPr>
          <p:cNvPr id="406" name="Google Shape;406;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55000"/>
              <a:buFont typeface="Arial"/>
              <a:buNone/>
            </a:pPr>
            <a:r>
              <a:rPr lang="en" sz="2000"/>
              <a:t>Called when the database needs to be upgraded. The implementation should use this method to drop tables, add tables, or do anything else it needs to upgrade to the new schema version.</a:t>
            </a:r>
            <a:br>
              <a:rPr lang="en" sz="2000"/>
            </a:br>
            <a:br>
              <a:rPr lang="en" sz="2000"/>
            </a:br>
            <a:r>
              <a:rPr lang="en" sz="2000"/>
              <a:t>If you add new columns you can use ALTER TABLE to insert them into a live table. If you rename or remove columns you can use ALTER TABLE to rename the old table, then create the new table and then populate the new table with the contents of the old table.</a:t>
            </a:r>
            <a:br>
              <a:rPr lang="en" sz="2000"/>
            </a:br>
            <a:br>
              <a:rPr lang="en" sz="2000"/>
            </a:br>
            <a:r>
              <a:rPr lang="en" sz="2000"/>
              <a:t>This method executes within a transaction. If an exception is thrown, all changes will automatically be rolled back.</a:t>
            </a:r>
            <a:endParaRPr sz="2000"/>
          </a:p>
          <a:p>
            <a:pPr indent="0" lvl="0" marL="0" rtl="0" algn="l">
              <a:spcBef>
                <a:spcPts val="1200"/>
              </a:spcBef>
              <a:spcAft>
                <a:spcPts val="0"/>
              </a:spcAft>
              <a:buNone/>
            </a:pPr>
            <a:r>
              <a:rPr lang="en" sz="2000">
                <a:highlight>
                  <a:srgbClr val="FFFFFF"/>
                </a:highlight>
              </a:rPr>
              <a:t>public abstract void onUpgrade (</a:t>
            </a:r>
            <a:r>
              <a:rPr b="1" lang="en" sz="2000" u="sng">
                <a:highlight>
                  <a:srgbClr val="FFFFFF"/>
                </a:highlight>
                <a:hlinkClick r:id="rId3"/>
              </a:rPr>
              <a:t>SQLiteDatabase</a:t>
            </a:r>
            <a:r>
              <a:rPr lang="en" sz="2000">
                <a:highlight>
                  <a:srgbClr val="FFFFFF"/>
                </a:highlight>
              </a:rPr>
              <a:t> db, </a:t>
            </a:r>
            <a:br>
              <a:rPr lang="en" sz="2000">
                <a:highlight>
                  <a:srgbClr val="FFFFFF"/>
                </a:highlight>
              </a:rPr>
            </a:br>
            <a:r>
              <a:rPr lang="en" sz="2000">
                <a:highlight>
                  <a:srgbClr val="FFFFFF"/>
                </a:highlight>
              </a:rPr>
              <a:t>                int oldVersion, </a:t>
            </a:r>
            <a:br>
              <a:rPr lang="en" sz="2000">
                <a:highlight>
                  <a:srgbClr val="FFFFFF"/>
                </a:highlight>
              </a:rPr>
            </a:br>
            <a:r>
              <a:rPr lang="en" sz="2000">
                <a:highlight>
                  <a:srgbClr val="FFFFFF"/>
                </a:highlight>
              </a:rPr>
              <a:t>                int newVersion)</a:t>
            </a:r>
            <a:endParaRPr sz="2000"/>
          </a:p>
          <a:p>
            <a:pPr indent="0" lvl="0" marL="0" rtl="0" algn="l">
              <a:spcBef>
                <a:spcPts val="1200"/>
              </a:spcBef>
              <a:spcAft>
                <a:spcPts val="1200"/>
              </a:spcAft>
              <a:buNone/>
            </a:pPr>
            <a:r>
              <a:rPr lang="en" u="sng">
                <a:solidFill>
                  <a:schemeClr val="hlink"/>
                </a:solidFill>
                <a:hlinkClick r:id="rId4"/>
              </a:rPr>
              <a:t>SQLiteOpenHelper | Android Developers</a:t>
            </a:r>
            <a:r>
              <a:rPr lang="en"/>
              <a:t>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410" name="Shape 410"/>
        <p:cNvGrpSpPr/>
        <p:nvPr/>
      </p:nvGrpSpPr>
      <p:grpSpPr>
        <a:xfrm>
          <a:off x="0" y="0"/>
          <a:ext cx="0" cy="0"/>
          <a:chOff x="0" y="0"/>
          <a:chExt cx="0" cy="0"/>
        </a:xfrm>
      </p:grpSpPr>
      <p:sp>
        <p:nvSpPr>
          <p:cNvPr id="411" name="Google Shape;411;p56"/>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rgbClr val="BBB529"/>
                </a:solidFill>
                <a:highlight>
                  <a:srgbClr val="2B2B2B"/>
                </a:highlight>
                <a:latin typeface="Courier New"/>
                <a:ea typeface="Courier New"/>
                <a:cs typeface="Courier New"/>
                <a:sym typeface="Courier New"/>
              </a:rPr>
              <a:t>@Override</a:t>
            </a:r>
            <a:br>
              <a:rPr lang="en" sz="1100">
                <a:solidFill>
                  <a:srgbClr val="BBB529"/>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onUpgrade</a:t>
            </a:r>
            <a:r>
              <a:rPr lang="en" sz="1100">
                <a:solidFill>
                  <a:srgbClr val="A9B7C6"/>
                </a:solidFill>
                <a:highlight>
                  <a:srgbClr val="2B2B2B"/>
                </a:highlight>
                <a:latin typeface="Courier New"/>
                <a:ea typeface="Courier New"/>
                <a:cs typeface="Courier New"/>
                <a:sym typeface="Courier New"/>
              </a:rPr>
              <a:t>(SQLiteDatabase sqLiteDatabase</a:t>
            </a:r>
            <a:r>
              <a:rPr lang="en" sz="1100">
                <a:solidFill>
                  <a:srgbClr val="CC7832"/>
                </a:solidFill>
                <a:highlight>
                  <a:srgbClr val="2B2B2B"/>
                </a:highlight>
                <a:latin typeface="Courier New"/>
                <a:ea typeface="Courier New"/>
                <a:cs typeface="Courier New"/>
                <a:sym typeface="Courier New"/>
              </a:rPr>
              <a:t>, int </a:t>
            </a:r>
            <a:r>
              <a:rPr lang="en" sz="1100">
                <a:solidFill>
                  <a:srgbClr val="A9B7C6"/>
                </a:solidFill>
                <a:highlight>
                  <a:srgbClr val="2B2B2B"/>
                </a:highlight>
                <a:latin typeface="Courier New"/>
                <a:ea typeface="Courier New"/>
                <a:cs typeface="Courier New"/>
                <a:sym typeface="Courier New"/>
              </a:rPr>
              <a:t>oldVersion</a:t>
            </a:r>
            <a:r>
              <a:rPr lang="en" sz="1100">
                <a:solidFill>
                  <a:srgbClr val="CC7832"/>
                </a:solidFill>
                <a:highlight>
                  <a:srgbClr val="2B2B2B"/>
                </a:highlight>
                <a:latin typeface="Courier New"/>
                <a:ea typeface="Courier New"/>
                <a:cs typeface="Courier New"/>
                <a:sym typeface="Courier New"/>
              </a:rPr>
              <a:t>, int </a:t>
            </a:r>
            <a:r>
              <a:rPr lang="en" sz="1100">
                <a:solidFill>
                  <a:srgbClr val="A9B7C6"/>
                </a:solidFill>
                <a:highlight>
                  <a:srgbClr val="2B2B2B"/>
                </a:highlight>
                <a:latin typeface="Courier New"/>
                <a:ea typeface="Courier New"/>
                <a:cs typeface="Courier New"/>
                <a:sym typeface="Courier New"/>
              </a:rPr>
              <a:t>newVersion)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sqLiteDatabase.execSQL(</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ALTER TABLE </a:t>
            </a:r>
            <a:r>
              <a:rPr lang="en" sz="1100">
                <a:solidFill>
                  <a:srgbClr val="6A8759"/>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 </a:t>
            </a:r>
            <a:r>
              <a:rPr lang="en" sz="1100">
                <a:solidFill>
                  <a:srgbClr val="9876AA"/>
                </a:solidFill>
                <a:highlight>
                  <a:srgbClr val="2B2B2B"/>
                </a:highlight>
                <a:latin typeface="Courier New"/>
                <a:ea typeface="Courier New"/>
                <a:cs typeface="Courier New"/>
                <a:sym typeface="Courier New"/>
              </a:rPr>
              <a:t>PERSON_TABLE </a:t>
            </a:r>
            <a:r>
              <a:rPr lang="en" sz="1100">
                <a:solidFill>
                  <a:srgbClr val="A9B7C6"/>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a:t>
            </a:r>
            <a:r>
              <a:rPr lang="en" sz="1100">
                <a:solidFill>
                  <a:srgbClr val="6A8759"/>
                </a:solidFill>
                <a:highlight>
                  <a:srgbClr val="364135"/>
                </a:highlight>
                <a:latin typeface="Courier New"/>
                <a:ea typeface="Courier New"/>
                <a:cs typeface="Courier New"/>
                <a:sym typeface="Courier New"/>
              </a:rPr>
              <a:t> ADD COLUMN age INTEGER</a:t>
            </a:r>
            <a:r>
              <a:rPr lang="en" sz="1100">
                <a:solidFill>
                  <a:srgbClr val="6A8759"/>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412" name="Google Shape;41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Update</a:t>
            </a:r>
            <a:r>
              <a:rPr lang="en">
                <a:solidFill>
                  <a:schemeClr val="lt1"/>
                </a:solidFill>
              </a:rPr>
              <a:t> DB</a:t>
            </a:r>
            <a:endParaRPr>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a:t>
            </a:r>
            <a:endParaRPr/>
          </a:p>
        </p:txBody>
      </p:sp>
      <p:sp>
        <p:nvSpPr>
          <p:cNvPr id="418" name="Google Shape;418;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50">
                <a:highlight>
                  <a:srgbClr val="FFFFFF"/>
                </a:highlight>
              </a:rPr>
              <a:t>public long insert (</a:t>
            </a:r>
            <a:r>
              <a:rPr b="1" lang="en" sz="1250" u="sng">
                <a:highlight>
                  <a:srgbClr val="FFFFFF"/>
                </a:highlight>
                <a:hlinkClick r:id="rId3"/>
              </a:rPr>
              <a:t>String</a:t>
            </a:r>
            <a:r>
              <a:rPr lang="en" sz="1250">
                <a:highlight>
                  <a:srgbClr val="FFFFFF"/>
                </a:highlight>
              </a:rPr>
              <a:t> table, </a:t>
            </a:r>
            <a:br>
              <a:rPr lang="en" sz="1250">
                <a:highlight>
                  <a:srgbClr val="FFFFFF"/>
                </a:highlight>
              </a:rPr>
            </a:br>
            <a:r>
              <a:rPr lang="en" sz="1250">
                <a:highlight>
                  <a:srgbClr val="FFFFFF"/>
                </a:highlight>
              </a:rPr>
              <a:t>               </a:t>
            </a:r>
            <a:r>
              <a:rPr lang="en" sz="1250">
                <a:highlight>
                  <a:srgbClr val="FFFFFF"/>
                </a:highlight>
                <a:uFill>
                  <a:noFill/>
                </a:uFill>
                <a:hlinkClick r:id="rId4"/>
              </a:rPr>
              <a:t> </a:t>
            </a:r>
            <a:r>
              <a:rPr b="1" lang="en" sz="1250" u="sng">
                <a:highlight>
                  <a:srgbClr val="FFFFFF"/>
                </a:highlight>
                <a:hlinkClick r:id="rId5"/>
              </a:rPr>
              <a:t>String</a:t>
            </a:r>
            <a:r>
              <a:rPr lang="en" sz="1250">
                <a:highlight>
                  <a:srgbClr val="FFFFFF"/>
                </a:highlight>
              </a:rPr>
              <a:t> nullColumnHack, </a:t>
            </a:r>
            <a:br>
              <a:rPr lang="en" sz="1250">
                <a:highlight>
                  <a:srgbClr val="FFFFFF"/>
                </a:highlight>
              </a:rPr>
            </a:br>
            <a:r>
              <a:rPr lang="en" sz="1250">
                <a:highlight>
                  <a:srgbClr val="FFFFFF"/>
                </a:highlight>
              </a:rPr>
              <a:t>               </a:t>
            </a:r>
            <a:r>
              <a:rPr lang="en" sz="1250">
                <a:highlight>
                  <a:srgbClr val="FFFFFF"/>
                </a:highlight>
                <a:uFill>
                  <a:noFill/>
                </a:uFill>
                <a:hlinkClick r:id="rId6"/>
              </a:rPr>
              <a:t> </a:t>
            </a:r>
            <a:r>
              <a:rPr b="1" lang="en" sz="1250" u="sng">
                <a:highlight>
                  <a:srgbClr val="FFFFFF"/>
                </a:highlight>
                <a:hlinkClick r:id="rId7"/>
              </a:rPr>
              <a:t>ContentValues</a:t>
            </a:r>
            <a:r>
              <a:rPr lang="en" sz="1250">
                <a:highlight>
                  <a:srgbClr val="FFFFFF"/>
                </a:highlight>
              </a:rPr>
              <a:t> values)</a:t>
            </a:r>
            <a:endParaRPr sz="1250">
              <a:highlight>
                <a:srgbClr val="FFFFFF"/>
              </a:highlight>
            </a:endParaRPr>
          </a:p>
          <a:p>
            <a:pPr indent="0" lvl="0" marL="0" rtl="0" algn="l">
              <a:spcBef>
                <a:spcPts val="1200"/>
              </a:spcBef>
              <a:spcAft>
                <a:spcPts val="0"/>
              </a:spcAft>
              <a:buNone/>
            </a:pPr>
            <a:r>
              <a:t/>
            </a:r>
            <a:endParaRPr sz="1250">
              <a:highlight>
                <a:srgbClr val="FFFFFF"/>
              </a:highlight>
            </a:endParaRPr>
          </a:p>
          <a:p>
            <a:pPr indent="0" lvl="0" marL="0" rtl="0" algn="l">
              <a:spcBef>
                <a:spcPts val="1200"/>
              </a:spcBef>
              <a:spcAft>
                <a:spcPts val="0"/>
              </a:spcAft>
              <a:buNone/>
            </a:pPr>
            <a:r>
              <a:t/>
            </a:r>
            <a:endParaRPr sz="1250">
              <a:highlight>
                <a:srgbClr val="FFFFFF"/>
              </a:highlight>
            </a:endParaRPr>
          </a:p>
          <a:p>
            <a:pPr indent="0" lvl="0" marL="0" rtl="0" algn="l">
              <a:spcBef>
                <a:spcPts val="1200"/>
              </a:spcBef>
              <a:spcAft>
                <a:spcPts val="1200"/>
              </a:spcAft>
              <a:buNone/>
            </a:pPr>
            <a:r>
              <a:t/>
            </a:r>
            <a:endParaRPr sz="125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 Parameters</a:t>
            </a:r>
            <a:endParaRPr/>
          </a:p>
        </p:txBody>
      </p:sp>
      <p:sp>
        <p:nvSpPr>
          <p:cNvPr id="424" name="Google Shape;424;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50">
                <a:highlight>
                  <a:srgbClr val="FFFFFF"/>
                </a:highlight>
                <a:latin typeface="Roboto"/>
                <a:ea typeface="Roboto"/>
                <a:cs typeface="Roboto"/>
                <a:sym typeface="Roboto"/>
              </a:rPr>
              <a:t>table			String:</a:t>
            </a:r>
            <a:r>
              <a:rPr lang="en" sz="1250">
                <a:highlight>
                  <a:srgbClr val="FFFFFF"/>
                </a:highlight>
                <a:latin typeface="Roboto"/>
                <a:ea typeface="Roboto"/>
                <a:cs typeface="Roboto"/>
                <a:sym typeface="Roboto"/>
              </a:rPr>
              <a:t> the table to insert the row into</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nullColumnHack 	String:</a:t>
            </a:r>
            <a:r>
              <a:rPr lang="en" sz="1250">
                <a:highlight>
                  <a:srgbClr val="FFFFFF"/>
                </a:highlight>
                <a:latin typeface="Roboto"/>
                <a:ea typeface="Roboto"/>
                <a:cs typeface="Roboto"/>
                <a:sym typeface="Roboto"/>
              </a:rPr>
              <a:t> optional; may be null. SQL doesn't allow inserting a completely empty row without naming at least one column name. If your provided values is empty, no column names are known and an empty row can't be inserted. If not set to null, the nullColumnHack parameter provides the name of nullable column name to explicitly insert a NULL into in the case where your values is empty.</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values		ContentValues:</a:t>
            </a:r>
            <a:r>
              <a:rPr lang="en" sz="1250">
                <a:highlight>
                  <a:srgbClr val="FFFFFF"/>
                </a:highlight>
                <a:latin typeface="Roboto"/>
                <a:ea typeface="Roboto"/>
                <a:cs typeface="Roboto"/>
                <a:sym typeface="Roboto"/>
              </a:rPr>
              <a:t> this map contains the initial column values for the row. The keys should be the column names and the values the column values</a:t>
            </a:r>
            <a:endParaRPr sz="1250">
              <a:highlight>
                <a:srgbClr val="FFFFFF"/>
              </a:highlight>
              <a:latin typeface="Roboto"/>
              <a:ea typeface="Roboto"/>
              <a:cs typeface="Roboto"/>
              <a:sym typeface="Roboto"/>
            </a:endParaRPr>
          </a:p>
          <a:p>
            <a:pPr indent="0" lvl="0" marL="0" rtl="0" algn="l">
              <a:spcBef>
                <a:spcPts val="0"/>
              </a:spcBef>
              <a:spcAft>
                <a:spcPts val="1200"/>
              </a:spcAft>
              <a:buNone/>
            </a:pPr>
            <a:r>
              <a:t/>
            </a:r>
            <a:endParaRPr sz="125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ContentValues </a:t>
            </a:r>
            <a:endParaRPr/>
          </a:p>
        </p:txBody>
      </p:sp>
      <p:sp>
        <p:nvSpPr>
          <p:cNvPr id="430" name="Google Shape;430;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50">
                <a:highlight>
                  <a:srgbClr val="FFFFFF"/>
                </a:highlight>
              </a:rPr>
              <a:t>A key/value store that inserts data into a row of a table. In most cases, the keys map to the column names of the table, and the values are the data to enter into the table.ContentValues values, contains the data that will be inserted into the table.</a:t>
            </a:r>
            <a:br>
              <a:rPr lang="en" sz="1250">
                <a:highlight>
                  <a:srgbClr val="FFFFFF"/>
                </a:highlight>
              </a:rPr>
            </a:br>
            <a:br>
              <a:rPr lang="en" sz="1250">
                <a:highlight>
                  <a:srgbClr val="FFFFFF"/>
                </a:highlight>
              </a:rPr>
            </a:br>
            <a:r>
              <a:rPr lang="en" sz="1250">
                <a:highlight>
                  <a:srgbClr val="FFFFFF"/>
                </a:highlight>
              </a:rPr>
              <a:t>C</a:t>
            </a:r>
            <a:r>
              <a:rPr lang="en" sz="1250">
                <a:highlight>
                  <a:srgbClr val="FFFFFF"/>
                </a:highlight>
              </a:rPr>
              <a:t>ontentValues is a maplike class that matches a value to a String key. It contains multiple overloaded put methods that enforce type safety. Here is a list of the put methods supported by ContentValues:</a:t>
            </a:r>
            <a:br>
              <a:rPr lang="en" sz="1250">
                <a:highlight>
                  <a:srgbClr val="FFFFFF"/>
                </a:highlight>
              </a:rPr>
            </a:br>
            <a:br>
              <a:rPr lang="en" sz="1250">
                <a:highlight>
                  <a:srgbClr val="FFFFFF"/>
                </a:highlight>
              </a:rPr>
            </a:br>
            <a:r>
              <a:rPr lang="en" sz="1250">
                <a:highlight>
                  <a:srgbClr val="FFFFFF"/>
                </a:highlight>
              </a:rPr>
              <a:t>void put(String key, Byte value)</a:t>
            </a:r>
            <a:br>
              <a:rPr lang="en" sz="1250">
                <a:highlight>
                  <a:srgbClr val="FFFFFF"/>
                </a:highlight>
              </a:rPr>
            </a:br>
            <a:r>
              <a:rPr lang="en" sz="1250">
                <a:highlight>
                  <a:srgbClr val="FFFFFF"/>
                </a:highlight>
              </a:rPr>
              <a:t>v</a:t>
            </a:r>
            <a:r>
              <a:rPr lang="en" sz="1250">
                <a:highlight>
                  <a:srgbClr val="FFFFFF"/>
                </a:highlight>
              </a:rPr>
              <a:t>oid put(String key, Integer value)</a:t>
            </a:r>
            <a:br>
              <a:rPr lang="en" sz="1250">
                <a:highlight>
                  <a:srgbClr val="FFFFFF"/>
                </a:highlight>
              </a:rPr>
            </a:br>
            <a:r>
              <a:rPr lang="en" sz="1250">
                <a:highlight>
                  <a:srgbClr val="FFFFFF"/>
                </a:highlight>
              </a:rPr>
              <a:t>void put(String key, Float value)</a:t>
            </a:r>
            <a:br>
              <a:rPr lang="en" sz="1250">
                <a:highlight>
                  <a:srgbClr val="FFFFFF"/>
                </a:highlight>
              </a:rPr>
            </a:br>
            <a:r>
              <a:rPr lang="en" sz="1250">
                <a:highlight>
                  <a:srgbClr val="FFFFFF"/>
                </a:highlight>
              </a:rPr>
              <a:t>void put(String key, Short value)</a:t>
            </a:r>
            <a:br>
              <a:rPr lang="en" sz="1250">
                <a:highlight>
                  <a:srgbClr val="FFFFFF"/>
                </a:highlight>
              </a:rPr>
            </a:br>
            <a:r>
              <a:rPr lang="en" sz="1250">
                <a:highlight>
                  <a:srgbClr val="FFFFFF"/>
                </a:highlight>
              </a:rPr>
              <a:t>void put(String key, byte[] value)</a:t>
            </a:r>
            <a:br>
              <a:rPr lang="en" sz="1250">
                <a:highlight>
                  <a:srgbClr val="FFFFFF"/>
                </a:highlight>
              </a:rPr>
            </a:br>
            <a:r>
              <a:rPr lang="en" sz="1250">
                <a:highlight>
                  <a:srgbClr val="FFFFFF"/>
                </a:highlight>
              </a:rPr>
              <a:t>v</a:t>
            </a:r>
            <a:r>
              <a:rPr lang="en" sz="1250">
                <a:highlight>
                  <a:srgbClr val="FFFFFF"/>
                </a:highlight>
              </a:rPr>
              <a:t>oid put(String key, String value)</a:t>
            </a:r>
            <a:br>
              <a:rPr lang="en" sz="1250">
                <a:highlight>
                  <a:srgbClr val="FFFFFF"/>
                </a:highlight>
              </a:rPr>
            </a:br>
            <a:r>
              <a:rPr lang="en" sz="1250">
                <a:highlight>
                  <a:srgbClr val="FFFFFF"/>
                </a:highlight>
              </a:rPr>
              <a:t>void put(String key, Double value)</a:t>
            </a:r>
            <a:br>
              <a:rPr lang="en" sz="1250">
                <a:highlight>
                  <a:srgbClr val="FFFFFF"/>
                </a:highlight>
              </a:rPr>
            </a:br>
            <a:r>
              <a:rPr lang="en" sz="1250">
                <a:highlight>
                  <a:srgbClr val="FFFFFF"/>
                </a:highlight>
              </a:rPr>
              <a:t>void put(String key, Long value)</a:t>
            </a:r>
            <a:br>
              <a:rPr lang="en" sz="1250">
                <a:highlight>
                  <a:srgbClr val="FFFFFF"/>
                </a:highlight>
              </a:rPr>
            </a:br>
            <a:r>
              <a:rPr lang="en" sz="1250">
                <a:highlight>
                  <a:srgbClr val="FFFFFF"/>
                </a:highlight>
              </a:rPr>
              <a:t>void put(String key, Boolean value)</a:t>
            </a:r>
            <a:endParaRPr sz="1250">
              <a:solidFill>
                <a:srgbClr val="202124"/>
              </a:solidFill>
              <a:highlight>
                <a:srgbClr val="FFFFFF"/>
              </a:highlight>
            </a:endParaRPr>
          </a:p>
          <a:p>
            <a:pPr indent="0" lvl="0" marL="0" rtl="0" algn="l">
              <a:spcBef>
                <a:spcPts val="1200"/>
              </a:spcBef>
              <a:spcAft>
                <a:spcPts val="1200"/>
              </a:spcAft>
              <a:buNone/>
            </a:pPr>
            <a:r>
              <a:rPr lang="en" sz="1250" u="sng">
                <a:solidFill>
                  <a:schemeClr val="hlink"/>
                </a:solidFill>
                <a:highlight>
                  <a:srgbClr val="FFFFFF"/>
                </a:highlight>
                <a:hlinkClick r:id="rId3"/>
              </a:rPr>
              <a:t>ContentValues | Android Developers</a:t>
            </a:r>
            <a:r>
              <a:rPr lang="en" sz="1250">
                <a:solidFill>
                  <a:srgbClr val="202124"/>
                </a:solidFill>
                <a:highlight>
                  <a:srgbClr val="FFFFFF"/>
                </a:highlight>
              </a:rPr>
              <a:t> </a:t>
            </a:r>
            <a:endParaRPr sz="1250">
              <a:solidFill>
                <a:srgbClr val="202124"/>
              </a:solidFill>
              <a:highlight>
                <a:srgbClr val="FFFFFF"/>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434" name="Shape 434"/>
        <p:cNvGrpSpPr/>
        <p:nvPr/>
      </p:nvGrpSpPr>
      <p:grpSpPr>
        <a:xfrm>
          <a:off x="0" y="0"/>
          <a:ext cx="0" cy="0"/>
          <a:chOff x="0" y="0"/>
          <a:chExt cx="0" cy="0"/>
        </a:xfrm>
      </p:grpSpPr>
      <p:sp>
        <p:nvSpPr>
          <p:cNvPr id="435" name="Google Shape;435;p6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addNewPerson</a:t>
            </a:r>
            <a:r>
              <a:rPr lang="en" sz="1100">
                <a:solidFill>
                  <a:srgbClr val="A9B7C6"/>
                </a:solidFill>
                <a:highlight>
                  <a:srgbClr val="2B2B2B"/>
                </a:highlight>
                <a:latin typeface="Courier New"/>
                <a:ea typeface="Courier New"/>
                <a:cs typeface="Courier New"/>
                <a:sym typeface="Courier New"/>
              </a:rPr>
              <a:t>(String name</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surname</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phoneNumber</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company</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email)</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SQLiteDatabase sqLiteDatabase =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.getWritableDatabase()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 contentValues =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ContentValues()</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"name"</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"surname"</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surname)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"phoneNumber"</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phoneNumber)</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"company"</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company)</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"email"</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email)</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sqLiteDatabase.insert(</a:t>
            </a:r>
            <a:r>
              <a:rPr lang="en" sz="1100">
                <a:solidFill>
                  <a:srgbClr val="9876AA"/>
                </a:solidFill>
                <a:highlight>
                  <a:srgbClr val="2B2B2B"/>
                </a:highlight>
                <a:latin typeface="Courier New"/>
                <a:ea typeface="Courier New"/>
                <a:cs typeface="Courier New"/>
                <a:sym typeface="Courier New"/>
              </a:rPr>
              <a:t>PERSON_TABLE</a:t>
            </a:r>
            <a:r>
              <a:rPr lang="en" sz="1100">
                <a:solidFill>
                  <a:srgbClr val="CC7832"/>
                </a:solidFill>
                <a:highlight>
                  <a:srgbClr val="2B2B2B"/>
                </a:highlight>
                <a:latin typeface="Courier New"/>
                <a:ea typeface="Courier New"/>
                <a:cs typeface="Courier New"/>
                <a:sym typeface="Courier New"/>
              </a:rPr>
              <a:t>,null,</a:t>
            </a:r>
            <a:r>
              <a:rPr lang="en" sz="1100">
                <a:solidFill>
                  <a:srgbClr val="A9B7C6"/>
                </a:solidFill>
                <a:highlight>
                  <a:srgbClr val="2B2B2B"/>
                </a:highlight>
                <a:latin typeface="Courier New"/>
                <a:ea typeface="Courier New"/>
                <a:cs typeface="Courier New"/>
                <a:sym typeface="Courier New"/>
              </a:rPr>
              <a:t>contentValues)</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sqLiteDatabase.close()</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436" name="Google Shape;436;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Insert</a:t>
            </a:r>
            <a:endParaRPr>
              <a:solidFill>
                <a:schemeClr val="l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Query</a:t>
            </a:r>
            <a:endParaRPr/>
          </a:p>
        </p:txBody>
      </p:sp>
      <p:sp>
        <p:nvSpPr>
          <p:cNvPr id="442" name="Google Shape;442;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50">
                <a:highlight>
                  <a:srgbClr val="FFFFFF"/>
                </a:highlight>
                <a:latin typeface="Roboto"/>
                <a:ea typeface="Roboto"/>
                <a:cs typeface="Roboto"/>
                <a:sym typeface="Roboto"/>
              </a:rPr>
              <a:t>public</a:t>
            </a:r>
            <a:r>
              <a:rPr lang="en" sz="1250">
                <a:highlight>
                  <a:srgbClr val="FFFFFF"/>
                </a:highlight>
                <a:uFill>
                  <a:noFill/>
                </a:uFill>
                <a:latin typeface="Roboto"/>
                <a:ea typeface="Roboto"/>
                <a:cs typeface="Roboto"/>
                <a:sym typeface="Roboto"/>
                <a:hlinkClick r:id="rId3"/>
              </a:rPr>
              <a:t> </a:t>
            </a:r>
            <a:r>
              <a:rPr b="1" lang="en" sz="1250" u="sng">
                <a:highlight>
                  <a:srgbClr val="FFFFFF"/>
                </a:highlight>
                <a:latin typeface="Roboto"/>
                <a:ea typeface="Roboto"/>
                <a:cs typeface="Roboto"/>
                <a:sym typeface="Roboto"/>
                <a:hlinkClick r:id="rId4"/>
              </a:rPr>
              <a:t>Cursor</a:t>
            </a:r>
            <a:r>
              <a:rPr lang="en" sz="1250">
                <a:highlight>
                  <a:srgbClr val="FFFFFF"/>
                </a:highlight>
                <a:latin typeface="Roboto"/>
                <a:ea typeface="Roboto"/>
                <a:cs typeface="Roboto"/>
                <a:sym typeface="Roboto"/>
              </a:rPr>
              <a:t> query (</a:t>
            </a:r>
            <a:br>
              <a:rPr lang="en" sz="1250">
                <a:highlight>
                  <a:srgbClr val="FFFFFF"/>
                </a:highlight>
                <a:latin typeface="Roboto"/>
                <a:ea typeface="Roboto"/>
                <a:cs typeface="Roboto"/>
                <a:sym typeface="Roboto"/>
              </a:rPr>
            </a:br>
            <a:r>
              <a:rPr b="1" lang="en" sz="1250" u="sng">
                <a:highlight>
                  <a:srgbClr val="FFFFFF"/>
                </a:highlight>
                <a:latin typeface="Roboto"/>
                <a:ea typeface="Roboto"/>
                <a:cs typeface="Roboto"/>
                <a:sym typeface="Roboto"/>
                <a:hlinkClick r:id="rId5"/>
              </a:rPr>
              <a:t>String</a:t>
            </a:r>
            <a:r>
              <a:rPr lang="en" sz="1250">
                <a:highlight>
                  <a:srgbClr val="FFFFFF"/>
                </a:highlight>
                <a:latin typeface="Roboto"/>
                <a:ea typeface="Roboto"/>
                <a:cs typeface="Roboto"/>
                <a:sym typeface="Roboto"/>
              </a:rPr>
              <a:t> table, </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               </a:t>
            </a:r>
            <a:r>
              <a:rPr lang="en" sz="1250">
                <a:highlight>
                  <a:srgbClr val="FFFFFF"/>
                </a:highlight>
                <a:uFill>
                  <a:noFill/>
                </a:uFill>
                <a:latin typeface="Roboto"/>
                <a:ea typeface="Roboto"/>
                <a:cs typeface="Roboto"/>
                <a:sym typeface="Roboto"/>
                <a:hlinkClick r:id="rId6"/>
              </a:rPr>
              <a:t> </a:t>
            </a:r>
            <a:r>
              <a:rPr b="1" lang="en" sz="1250" u="sng">
                <a:highlight>
                  <a:srgbClr val="FFFFFF"/>
                </a:highlight>
                <a:latin typeface="Roboto"/>
                <a:ea typeface="Roboto"/>
                <a:cs typeface="Roboto"/>
                <a:sym typeface="Roboto"/>
                <a:hlinkClick r:id="rId7"/>
              </a:rPr>
              <a:t>String[]</a:t>
            </a:r>
            <a:r>
              <a:rPr lang="en" sz="1250">
                <a:highlight>
                  <a:srgbClr val="FFFFFF"/>
                </a:highlight>
                <a:latin typeface="Roboto"/>
                <a:ea typeface="Roboto"/>
                <a:cs typeface="Roboto"/>
                <a:sym typeface="Roboto"/>
              </a:rPr>
              <a:t> columns, </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               </a:t>
            </a:r>
            <a:r>
              <a:rPr lang="en" sz="1250">
                <a:highlight>
                  <a:srgbClr val="FFFFFF"/>
                </a:highlight>
                <a:uFill>
                  <a:noFill/>
                </a:uFill>
                <a:latin typeface="Roboto"/>
                <a:ea typeface="Roboto"/>
                <a:cs typeface="Roboto"/>
                <a:sym typeface="Roboto"/>
                <a:hlinkClick r:id="rId8"/>
              </a:rPr>
              <a:t> </a:t>
            </a:r>
            <a:r>
              <a:rPr b="1" lang="en" sz="1250" u="sng">
                <a:highlight>
                  <a:srgbClr val="FFFFFF"/>
                </a:highlight>
                <a:latin typeface="Roboto"/>
                <a:ea typeface="Roboto"/>
                <a:cs typeface="Roboto"/>
                <a:sym typeface="Roboto"/>
                <a:hlinkClick r:id="rId9"/>
              </a:rPr>
              <a:t>String</a:t>
            </a:r>
            <a:r>
              <a:rPr lang="en" sz="1250">
                <a:highlight>
                  <a:srgbClr val="FFFFFF"/>
                </a:highlight>
                <a:latin typeface="Roboto"/>
                <a:ea typeface="Roboto"/>
                <a:cs typeface="Roboto"/>
                <a:sym typeface="Roboto"/>
              </a:rPr>
              <a:t> selection, </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               </a:t>
            </a:r>
            <a:r>
              <a:rPr lang="en" sz="1250">
                <a:highlight>
                  <a:srgbClr val="FFFFFF"/>
                </a:highlight>
                <a:uFill>
                  <a:noFill/>
                </a:uFill>
                <a:latin typeface="Roboto"/>
                <a:ea typeface="Roboto"/>
                <a:cs typeface="Roboto"/>
                <a:sym typeface="Roboto"/>
                <a:hlinkClick r:id="rId10"/>
              </a:rPr>
              <a:t> </a:t>
            </a:r>
            <a:r>
              <a:rPr b="1" lang="en" sz="1250" u="sng">
                <a:highlight>
                  <a:srgbClr val="FFFFFF"/>
                </a:highlight>
                <a:latin typeface="Roboto"/>
                <a:ea typeface="Roboto"/>
                <a:cs typeface="Roboto"/>
                <a:sym typeface="Roboto"/>
                <a:hlinkClick r:id="rId11"/>
              </a:rPr>
              <a:t>String[]</a:t>
            </a:r>
            <a:r>
              <a:rPr lang="en" sz="1250">
                <a:highlight>
                  <a:srgbClr val="FFFFFF"/>
                </a:highlight>
                <a:latin typeface="Roboto"/>
                <a:ea typeface="Roboto"/>
                <a:cs typeface="Roboto"/>
                <a:sym typeface="Roboto"/>
              </a:rPr>
              <a:t> selectionArgs, </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               </a:t>
            </a:r>
            <a:r>
              <a:rPr lang="en" sz="1250">
                <a:highlight>
                  <a:srgbClr val="FFFFFF"/>
                </a:highlight>
                <a:uFill>
                  <a:noFill/>
                </a:uFill>
                <a:latin typeface="Roboto"/>
                <a:ea typeface="Roboto"/>
                <a:cs typeface="Roboto"/>
                <a:sym typeface="Roboto"/>
                <a:hlinkClick r:id="rId12"/>
              </a:rPr>
              <a:t> </a:t>
            </a:r>
            <a:r>
              <a:rPr b="1" lang="en" sz="1250" u="sng">
                <a:highlight>
                  <a:srgbClr val="FFFFFF"/>
                </a:highlight>
                <a:latin typeface="Roboto"/>
                <a:ea typeface="Roboto"/>
                <a:cs typeface="Roboto"/>
                <a:sym typeface="Roboto"/>
                <a:hlinkClick r:id="rId13"/>
              </a:rPr>
              <a:t>String</a:t>
            </a:r>
            <a:r>
              <a:rPr lang="en" sz="1250">
                <a:highlight>
                  <a:srgbClr val="FFFFFF"/>
                </a:highlight>
                <a:latin typeface="Roboto"/>
                <a:ea typeface="Roboto"/>
                <a:cs typeface="Roboto"/>
                <a:sym typeface="Roboto"/>
              </a:rPr>
              <a:t> groupBy, </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               </a:t>
            </a:r>
            <a:r>
              <a:rPr lang="en" sz="1250">
                <a:highlight>
                  <a:srgbClr val="FFFFFF"/>
                </a:highlight>
                <a:uFill>
                  <a:noFill/>
                </a:uFill>
                <a:latin typeface="Roboto"/>
                <a:ea typeface="Roboto"/>
                <a:cs typeface="Roboto"/>
                <a:sym typeface="Roboto"/>
                <a:hlinkClick r:id="rId14"/>
              </a:rPr>
              <a:t> </a:t>
            </a:r>
            <a:r>
              <a:rPr b="1" lang="en" sz="1250" u="sng">
                <a:highlight>
                  <a:srgbClr val="FFFFFF"/>
                </a:highlight>
                <a:latin typeface="Roboto"/>
                <a:ea typeface="Roboto"/>
                <a:cs typeface="Roboto"/>
                <a:sym typeface="Roboto"/>
                <a:hlinkClick r:id="rId15"/>
              </a:rPr>
              <a:t>String</a:t>
            </a:r>
            <a:r>
              <a:rPr lang="en" sz="1250">
                <a:highlight>
                  <a:srgbClr val="FFFFFF"/>
                </a:highlight>
                <a:latin typeface="Roboto"/>
                <a:ea typeface="Roboto"/>
                <a:cs typeface="Roboto"/>
                <a:sym typeface="Roboto"/>
              </a:rPr>
              <a:t> having, </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               </a:t>
            </a:r>
            <a:r>
              <a:rPr lang="en" sz="1250">
                <a:highlight>
                  <a:srgbClr val="FFFFFF"/>
                </a:highlight>
                <a:uFill>
                  <a:noFill/>
                </a:uFill>
                <a:latin typeface="Roboto"/>
                <a:ea typeface="Roboto"/>
                <a:cs typeface="Roboto"/>
                <a:sym typeface="Roboto"/>
                <a:hlinkClick r:id="rId16"/>
              </a:rPr>
              <a:t> </a:t>
            </a:r>
            <a:r>
              <a:rPr b="1" lang="en" sz="1250" u="sng">
                <a:highlight>
                  <a:srgbClr val="FFFFFF"/>
                </a:highlight>
                <a:latin typeface="Roboto"/>
                <a:ea typeface="Roboto"/>
                <a:cs typeface="Roboto"/>
                <a:sym typeface="Roboto"/>
                <a:hlinkClick r:id="rId17"/>
              </a:rPr>
              <a:t>String</a:t>
            </a:r>
            <a:r>
              <a:rPr lang="en" sz="1250">
                <a:highlight>
                  <a:srgbClr val="FFFFFF"/>
                </a:highlight>
                <a:latin typeface="Roboto"/>
                <a:ea typeface="Roboto"/>
                <a:cs typeface="Roboto"/>
                <a:sym typeface="Roboto"/>
              </a:rPr>
              <a:t> orderBy</a:t>
            </a:r>
            <a:br>
              <a:rPr lang="en" sz="1250">
                <a:highlight>
                  <a:srgbClr val="FFFFFF"/>
                </a:highlight>
                <a:latin typeface="Roboto"/>
                <a:ea typeface="Roboto"/>
                <a:cs typeface="Roboto"/>
                <a:sym typeface="Roboto"/>
              </a:rPr>
            </a:br>
            <a:r>
              <a:rPr lang="en" sz="1250">
                <a:highlight>
                  <a:srgbClr val="FFFFFF"/>
                </a:highlight>
                <a:latin typeface="Roboto"/>
                <a:ea typeface="Roboto"/>
                <a:cs typeface="Roboto"/>
                <a:sym typeface="Roboto"/>
              </a:rPr>
              <a:t>)</a:t>
            </a:r>
            <a:endParaRPr sz="1250">
              <a:highlight>
                <a:srgbClr val="FFFFFF"/>
              </a:highlight>
            </a:endParaRPr>
          </a:p>
          <a:p>
            <a:pPr indent="0" lvl="0" marL="0" rtl="0" algn="l">
              <a:spcBef>
                <a:spcPts val="1200"/>
              </a:spcBef>
              <a:spcAft>
                <a:spcPts val="0"/>
              </a:spcAft>
              <a:buNone/>
            </a:pPr>
            <a:r>
              <a:t/>
            </a:r>
            <a:endParaRPr sz="1100">
              <a:solidFill>
                <a:srgbClr val="202124"/>
              </a:solidFill>
              <a:highlight>
                <a:srgbClr val="FFFFFF"/>
              </a:highlight>
            </a:endParaRPr>
          </a:p>
          <a:p>
            <a:pPr indent="0" lvl="0" marL="0" rtl="0" algn="l">
              <a:spcBef>
                <a:spcPts val="1200"/>
              </a:spcBef>
              <a:spcAft>
                <a:spcPts val="0"/>
              </a:spcAft>
              <a:buNone/>
            </a:pPr>
            <a:r>
              <a:t/>
            </a:r>
            <a:endParaRPr sz="1100">
              <a:solidFill>
                <a:srgbClr val="202124"/>
              </a:solidFill>
              <a:highlight>
                <a:srgbClr val="FFFFFF"/>
              </a:highlight>
            </a:endParaRPr>
          </a:p>
          <a:p>
            <a:pPr indent="0" lvl="0" marL="0" rtl="0" algn="l">
              <a:spcBef>
                <a:spcPts val="1200"/>
              </a:spcBef>
              <a:spcAft>
                <a:spcPts val="1200"/>
              </a:spcAft>
              <a:buNone/>
            </a:pPr>
            <a:r>
              <a:rPr lang="en" u="sng">
                <a:solidFill>
                  <a:schemeClr val="hlink"/>
                </a:solidFill>
                <a:highlight>
                  <a:srgbClr val="FFFFFF"/>
                </a:highlight>
                <a:hlinkClick r:id="rId18"/>
              </a:rPr>
              <a:t>SQLiteDatabase | Android Developers</a:t>
            </a:r>
            <a:r>
              <a:rPr lang="en">
                <a:solidFill>
                  <a:srgbClr val="202124"/>
                </a:solidFill>
                <a:highlight>
                  <a:srgbClr val="FFFFFF"/>
                </a:highlight>
              </a:rPr>
              <a:t> </a:t>
            </a:r>
            <a:endParaRPr>
              <a:solidFill>
                <a:srgbClr val="202124"/>
              </a:solidFill>
              <a:highlight>
                <a:srgbClr val="FFFFFF"/>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Query parameters</a:t>
            </a:r>
            <a:endParaRPr/>
          </a:p>
        </p:txBody>
      </p:sp>
      <p:sp>
        <p:nvSpPr>
          <p:cNvPr id="448" name="Google Shape;448;p62"/>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b="1" lang="en"/>
              <a:t>table			String: </a:t>
            </a:r>
            <a:r>
              <a:rPr lang="en"/>
              <a:t>The table name to compile the query against.</a:t>
            </a:r>
            <a:br>
              <a:rPr lang="en"/>
            </a:br>
            <a:br>
              <a:rPr lang="en"/>
            </a:br>
            <a:r>
              <a:rPr b="1" lang="en"/>
              <a:t>columns		String: </a:t>
            </a:r>
            <a:r>
              <a:rPr lang="en"/>
              <a:t>A list of which columns to return. Passing null will return all columns, which is discouraged to prevent reading data from storage that isn't going to be used.</a:t>
            </a:r>
            <a:br>
              <a:rPr lang="en"/>
            </a:br>
            <a:br>
              <a:rPr lang="en"/>
            </a:br>
            <a:r>
              <a:rPr b="1" lang="en"/>
              <a:t>selection		String:</a:t>
            </a:r>
            <a:r>
              <a:rPr lang="en"/>
              <a:t> A filter declaring which rows to return, formatted as an SQL WHERE clause (excluding the WHERE itself). Passing null will return all rows for the given table.</a:t>
            </a:r>
            <a:br>
              <a:rPr lang="en"/>
            </a:br>
            <a:br>
              <a:rPr lang="en"/>
            </a:br>
            <a:r>
              <a:rPr b="1" lang="en"/>
              <a:t>selectionArgs	String:</a:t>
            </a:r>
            <a:r>
              <a:rPr lang="en"/>
              <a:t> You may include ?s in selection, which will be replaced by the values from selectionArgs, in order that they appear in the selection. The values will be bound as Strings.</a:t>
            </a:r>
            <a:br>
              <a:rPr lang="en"/>
            </a:br>
            <a:br>
              <a:rPr lang="en">
                <a:solidFill>
                  <a:srgbClr val="999999"/>
                </a:solidFill>
              </a:rPr>
            </a:br>
            <a:r>
              <a:rPr b="1" lang="en">
                <a:solidFill>
                  <a:srgbClr val="999999"/>
                </a:solidFill>
              </a:rPr>
              <a:t>groupBy		String:</a:t>
            </a:r>
            <a:r>
              <a:rPr lang="en">
                <a:solidFill>
                  <a:srgbClr val="999999"/>
                </a:solidFill>
              </a:rPr>
              <a:t> A filter declaring how to group rows, formatted as an SQL GROUP BY clause (excluding the GROUP BY itself). Passing null will cause the rows to not be grouped.</a:t>
            </a:r>
            <a:br>
              <a:rPr lang="en">
                <a:solidFill>
                  <a:srgbClr val="999999"/>
                </a:solidFill>
              </a:rPr>
            </a:br>
            <a:br>
              <a:rPr lang="en">
                <a:solidFill>
                  <a:srgbClr val="999999"/>
                </a:solidFill>
              </a:rPr>
            </a:br>
            <a:r>
              <a:rPr b="1" lang="en">
                <a:solidFill>
                  <a:srgbClr val="999999"/>
                </a:solidFill>
              </a:rPr>
              <a:t>having		String:</a:t>
            </a:r>
            <a:r>
              <a:rPr lang="en">
                <a:solidFill>
                  <a:srgbClr val="999999"/>
                </a:solidFill>
              </a:rPr>
              <a:t> A filter declare which row groups to include in the cursor, if row grouping is being used, formatted as an SQL HAVING clause (excluding the HAVING itself). Passing null will cause all row groups to be included, and is required when row grouping is not being used.</a:t>
            </a:r>
            <a:endParaRPr>
              <a:solidFill>
                <a:srgbClr val="999999"/>
              </a:solidFill>
            </a:endParaRPr>
          </a:p>
          <a:p>
            <a:pPr indent="0" lvl="0" marL="0" rtl="0" algn="l">
              <a:spcBef>
                <a:spcPts val="1200"/>
              </a:spcBef>
              <a:spcAft>
                <a:spcPts val="1200"/>
              </a:spcAft>
              <a:buNone/>
            </a:pPr>
            <a:r>
              <a:rPr b="1" lang="en">
                <a:solidFill>
                  <a:srgbClr val="999999"/>
                </a:solidFill>
              </a:rPr>
              <a:t>orderBy		String:</a:t>
            </a:r>
            <a:r>
              <a:rPr lang="en">
                <a:solidFill>
                  <a:srgbClr val="999999"/>
                </a:solidFill>
              </a:rPr>
              <a:t> How to order the rows, formatted as an SQL ORDER BY clause (excluding the ORDER BY itself). Passing null will use the default sort order, which may be unordered.</a:t>
            </a:r>
            <a:endParaRPr>
              <a:solidFill>
                <a:srgbClr val="999999"/>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Cursor</a:t>
            </a:r>
            <a:endParaRPr/>
          </a:p>
        </p:txBody>
      </p:sp>
      <p:sp>
        <p:nvSpPr>
          <p:cNvPr id="454" name="Google Shape;454;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interface provides random read-write access to the result set returned by a database query.</a:t>
            </a:r>
            <a:br>
              <a:rPr lang="en"/>
            </a:br>
            <a:br>
              <a:rPr lang="en"/>
            </a:br>
            <a:r>
              <a:rPr lang="en"/>
              <a:t>A Cursor provides an interface to the list of records in a database</a:t>
            </a:r>
            <a:br>
              <a:rPr lang="en"/>
            </a:br>
            <a:br>
              <a:rPr lang="en"/>
            </a:br>
            <a:r>
              <a:rPr lang="en"/>
              <a:t>Cursor implementations are not required to be synchronized so code using a Cursor from multiple threads should perform its own synchronization when using the Cursor.</a:t>
            </a:r>
            <a:endParaRPr/>
          </a:p>
          <a:p>
            <a:pPr indent="0" lvl="0" marL="0" rtl="0" algn="l">
              <a:spcBef>
                <a:spcPts val="1200"/>
              </a:spcBef>
              <a:spcAft>
                <a:spcPts val="1200"/>
              </a:spcAft>
              <a:buNone/>
            </a:pPr>
            <a:r>
              <a:rPr lang="en" u="sng">
                <a:solidFill>
                  <a:schemeClr val="hlink"/>
                </a:solidFill>
                <a:hlinkClick r:id="rId3"/>
              </a:rPr>
              <a:t>Cursor | Android Developers</a:t>
            </a:r>
            <a:r>
              <a:rPr lang="en"/>
              <a:t>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458" name="Shape 458"/>
        <p:cNvGrpSpPr/>
        <p:nvPr/>
      </p:nvGrpSpPr>
      <p:grpSpPr>
        <a:xfrm>
          <a:off x="0" y="0"/>
          <a:ext cx="0" cy="0"/>
          <a:chOff x="0" y="0"/>
          <a:chExt cx="0" cy="0"/>
        </a:xfrm>
      </p:grpSpPr>
      <p:sp>
        <p:nvSpPr>
          <p:cNvPr id="459" name="Google Shape;459;p6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100">
                <a:solidFill>
                  <a:srgbClr val="CC7832"/>
                </a:solidFill>
                <a:highlight>
                  <a:srgbClr val="2B2B2B"/>
                </a:highlight>
                <a:latin typeface="Courier New"/>
                <a:ea typeface="Courier New"/>
                <a:cs typeface="Courier New"/>
                <a:sym typeface="Courier New"/>
              </a:rPr>
              <a:t>public class </a:t>
            </a:r>
            <a:r>
              <a:rPr lang="en" sz="1100">
                <a:solidFill>
                  <a:srgbClr val="A9B7C6"/>
                </a:solidFill>
                <a:highlight>
                  <a:srgbClr val="2B2B2B"/>
                </a:highlight>
                <a:latin typeface="Courier New"/>
                <a:ea typeface="Courier New"/>
                <a:cs typeface="Courier New"/>
                <a:sym typeface="Courier New"/>
              </a:rPr>
              <a:t>Person </a:t>
            </a:r>
            <a:r>
              <a:rPr lang="en" sz="1100">
                <a:solidFill>
                  <a:srgbClr val="CC7832"/>
                </a:solidFill>
                <a:highlight>
                  <a:srgbClr val="2B2B2B"/>
                </a:highlight>
                <a:latin typeface="Courier New"/>
                <a:ea typeface="Courier New"/>
                <a:cs typeface="Courier New"/>
                <a:sym typeface="Courier New"/>
              </a:rPr>
              <a:t>implements </a:t>
            </a:r>
            <a:r>
              <a:rPr lang="en" sz="1100">
                <a:solidFill>
                  <a:srgbClr val="A9B7C6"/>
                </a:solidFill>
                <a:highlight>
                  <a:srgbClr val="2B2B2B"/>
                </a:highlight>
                <a:latin typeface="Courier New"/>
                <a:ea typeface="Courier New"/>
                <a:cs typeface="Courier New"/>
                <a:sym typeface="Courier New"/>
              </a:rPr>
              <a:t>Parcelable</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private </a:t>
            </a:r>
            <a:r>
              <a:rPr lang="en" sz="1100">
                <a:solidFill>
                  <a:srgbClr val="A9B7C6"/>
                </a:solidFill>
                <a:highlight>
                  <a:srgbClr val="2B2B2B"/>
                </a:highlight>
                <a:latin typeface="Courier New"/>
                <a:ea typeface="Courier New"/>
                <a:cs typeface="Courier New"/>
                <a:sym typeface="Courier New"/>
              </a:rPr>
              <a:t>String </a:t>
            </a:r>
            <a:r>
              <a:rPr lang="en" sz="1100">
                <a:solidFill>
                  <a:srgbClr val="9876AA"/>
                </a:solidFill>
                <a:highlight>
                  <a:srgbClr val="2B2B2B"/>
                </a:highlight>
                <a:latin typeface="Courier New"/>
                <a:ea typeface="Courier New"/>
                <a:cs typeface="Courier New"/>
                <a:sym typeface="Courier New"/>
              </a:rPr>
              <a:t>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a:t>
            </a:r>
            <a:r>
              <a:rPr lang="en" sz="1100">
                <a:solidFill>
                  <a:srgbClr val="A9B7C6"/>
                </a:solidFill>
                <a:highlight>
                  <a:srgbClr val="2B2B2B"/>
                </a:highlight>
                <a:latin typeface="Courier New"/>
                <a:ea typeface="Courier New"/>
                <a:cs typeface="Courier New"/>
                <a:sym typeface="Courier New"/>
              </a:rPr>
              <a:t>String </a:t>
            </a:r>
            <a:r>
              <a:rPr lang="en" sz="1100">
                <a:solidFill>
                  <a:srgbClr val="9876AA"/>
                </a:solidFill>
                <a:highlight>
                  <a:srgbClr val="2B2B2B"/>
                </a:highlight>
                <a:latin typeface="Courier New"/>
                <a:ea typeface="Courier New"/>
                <a:cs typeface="Courier New"/>
                <a:sym typeface="Courier New"/>
              </a:rPr>
              <a:t>surname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a:t>
            </a:r>
            <a:r>
              <a:rPr lang="en" sz="1100">
                <a:solidFill>
                  <a:srgbClr val="A9B7C6"/>
                </a:solidFill>
                <a:highlight>
                  <a:srgbClr val="2B2B2B"/>
                </a:highlight>
                <a:latin typeface="Courier New"/>
                <a:ea typeface="Courier New"/>
                <a:cs typeface="Courier New"/>
                <a:sym typeface="Courier New"/>
              </a:rPr>
              <a:t>Integer </a:t>
            </a:r>
            <a:r>
              <a:rPr lang="en" sz="1100">
                <a:solidFill>
                  <a:srgbClr val="9876AA"/>
                </a:solidFill>
                <a:highlight>
                  <a:srgbClr val="2B2B2B"/>
                </a:highlight>
                <a:latin typeface="Courier New"/>
                <a:ea typeface="Courier New"/>
                <a:cs typeface="Courier New"/>
                <a:sym typeface="Courier New"/>
              </a:rPr>
              <a:t>userId</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a:t>
            </a:r>
            <a:r>
              <a:rPr lang="en" sz="1100">
                <a:solidFill>
                  <a:srgbClr val="A9B7C6"/>
                </a:solidFill>
                <a:highlight>
                  <a:srgbClr val="2B2B2B"/>
                </a:highlight>
                <a:latin typeface="Courier New"/>
                <a:ea typeface="Courier New"/>
                <a:cs typeface="Courier New"/>
                <a:sym typeface="Courier New"/>
              </a:rPr>
              <a:t>String </a:t>
            </a:r>
            <a:r>
              <a:rPr lang="en" sz="1100">
                <a:solidFill>
                  <a:srgbClr val="9876AA"/>
                </a:solidFill>
                <a:highlight>
                  <a:srgbClr val="2B2B2B"/>
                </a:highlight>
                <a:latin typeface="Courier New"/>
                <a:ea typeface="Courier New"/>
                <a:cs typeface="Courier New"/>
                <a:sym typeface="Courier New"/>
              </a:rPr>
              <a:t>phoneNumber</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a:t>
            </a:r>
            <a:r>
              <a:rPr lang="en" sz="1100">
                <a:solidFill>
                  <a:srgbClr val="A9B7C6"/>
                </a:solidFill>
                <a:highlight>
                  <a:srgbClr val="2B2B2B"/>
                </a:highlight>
                <a:latin typeface="Courier New"/>
                <a:ea typeface="Courier New"/>
                <a:cs typeface="Courier New"/>
                <a:sym typeface="Courier New"/>
              </a:rPr>
              <a:t>String </a:t>
            </a:r>
            <a:r>
              <a:rPr lang="en" sz="1100">
                <a:solidFill>
                  <a:srgbClr val="9876AA"/>
                </a:solidFill>
                <a:highlight>
                  <a:srgbClr val="2B2B2B"/>
                </a:highlight>
                <a:latin typeface="Courier New"/>
                <a:ea typeface="Courier New"/>
                <a:cs typeface="Courier New"/>
                <a:sym typeface="Courier New"/>
              </a:rPr>
              <a:t>company</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private </a:t>
            </a:r>
            <a:r>
              <a:rPr lang="en" sz="1100">
                <a:solidFill>
                  <a:srgbClr val="A9B7C6"/>
                </a:solidFill>
                <a:highlight>
                  <a:srgbClr val="2B2B2B"/>
                </a:highlight>
                <a:latin typeface="Courier New"/>
                <a:ea typeface="Courier New"/>
                <a:cs typeface="Courier New"/>
                <a:sym typeface="Courier New"/>
              </a:rPr>
              <a:t>String </a:t>
            </a:r>
            <a:r>
              <a:rPr lang="en" sz="1100">
                <a:solidFill>
                  <a:srgbClr val="9876AA"/>
                </a:solidFill>
                <a:highlight>
                  <a:srgbClr val="2B2B2B"/>
                </a:highlight>
                <a:latin typeface="Courier New"/>
                <a:ea typeface="Courier New"/>
                <a:cs typeface="Courier New"/>
                <a:sym typeface="Courier New"/>
              </a:rPr>
              <a:t>email</a:t>
            </a:r>
            <a:r>
              <a:rPr lang="en" sz="1100">
                <a:solidFill>
                  <a:srgbClr val="CC7832"/>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public </a:t>
            </a:r>
            <a:r>
              <a:rPr lang="en" sz="1100">
                <a:solidFill>
                  <a:srgbClr val="FFC66D"/>
                </a:solidFill>
                <a:highlight>
                  <a:srgbClr val="2B2B2B"/>
                </a:highlight>
                <a:latin typeface="Courier New"/>
                <a:ea typeface="Courier New"/>
                <a:cs typeface="Courier New"/>
                <a:sym typeface="Courier New"/>
              </a:rPr>
              <a:t>Person</a:t>
            </a:r>
            <a:r>
              <a:rPr lang="en" sz="1100">
                <a:solidFill>
                  <a:srgbClr val="A9B7C6"/>
                </a:solidFill>
                <a:highlight>
                  <a:srgbClr val="2B2B2B"/>
                </a:highlight>
                <a:latin typeface="Courier New"/>
                <a:ea typeface="Courier New"/>
                <a:cs typeface="Courier New"/>
                <a:sym typeface="Courier New"/>
              </a:rPr>
              <a:t>(String name</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surname</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Integer userId</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phoneNumber</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company</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email) {</a:t>
            </a:r>
            <a:br>
              <a:rPr lang="en" sz="1100">
                <a:solidFill>
                  <a:srgbClr val="A9B7C6"/>
                </a:solidFill>
                <a:highlight>
                  <a:srgbClr val="2B2B2B"/>
                </a:highlight>
                <a:latin typeface="Courier New"/>
                <a:ea typeface="Courier New"/>
                <a:cs typeface="Courier New"/>
                <a:sym typeface="Courier New"/>
              </a:rPr>
            </a:b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super</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name </a:t>
            </a:r>
            <a:r>
              <a:rPr lang="en" sz="1100">
                <a:solidFill>
                  <a:srgbClr val="A9B7C6"/>
                </a:solidFill>
                <a:highlight>
                  <a:srgbClr val="2B2B2B"/>
                </a:highlight>
                <a:latin typeface="Courier New"/>
                <a:ea typeface="Courier New"/>
                <a:cs typeface="Courier New"/>
                <a:sym typeface="Courier New"/>
              </a:rPr>
              <a:t>= 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surname </a:t>
            </a:r>
            <a:r>
              <a:rPr lang="en" sz="1100">
                <a:solidFill>
                  <a:srgbClr val="A9B7C6"/>
                </a:solidFill>
                <a:highlight>
                  <a:srgbClr val="2B2B2B"/>
                </a:highlight>
                <a:latin typeface="Courier New"/>
                <a:ea typeface="Courier New"/>
                <a:cs typeface="Courier New"/>
                <a:sym typeface="Courier New"/>
              </a:rPr>
              <a:t>= surname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userId </a:t>
            </a:r>
            <a:r>
              <a:rPr lang="en" sz="1100">
                <a:solidFill>
                  <a:srgbClr val="A9B7C6"/>
                </a:solidFill>
                <a:highlight>
                  <a:srgbClr val="2B2B2B"/>
                </a:highlight>
                <a:latin typeface="Courier New"/>
                <a:ea typeface="Courier New"/>
                <a:cs typeface="Courier New"/>
                <a:sym typeface="Courier New"/>
              </a:rPr>
              <a:t>= userId</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phoneNumber </a:t>
            </a:r>
            <a:r>
              <a:rPr lang="en" sz="1100">
                <a:solidFill>
                  <a:srgbClr val="A9B7C6"/>
                </a:solidFill>
                <a:highlight>
                  <a:srgbClr val="2B2B2B"/>
                </a:highlight>
                <a:latin typeface="Courier New"/>
                <a:ea typeface="Courier New"/>
                <a:cs typeface="Courier New"/>
                <a:sym typeface="Courier New"/>
              </a:rPr>
              <a:t>= phoneNumber</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company </a:t>
            </a:r>
            <a:r>
              <a:rPr lang="en" sz="1100">
                <a:solidFill>
                  <a:srgbClr val="A9B7C6"/>
                </a:solidFill>
                <a:highlight>
                  <a:srgbClr val="2B2B2B"/>
                </a:highlight>
                <a:latin typeface="Courier New"/>
                <a:ea typeface="Courier New"/>
                <a:cs typeface="Courier New"/>
                <a:sym typeface="Courier New"/>
              </a:rPr>
              <a:t>= company</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email </a:t>
            </a:r>
            <a:r>
              <a:rPr lang="en" sz="1100">
                <a:solidFill>
                  <a:srgbClr val="A9B7C6"/>
                </a:solidFill>
                <a:highlight>
                  <a:srgbClr val="2B2B2B"/>
                </a:highlight>
                <a:latin typeface="Courier New"/>
                <a:ea typeface="Courier New"/>
                <a:cs typeface="Courier New"/>
                <a:sym typeface="Courier New"/>
              </a:rPr>
              <a:t>= email</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p:txBody>
      </p:sp>
      <p:sp>
        <p:nvSpPr>
          <p:cNvPr id="460" name="Google Shape;460;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Data Model Class</a:t>
            </a:r>
            <a:endParaRPr>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464" name="Shape 464"/>
        <p:cNvGrpSpPr/>
        <p:nvPr/>
      </p:nvGrpSpPr>
      <p:grpSpPr>
        <a:xfrm>
          <a:off x="0" y="0"/>
          <a:ext cx="0" cy="0"/>
          <a:chOff x="0" y="0"/>
          <a:chExt cx="0" cy="0"/>
        </a:xfrm>
      </p:grpSpPr>
      <p:sp>
        <p:nvSpPr>
          <p:cNvPr id="465" name="Google Shape;465;p6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sz="1100">
                <a:solidFill>
                  <a:srgbClr val="CC7832"/>
                </a:solidFill>
                <a:highlight>
                  <a:srgbClr val="2B2B2B"/>
                </a:highlight>
                <a:latin typeface="Courier New"/>
                <a:ea typeface="Courier New"/>
                <a:cs typeface="Courier New"/>
                <a:sym typeface="Courier New"/>
              </a:rPr>
              <a:t>public </a:t>
            </a:r>
            <a:r>
              <a:rPr lang="en" sz="1100">
                <a:solidFill>
                  <a:srgbClr val="A9B7C6"/>
                </a:solidFill>
                <a:highlight>
                  <a:srgbClr val="2B2B2B"/>
                </a:highlight>
                <a:latin typeface="Courier New"/>
                <a:ea typeface="Courier New"/>
                <a:cs typeface="Courier New"/>
                <a:sym typeface="Courier New"/>
              </a:rPr>
              <a:t>Person </a:t>
            </a:r>
            <a:r>
              <a:rPr lang="en" sz="1100">
                <a:solidFill>
                  <a:srgbClr val="FFC66D"/>
                </a:solidFill>
                <a:highlight>
                  <a:srgbClr val="2B2B2B"/>
                </a:highlight>
                <a:latin typeface="Courier New"/>
                <a:ea typeface="Courier New"/>
                <a:cs typeface="Courier New"/>
                <a:sym typeface="Courier New"/>
              </a:rPr>
              <a:t>getPerson</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int </a:t>
            </a:r>
            <a:r>
              <a:rPr lang="en" sz="1100">
                <a:solidFill>
                  <a:srgbClr val="A9B7C6"/>
                </a:solidFill>
                <a:highlight>
                  <a:srgbClr val="2B2B2B"/>
                </a:highlight>
                <a:latin typeface="Courier New"/>
                <a:ea typeface="Courier New"/>
                <a:cs typeface="Courier New"/>
                <a:sym typeface="Courier New"/>
              </a:rPr>
              <a:t>Id)</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SQLiteDatabase sqLiteDatabase =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.getReadableDatabase()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Cursor cursor = sqLiteDatabase.query(</a:t>
            </a:r>
            <a:r>
              <a:rPr lang="en" sz="1100">
                <a:solidFill>
                  <a:srgbClr val="9876AA"/>
                </a:solidFill>
                <a:highlight>
                  <a:srgbClr val="2B2B2B"/>
                </a:highlight>
                <a:latin typeface="Courier New"/>
                <a:ea typeface="Courier New"/>
                <a:cs typeface="Courier New"/>
                <a:sym typeface="Courier New"/>
              </a:rPr>
              <a:t>PERSON_TABLE</a:t>
            </a:r>
            <a:r>
              <a:rPr lang="en" sz="1100">
                <a:solidFill>
                  <a:srgbClr val="CC7832"/>
                </a:solidFill>
                <a:highlight>
                  <a:srgbClr val="2B2B2B"/>
                </a:highlight>
                <a:latin typeface="Courier New"/>
                <a:ea typeface="Courier New"/>
                <a:cs typeface="Courier New"/>
                <a:sym typeface="Courier New"/>
              </a:rPr>
              <a:t>,null,</a:t>
            </a:r>
            <a:r>
              <a:rPr lang="en" sz="1100">
                <a:solidFill>
                  <a:srgbClr val="6A8759"/>
                </a:solidFill>
                <a:highlight>
                  <a:srgbClr val="2B2B2B"/>
                </a:highlight>
                <a:latin typeface="Courier New"/>
                <a:ea typeface="Courier New"/>
                <a:cs typeface="Courier New"/>
                <a:sym typeface="Courier New"/>
              </a:rPr>
              <a:t>"userID= ? "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String[]{ String.</a:t>
            </a:r>
            <a:r>
              <a:rPr i="1" lang="en" sz="1100">
                <a:solidFill>
                  <a:srgbClr val="A9B7C6"/>
                </a:solidFill>
                <a:highlight>
                  <a:srgbClr val="2B2B2B"/>
                </a:highlight>
                <a:latin typeface="Courier New"/>
                <a:ea typeface="Courier New"/>
                <a:cs typeface="Courier New"/>
                <a:sym typeface="Courier New"/>
              </a:rPr>
              <a:t>valueOf</a:t>
            </a:r>
            <a:r>
              <a:rPr lang="en" sz="1100">
                <a:solidFill>
                  <a:srgbClr val="A9B7C6"/>
                </a:solidFill>
                <a:highlight>
                  <a:srgbClr val="2B2B2B"/>
                </a:highlight>
                <a:latin typeface="Courier New"/>
                <a:ea typeface="Courier New"/>
                <a:cs typeface="Courier New"/>
                <a:sym typeface="Courier New"/>
              </a:rPr>
              <a:t>(Id) }</a:t>
            </a:r>
            <a:r>
              <a:rPr lang="en" sz="1100">
                <a:solidFill>
                  <a:srgbClr val="CC7832"/>
                </a:solidFill>
                <a:highlight>
                  <a:srgbClr val="2B2B2B"/>
                </a:highlight>
                <a:latin typeface="Courier New"/>
                <a:ea typeface="Courier New"/>
                <a:cs typeface="Courier New"/>
                <a:sym typeface="Courier New"/>
              </a:rPr>
              <a:t>,null,null,null</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Person person</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if</a:t>
            </a:r>
            <a:r>
              <a:rPr lang="en" sz="1100">
                <a:solidFill>
                  <a:srgbClr val="A9B7C6"/>
                </a:solidFill>
                <a:highlight>
                  <a:srgbClr val="2B2B2B"/>
                </a:highlight>
                <a:latin typeface="Courier New"/>
                <a:ea typeface="Courier New"/>
                <a:cs typeface="Courier New"/>
                <a:sym typeface="Courier New"/>
              </a:rPr>
              <a:t>(cursor.moveToFirst())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Person(</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cursor.getString(cursor.getColumnIndex(</a:t>
            </a:r>
            <a:r>
              <a:rPr lang="en" sz="1100">
                <a:solidFill>
                  <a:srgbClr val="6A8759"/>
                </a:solidFill>
                <a:highlight>
                  <a:srgbClr val="2B2B2B"/>
                </a:highlight>
                <a:latin typeface="Courier New"/>
                <a:ea typeface="Courier New"/>
                <a:cs typeface="Courier New"/>
                <a:sym typeface="Courier New"/>
              </a:rPr>
              <a:t>"name"</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cursor.getString(cursor.getColumnIndex(</a:t>
            </a:r>
            <a:r>
              <a:rPr lang="en" sz="1100">
                <a:solidFill>
                  <a:srgbClr val="6A8759"/>
                </a:solidFill>
                <a:highlight>
                  <a:srgbClr val="2B2B2B"/>
                </a:highlight>
                <a:latin typeface="Courier New"/>
                <a:ea typeface="Courier New"/>
                <a:cs typeface="Courier New"/>
                <a:sym typeface="Courier New"/>
              </a:rPr>
              <a:t>"surname"</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cursor.getInt(cursor.getColumnIndex(</a:t>
            </a:r>
            <a:r>
              <a:rPr lang="en" sz="1100">
                <a:solidFill>
                  <a:srgbClr val="6A8759"/>
                </a:solidFill>
                <a:highlight>
                  <a:srgbClr val="2B2B2B"/>
                </a:highlight>
                <a:latin typeface="Courier New"/>
                <a:ea typeface="Courier New"/>
                <a:cs typeface="Courier New"/>
                <a:sym typeface="Courier New"/>
              </a:rPr>
              <a:t>"userID"</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cursor.getString(cursor.getColumnIndex(</a:t>
            </a:r>
            <a:r>
              <a:rPr lang="en" sz="1100">
                <a:solidFill>
                  <a:srgbClr val="6A8759"/>
                </a:solidFill>
                <a:highlight>
                  <a:srgbClr val="2B2B2B"/>
                </a:highlight>
                <a:latin typeface="Courier New"/>
                <a:ea typeface="Courier New"/>
                <a:cs typeface="Courier New"/>
                <a:sym typeface="Courier New"/>
              </a:rPr>
              <a:t>"phoneNumber"</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cursor.getString(cursor.getColumnIndex(</a:t>
            </a:r>
            <a:r>
              <a:rPr lang="en" sz="1100">
                <a:solidFill>
                  <a:srgbClr val="6A8759"/>
                </a:solidFill>
                <a:highlight>
                  <a:srgbClr val="2B2B2B"/>
                </a:highlight>
                <a:latin typeface="Courier New"/>
                <a:ea typeface="Courier New"/>
                <a:cs typeface="Courier New"/>
                <a:sym typeface="Courier New"/>
              </a:rPr>
              <a:t>"company"</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cursor.getString(cursor.getColumnIndex(</a:t>
            </a:r>
            <a:r>
              <a:rPr lang="en" sz="1100">
                <a:solidFill>
                  <a:srgbClr val="6A8759"/>
                </a:solidFill>
                <a:highlight>
                  <a:srgbClr val="2B2B2B"/>
                </a:highlight>
                <a:latin typeface="Courier New"/>
                <a:ea typeface="Courier New"/>
                <a:cs typeface="Courier New"/>
                <a:sym typeface="Courier New"/>
              </a:rPr>
              <a:t>"email"</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return </a:t>
            </a:r>
            <a:r>
              <a:rPr lang="en" sz="1100">
                <a:solidFill>
                  <a:srgbClr val="A9B7C6"/>
                </a:solidFill>
                <a:highlight>
                  <a:srgbClr val="2B2B2B"/>
                </a:highlight>
                <a:latin typeface="Courier New"/>
                <a:ea typeface="Courier New"/>
                <a:cs typeface="Courier New"/>
                <a:sym typeface="Courier New"/>
              </a:rPr>
              <a:t>person</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p:txBody>
      </p:sp>
      <p:sp>
        <p:nvSpPr>
          <p:cNvPr id="466" name="Google Shape;46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Select (Single Row)</a:t>
            </a:r>
            <a:endParaRPr>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470" name="Shape 470"/>
        <p:cNvGrpSpPr/>
        <p:nvPr/>
      </p:nvGrpSpPr>
      <p:grpSpPr>
        <a:xfrm>
          <a:off x="0" y="0"/>
          <a:ext cx="0" cy="0"/>
          <a:chOff x="0" y="0"/>
          <a:chExt cx="0" cy="0"/>
        </a:xfrm>
      </p:grpSpPr>
      <p:sp>
        <p:nvSpPr>
          <p:cNvPr id="471" name="Google Shape;471;p66"/>
          <p:cNvSpPr txBox="1"/>
          <p:nvPr>
            <p:ph idx="1" type="body"/>
          </p:nvPr>
        </p:nvSpPr>
        <p:spPr>
          <a:xfrm>
            <a:off x="311700" y="1000075"/>
            <a:ext cx="8520600" cy="3990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135">
                <a:solidFill>
                  <a:srgbClr val="CC7832"/>
                </a:solidFill>
                <a:highlight>
                  <a:srgbClr val="2B2B2B"/>
                </a:highlight>
                <a:latin typeface="Courier New"/>
                <a:ea typeface="Courier New"/>
                <a:cs typeface="Courier New"/>
                <a:sym typeface="Courier New"/>
              </a:rPr>
              <a:t>public </a:t>
            </a:r>
            <a:r>
              <a:rPr lang="en" sz="1135">
                <a:solidFill>
                  <a:srgbClr val="A9B7C6"/>
                </a:solidFill>
                <a:highlight>
                  <a:srgbClr val="2B2B2B"/>
                </a:highlight>
                <a:latin typeface="Courier New"/>
                <a:ea typeface="Courier New"/>
                <a:cs typeface="Courier New"/>
                <a:sym typeface="Courier New"/>
              </a:rPr>
              <a:t>ArrayList&lt;Person&gt; </a:t>
            </a:r>
            <a:r>
              <a:rPr lang="en" sz="1135">
                <a:solidFill>
                  <a:srgbClr val="FFC66D"/>
                </a:solidFill>
                <a:highlight>
                  <a:srgbClr val="2B2B2B"/>
                </a:highlight>
                <a:latin typeface="Courier New"/>
                <a:ea typeface="Courier New"/>
                <a:cs typeface="Courier New"/>
                <a:sym typeface="Courier New"/>
              </a:rPr>
              <a:t>getPersonList</a:t>
            </a:r>
            <a:r>
              <a:rPr lang="en" sz="1135">
                <a:solidFill>
                  <a:srgbClr val="A9B7C6"/>
                </a:solidFill>
                <a:highlight>
                  <a:srgbClr val="2B2B2B"/>
                </a:highlight>
                <a:latin typeface="Courier New"/>
                <a:ea typeface="Courier New"/>
                <a:cs typeface="Courier New"/>
                <a:sym typeface="Courier New"/>
              </a:rPr>
              <a: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ArrayList&lt;Person&gt; personArrayList = </a:t>
            </a:r>
            <a:r>
              <a:rPr lang="en" sz="1135">
                <a:solidFill>
                  <a:srgbClr val="CC7832"/>
                </a:solidFill>
                <a:highlight>
                  <a:srgbClr val="2B2B2B"/>
                </a:highlight>
                <a:latin typeface="Courier New"/>
                <a:ea typeface="Courier New"/>
                <a:cs typeface="Courier New"/>
                <a:sym typeface="Courier New"/>
              </a:rPr>
              <a:t>new </a:t>
            </a:r>
            <a:r>
              <a:rPr lang="en" sz="1135">
                <a:solidFill>
                  <a:srgbClr val="A9B7C6"/>
                </a:solidFill>
                <a:highlight>
                  <a:srgbClr val="2B2B2B"/>
                </a:highlight>
                <a:latin typeface="Courier New"/>
                <a:ea typeface="Courier New"/>
                <a:cs typeface="Courier New"/>
                <a:sym typeface="Courier New"/>
              </a:rPr>
              <a:t>ArrayList&lt;Person&gt;()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SQLiteDatabase sqLiteDatabase = </a:t>
            </a:r>
            <a:r>
              <a:rPr lang="en" sz="1135">
                <a:solidFill>
                  <a:srgbClr val="CC7832"/>
                </a:solidFill>
                <a:highlight>
                  <a:srgbClr val="2B2B2B"/>
                </a:highlight>
                <a:latin typeface="Courier New"/>
                <a:ea typeface="Courier New"/>
                <a:cs typeface="Courier New"/>
                <a:sym typeface="Courier New"/>
              </a:rPr>
              <a:t>this</a:t>
            </a:r>
            <a:r>
              <a:rPr lang="en" sz="1135">
                <a:solidFill>
                  <a:srgbClr val="A9B7C6"/>
                </a:solidFill>
                <a:highlight>
                  <a:srgbClr val="2B2B2B"/>
                </a:highlight>
                <a:latin typeface="Courier New"/>
                <a:ea typeface="Courier New"/>
                <a:cs typeface="Courier New"/>
                <a:sym typeface="Courier New"/>
              </a:rPr>
              <a:t>.getReadableDatabase()</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Cursor cursor = sqLiteDatabase.query(</a:t>
            </a:r>
            <a:r>
              <a:rPr lang="en" sz="1135">
                <a:solidFill>
                  <a:srgbClr val="9876AA"/>
                </a:solidFill>
                <a:highlight>
                  <a:srgbClr val="2B2B2B"/>
                </a:highlight>
                <a:latin typeface="Courier New"/>
                <a:ea typeface="Courier New"/>
                <a:cs typeface="Courier New"/>
                <a:sym typeface="Courier New"/>
              </a:rPr>
              <a:t>PERSON_TABLE</a:t>
            </a:r>
            <a:r>
              <a:rPr lang="en" sz="1135">
                <a:solidFill>
                  <a:srgbClr val="CC7832"/>
                </a:solidFill>
                <a:highlight>
                  <a:srgbClr val="2B2B2B"/>
                </a:highlight>
                <a:latin typeface="Courier New"/>
                <a:ea typeface="Courier New"/>
                <a:cs typeface="Courier New"/>
                <a:sym typeface="Courier New"/>
              </a:rPr>
              <a:t>,null,null,null,null,null,null</a:t>
            </a:r>
            <a:r>
              <a:rPr lang="en" sz="1135">
                <a:solidFill>
                  <a:srgbClr val="A9B7C6"/>
                </a:solidFill>
                <a:highlight>
                  <a:srgbClr val="2B2B2B"/>
                </a:highlight>
                <a:latin typeface="Courier New"/>
                <a:ea typeface="Courier New"/>
                <a:cs typeface="Courier New"/>
                <a:sym typeface="Courier New"/>
              </a:rPr>
              <a: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if</a:t>
            </a:r>
            <a:r>
              <a:rPr lang="en" sz="1135">
                <a:solidFill>
                  <a:srgbClr val="A9B7C6"/>
                </a:solidFill>
                <a:highlight>
                  <a:srgbClr val="2B2B2B"/>
                </a:highlight>
                <a:latin typeface="Courier New"/>
                <a:ea typeface="Courier New"/>
                <a:cs typeface="Courier New"/>
                <a:sym typeface="Courier New"/>
              </a:rPr>
              <a:t>(cursor.moveToFirst())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r>
              <a:rPr lang="en" sz="1135">
                <a:solidFill>
                  <a:srgbClr val="CC7832"/>
                </a:solidFill>
                <a:highlight>
                  <a:srgbClr val="2B2B2B"/>
                </a:highlight>
                <a:latin typeface="Courier New"/>
                <a:ea typeface="Courier New"/>
                <a:cs typeface="Courier New"/>
                <a:sym typeface="Courier New"/>
              </a:rPr>
              <a:t>do </a:t>
            </a:r>
            <a:r>
              <a:rPr lang="en" sz="1135">
                <a:solidFill>
                  <a:srgbClr val="A9B7C6"/>
                </a:solidFill>
                <a:highlight>
                  <a:srgbClr val="2B2B2B"/>
                </a:highlight>
                <a:latin typeface="Courier New"/>
                <a:ea typeface="Courier New"/>
                <a:cs typeface="Courier New"/>
                <a:sym typeface="Courier New"/>
              </a:rPr>
              <a: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personArrayList.add(</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r>
              <a:rPr lang="en" sz="1135">
                <a:solidFill>
                  <a:srgbClr val="CC7832"/>
                </a:solidFill>
                <a:highlight>
                  <a:srgbClr val="2B2B2B"/>
                </a:highlight>
                <a:latin typeface="Courier New"/>
                <a:ea typeface="Courier New"/>
                <a:cs typeface="Courier New"/>
                <a:sym typeface="Courier New"/>
              </a:rPr>
              <a:t>new </a:t>
            </a:r>
            <a:r>
              <a:rPr lang="en" sz="1135">
                <a:solidFill>
                  <a:srgbClr val="A9B7C6"/>
                </a:solidFill>
                <a:highlight>
                  <a:srgbClr val="2B2B2B"/>
                </a:highlight>
                <a:latin typeface="Courier New"/>
                <a:ea typeface="Courier New"/>
                <a:cs typeface="Courier New"/>
                <a:sym typeface="Courier New"/>
              </a:rPr>
              <a:t>Person(</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                          cursor.getString(cursor.</a:t>
            </a:r>
            <a:r>
              <a:rPr lang="en" sz="1135">
                <a:solidFill>
                  <a:srgbClr val="A9B7C6"/>
                </a:solidFill>
                <a:highlight>
                  <a:srgbClr val="2B2B2B"/>
                </a:highlight>
                <a:latin typeface="Courier New"/>
                <a:ea typeface="Courier New"/>
                <a:cs typeface="Courier New"/>
                <a:sym typeface="Courier New"/>
              </a:rPr>
              <a:t>getColumnIndexOrThrow</a:t>
            </a:r>
            <a:r>
              <a:rPr lang="en" sz="1135">
                <a:solidFill>
                  <a:srgbClr val="A9B7C6"/>
                </a:solidFill>
                <a:highlight>
                  <a:srgbClr val="2B2B2B"/>
                </a:highlight>
                <a:latin typeface="Courier New"/>
                <a:ea typeface="Courier New"/>
                <a:cs typeface="Courier New"/>
                <a:sym typeface="Courier New"/>
              </a:rPr>
              <a:t>(</a:t>
            </a:r>
            <a:r>
              <a:rPr lang="en" sz="1135">
                <a:solidFill>
                  <a:srgbClr val="6A8759"/>
                </a:solidFill>
                <a:highlight>
                  <a:srgbClr val="2B2B2B"/>
                </a:highlight>
                <a:latin typeface="Courier New"/>
                <a:ea typeface="Courier New"/>
                <a:cs typeface="Courier New"/>
                <a:sym typeface="Courier New"/>
              </a:rPr>
              <a:t>"name"</a:t>
            </a:r>
            <a:r>
              <a:rPr lang="en" sz="1135">
                <a:solidFill>
                  <a:srgbClr val="A9B7C6"/>
                </a:solidFill>
                <a:highlight>
                  <a:srgbClr val="2B2B2B"/>
                </a:highlight>
                <a:latin typeface="Courier New"/>
                <a:ea typeface="Courier New"/>
                <a:cs typeface="Courier New"/>
                <a:sym typeface="Courier New"/>
              </a:rPr>
              <a: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cursor.getString(cursor.</a:t>
            </a:r>
            <a:r>
              <a:rPr lang="en" sz="1135">
                <a:solidFill>
                  <a:srgbClr val="A9B7C6"/>
                </a:solidFill>
                <a:highlight>
                  <a:srgbClr val="2B2B2B"/>
                </a:highlight>
                <a:latin typeface="Courier New"/>
                <a:ea typeface="Courier New"/>
                <a:cs typeface="Courier New"/>
                <a:sym typeface="Courier New"/>
              </a:rPr>
              <a:t>getColumnIndexOrThrow</a:t>
            </a:r>
            <a:r>
              <a:rPr lang="en" sz="1135">
                <a:solidFill>
                  <a:srgbClr val="A9B7C6"/>
                </a:solidFill>
                <a:highlight>
                  <a:srgbClr val="2B2B2B"/>
                </a:highlight>
                <a:latin typeface="Courier New"/>
                <a:ea typeface="Courier New"/>
                <a:cs typeface="Courier New"/>
                <a:sym typeface="Courier New"/>
              </a:rPr>
              <a:t>(</a:t>
            </a:r>
            <a:r>
              <a:rPr lang="en" sz="1135">
                <a:solidFill>
                  <a:srgbClr val="6A8759"/>
                </a:solidFill>
                <a:highlight>
                  <a:srgbClr val="2B2B2B"/>
                </a:highlight>
                <a:latin typeface="Courier New"/>
                <a:ea typeface="Courier New"/>
                <a:cs typeface="Courier New"/>
                <a:sym typeface="Courier New"/>
              </a:rPr>
              <a:t>"surname"</a:t>
            </a:r>
            <a:r>
              <a:rPr lang="en" sz="1135">
                <a:solidFill>
                  <a:srgbClr val="A9B7C6"/>
                </a:solidFill>
                <a:highlight>
                  <a:srgbClr val="2B2B2B"/>
                </a:highlight>
                <a:latin typeface="Courier New"/>
                <a:ea typeface="Courier New"/>
                <a:cs typeface="Courier New"/>
                <a:sym typeface="Courier New"/>
              </a:rPr>
              <a: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cursor.getInt(cursor.</a:t>
            </a:r>
            <a:r>
              <a:rPr lang="en" sz="1135">
                <a:solidFill>
                  <a:srgbClr val="A9B7C6"/>
                </a:solidFill>
                <a:highlight>
                  <a:srgbClr val="2B2B2B"/>
                </a:highlight>
                <a:latin typeface="Courier New"/>
                <a:ea typeface="Courier New"/>
                <a:cs typeface="Courier New"/>
                <a:sym typeface="Courier New"/>
              </a:rPr>
              <a:t>getColumnIndexOrThrow</a:t>
            </a:r>
            <a:r>
              <a:rPr lang="en" sz="1135">
                <a:solidFill>
                  <a:srgbClr val="A9B7C6"/>
                </a:solidFill>
                <a:highlight>
                  <a:srgbClr val="2B2B2B"/>
                </a:highlight>
                <a:latin typeface="Courier New"/>
                <a:ea typeface="Courier New"/>
                <a:cs typeface="Courier New"/>
                <a:sym typeface="Courier New"/>
              </a:rPr>
              <a:t>(</a:t>
            </a:r>
            <a:r>
              <a:rPr lang="en" sz="1135">
                <a:solidFill>
                  <a:srgbClr val="6A8759"/>
                </a:solidFill>
                <a:highlight>
                  <a:srgbClr val="2B2B2B"/>
                </a:highlight>
                <a:latin typeface="Courier New"/>
                <a:ea typeface="Courier New"/>
                <a:cs typeface="Courier New"/>
                <a:sym typeface="Courier New"/>
              </a:rPr>
              <a:t>"userID"</a:t>
            </a:r>
            <a:r>
              <a:rPr lang="en" sz="1135">
                <a:solidFill>
                  <a:srgbClr val="A9B7C6"/>
                </a:solidFill>
                <a:highlight>
                  <a:srgbClr val="2B2B2B"/>
                </a:highlight>
                <a:latin typeface="Courier New"/>
                <a:ea typeface="Courier New"/>
                <a:cs typeface="Courier New"/>
                <a:sym typeface="Courier New"/>
              </a:rPr>
              <a: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cursor.getString(cursor.</a:t>
            </a:r>
            <a:r>
              <a:rPr lang="en" sz="1135">
                <a:solidFill>
                  <a:srgbClr val="A9B7C6"/>
                </a:solidFill>
                <a:highlight>
                  <a:srgbClr val="2B2B2B"/>
                </a:highlight>
                <a:latin typeface="Courier New"/>
                <a:ea typeface="Courier New"/>
                <a:cs typeface="Courier New"/>
                <a:sym typeface="Courier New"/>
              </a:rPr>
              <a:t>getColumnIndexOrThrow</a:t>
            </a:r>
            <a:r>
              <a:rPr lang="en" sz="1135">
                <a:solidFill>
                  <a:srgbClr val="A9B7C6"/>
                </a:solidFill>
                <a:highlight>
                  <a:srgbClr val="2B2B2B"/>
                </a:highlight>
                <a:latin typeface="Courier New"/>
                <a:ea typeface="Courier New"/>
                <a:cs typeface="Courier New"/>
                <a:sym typeface="Courier New"/>
              </a:rPr>
              <a:t>(</a:t>
            </a:r>
            <a:r>
              <a:rPr lang="en" sz="1135">
                <a:solidFill>
                  <a:srgbClr val="6A8759"/>
                </a:solidFill>
                <a:highlight>
                  <a:srgbClr val="2B2B2B"/>
                </a:highlight>
                <a:latin typeface="Courier New"/>
                <a:ea typeface="Courier New"/>
                <a:cs typeface="Courier New"/>
                <a:sym typeface="Courier New"/>
              </a:rPr>
              <a:t>"phoneNumber"</a:t>
            </a:r>
            <a:r>
              <a:rPr lang="en" sz="1135">
                <a:solidFill>
                  <a:srgbClr val="A9B7C6"/>
                </a:solidFill>
                <a:highlight>
                  <a:srgbClr val="2B2B2B"/>
                </a:highlight>
                <a:latin typeface="Courier New"/>
                <a:ea typeface="Courier New"/>
                <a:cs typeface="Courier New"/>
                <a:sym typeface="Courier New"/>
              </a:rPr>
              <a: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cursor.getString(cursor.</a:t>
            </a:r>
            <a:r>
              <a:rPr lang="en" sz="1135">
                <a:solidFill>
                  <a:srgbClr val="A9B7C6"/>
                </a:solidFill>
                <a:highlight>
                  <a:srgbClr val="2B2B2B"/>
                </a:highlight>
                <a:latin typeface="Courier New"/>
                <a:ea typeface="Courier New"/>
                <a:cs typeface="Courier New"/>
                <a:sym typeface="Courier New"/>
              </a:rPr>
              <a:t>getColumnIndexOrThrow</a:t>
            </a:r>
            <a:r>
              <a:rPr lang="en" sz="1135">
                <a:solidFill>
                  <a:srgbClr val="A9B7C6"/>
                </a:solidFill>
                <a:highlight>
                  <a:srgbClr val="2B2B2B"/>
                </a:highlight>
                <a:latin typeface="Courier New"/>
                <a:ea typeface="Courier New"/>
                <a:cs typeface="Courier New"/>
                <a:sym typeface="Courier New"/>
              </a:rPr>
              <a:t>(</a:t>
            </a:r>
            <a:r>
              <a:rPr lang="en" sz="1135">
                <a:solidFill>
                  <a:srgbClr val="6A8759"/>
                </a:solidFill>
                <a:highlight>
                  <a:srgbClr val="2B2B2B"/>
                </a:highlight>
                <a:latin typeface="Courier New"/>
                <a:ea typeface="Courier New"/>
                <a:cs typeface="Courier New"/>
                <a:sym typeface="Courier New"/>
              </a:rPr>
              <a:t>"company"</a:t>
            </a:r>
            <a:r>
              <a:rPr lang="en" sz="1135">
                <a:solidFill>
                  <a:srgbClr val="A9B7C6"/>
                </a:solidFill>
                <a:highlight>
                  <a:srgbClr val="2B2B2B"/>
                </a:highlight>
                <a:latin typeface="Courier New"/>
                <a:ea typeface="Courier New"/>
                <a:cs typeface="Courier New"/>
                <a:sym typeface="Courier New"/>
              </a:rPr>
              <a: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cursor.getString(cursor.</a:t>
            </a:r>
            <a:r>
              <a:rPr lang="en" sz="1135">
                <a:solidFill>
                  <a:srgbClr val="A9B7C6"/>
                </a:solidFill>
                <a:highlight>
                  <a:srgbClr val="2B2B2B"/>
                </a:highlight>
                <a:latin typeface="Courier New"/>
                <a:ea typeface="Courier New"/>
                <a:cs typeface="Courier New"/>
                <a:sym typeface="Courier New"/>
              </a:rPr>
              <a:t>getColumnIndexOrThrow</a:t>
            </a:r>
            <a:r>
              <a:rPr lang="en" sz="1135">
                <a:solidFill>
                  <a:srgbClr val="A9B7C6"/>
                </a:solidFill>
                <a:highlight>
                  <a:srgbClr val="2B2B2B"/>
                </a:highlight>
                <a:latin typeface="Courier New"/>
                <a:ea typeface="Courier New"/>
                <a:cs typeface="Courier New"/>
                <a:sym typeface="Courier New"/>
              </a:rPr>
              <a:t>(</a:t>
            </a:r>
            <a:r>
              <a:rPr lang="en" sz="1135">
                <a:solidFill>
                  <a:srgbClr val="6A8759"/>
                </a:solidFill>
                <a:highlight>
                  <a:srgbClr val="2B2B2B"/>
                </a:highlight>
                <a:latin typeface="Courier New"/>
                <a:ea typeface="Courier New"/>
                <a:cs typeface="Courier New"/>
                <a:sym typeface="Courier New"/>
              </a:rPr>
              <a:t>"email"</a:t>
            </a:r>
            <a:r>
              <a:rPr lang="en" sz="1135">
                <a:solidFill>
                  <a:srgbClr val="A9B7C6"/>
                </a:solidFill>
                <a:highlight>
                  <a:srgbClr val="2B2B2B"/>
                </a:highlight>
                <a:latin typeface="Courier New"/>
                <a:ea typeface="Courier New"/>
                <a:cs typeface="Courier New"/>
                <a:sym typeface="Courier New"/>
              </a:rPr>
              <a: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a:t>
            </a:r>
            <a:r>
              <a:rPr lang="en" sz="1135">
                <a:solidFill>
                  <a:srgbClr val="CC7832"/>
                </a:solidFill>
                <a:highlight>
                  <a:srgbClr val="2B2B2B"/>
                </a:highlight>
                <a:latin typeface="Courier New"/>
                <a:ea typeface="Courier New"/>
                <a:cs typeface="Courier New"/>
                <a:sym typeface="Courier New"/>
              </a:rPr>
              <a:t>while</a:t>
            </a:r>
            <a:r>
              <a:rPr lang="en" sz="1135">
                <a:solidFill>
                  <a:srgbClr val="A9B7C6"/>
                </a:solidFill>
                <a:highlight>
                  <a:srgbClr val="2B2B2B"/>
                </a:highlight>
                <a:latin typeface="Courier New"/>
                <a:ea typeface="Courier New"/>
                <a:cs typeface="Courier New"/>
                <a:sym typeface="Courier New"/>
              </a:rPr>
              <a:t>(cursor.moveToNext())</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a:t>
            </a:r>
            <a:r>
              <a:rPr lang="en" sz="1135">
                <a:solidFill>
                  <a:srgbClr val="A9B7C6"/>
                </a:solidFill>
                <a:highlight>
                  <a:srgbClr val="2B2B2B"/>
                </a:highlight>
                <a:latin typeface="Courier New"/>
                <a:ea typeface="Courier New"/>
                <a:cs typeface="Courier New"/>
                <a:sym typeface="Courier New"/>
              </a:rPr>
              <a:t>}</a:t>
            </a:r>
            <a:br>
              <a:rPr lang="en" sz="1135">
                <a:solidFill>
                  <a:srgbClr val="A9B7C6"/>
                </a:solidFill>
                <a:highlight>
                  <a:srgbClr val="2B2B2B"/>
                </a:highlight>
                <a:latin typeface="Courier New"/>
                <a:ea typeface="Courier New"/>
                <a:cs typeface="Courier New"/>
                <a:sym typeface="Courier New"/>
              </a:rPr>
            </a:br>
            <a:r>
              <a:rPr lang="en" sz="1135">
                <a:solidFill>
                  <a:srgbClr val="A9B7C6"/>
                </a:solidFill>
                <a:highlight>
                  <a:srgbClr val="2B2B2B"/>
                </a:highlight>
                <a:latin typeface="Courier New"/>
                <a:ea typeface="Courier New"/>
                <a:cs typeface="Courier New"/>
                <a:sym typeface="Courier New"/>
              </a:rPr>
              <a:t>   sqLiteDatabase.close()</a:t>
            </a:r>
            <a:r>
              <a:rPr lang="en" sz="1135">
                <a:solidFill>
                  <a:srgbClr val="CC7832"/>
                </a:solidFill>
                <a:highlight>
                  <a:srgbClr val="2B2B2B"/>
                </a:highlight>
                <a:latin typeface="Courier New"/>
                <a:ea typeface="Courier New"/>
                <a:cs typeface="Courier New"/>
                <a:sym typeface="Courier New"/>
              </a:rPr>
              <a:t>;</a:t>
            </a:r>
            <a:br>
              <a:rPr lang="en" sz="1135">
                <a:solidFill>
                  <a:srgbClr val="CC7832"/>
                </a:solidFill>
                <a:highlight>
                  <a:srgbClr val="2B2B2B"/>
                </a:highlight>
                <a:latin typeface="Courier New"/>
                <a:ea typeface="Courier New"/>
                <a:cs typeface="Courier New"/>
                <a:sym typeface="Courier New"/>
              </a:rPr>
            </a:br>
            <a:r>
              <a:rPr lang="en" sz="1135">
                <a:solidFill>
                  <a:srgbClr val="CC7832"/>
                </a:solidFill>
                <a:highlight>
                  <a:srgbClr val="2B2B2B"/>
                </a:highlight>
                <a:latin typeface="Courier New"/>
                <a:ea typeface="Courier New"/>
                <a:cs typeface="Courier New"/>
                <a:sym typeface="Courier New"/>
              </a:rPr>
              <a:t>   return </a:t>
            </a:r>
            <a:r>
              <a:rPr lang="en" sz="1135">
                <a:solidFill>
                  <a:srgbClr val="A9B7C6"/>
                </a:solidFill>
                <a:highlight>
                  <a:srgbClr val="2B2B2B"/>
                </a:highlight>
                <a:latin typeface="Courier New"/>
                <a:ea typeface="Courier New"/>
                <a:cs typeface="Courier New"/>
                <a:sym typeface="Courier New"/>
              </a:rPr>
              <a:t>personArrayList</a:t>
            </a:r>
            <a:r>
              <a:rPr lang="en" sz="1135">
                <a:solidFill>
                  <a:srgbClr val="CC7832"/>
                </a:solidFill>
                <a:highlight>
                  <a:srgbClr val="2B2B2B"/>
                </a:highlight>
                <a:latin typeface="Courier New"/>
                <a:ea typeface="Courier New"/>
                <a:cs typeface="Courier New"/>
                <a:sym typeface="Courier New"/>
              </a:rPr>
              <a:t>;</a:t>
            </a:r>
            <a:endParaRPr sz="1135">
              <a:solidFill>
                <a:srgbClr val="CC7832"/>
              </a:solidFill>
              <a:highlight>
                <a:srgbClr val="2B2B2B"/>
              </a:highlight>
              <a:latin typeface="Courier New"/>
              <a:ea typeface="Courier New"/>
              <a:cs typeface="Courier New"/>
              <a:sym typeface="Courier New"/>
            </a:endParaRPr>
          </a:p>
          <a:p>
            <a:pPr indent="0" lvl="0" marL="0" rtl="0" algn="l">
              <a:lnSpc>
                <a:spcPct val="95000"/>
              </a:lnSpc>
              <a:spcBef>
                <a:spcPts val="1200"/>
              </a:spcBef>
              <a:spcAft>
                <a:spcPts val="1200"/>
              </a:spcAft>
              <a:buSzPts val="935"/>
              <a:buNone/>
            </a:pPr>
            <a:r>
              <a:rPr lang="en" sz="1135">
                <a:solidFill>
                  <a:srgbClr val="A9B7C6"/>
                </a:solidFill>
                <a:highlight>
                  <a:srgbClr val="2B2B2B"/>
                </a:highlight>
                <a:latin typeface="Courier New"/>
                <a:ea typeface="Courier New"/>
                <a:cs typeface="Courier New"/>
                <a:sym typeface="Courier New"/>
              </a:rPr>
              <a:t>}</a:t>
            </a:r>
            <a:endParaRPr sz="1135">
              <a:solidFill>
                <a:srgbClr val="CC7832"/>
              </a:solidFill>
              <a:highlight>
                <a:srgbClr val="2B2B2B"/>
              </a:highlight>
              <a:latin typeface="Courier New"/>
              <a:ea typeface="Courier New"/>
              <a:cs typeface="Courier New"/>
              <a:sym typeface="Courier New"/>
            </a:endParaRPr>
          </a:p>
        </p:txBody>
      </p:sp>
      <p:sp>
        <p:nvSpPr>
          <p:cNvPr id="472" name="Google Shape;472;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Select (Multiple Row)</a:t>
            </a:r>
            <a:endParaRPr>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Update</a:t>
            </a:r>
            <a:endParaRPr/>
          </a:p>
        </p:txBody>
      </p:sp>
      <p:sp>
        <p:nvSpPr>
          <p:cNvPr id="478" name="Google Shape;478;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50">
                <a:highlight>
                  <a:srgbClr val="FFFFFF"/>
                </a:highlight>
              </a:rPr>
              <a:t>public int update (</a:t>
            </a:r>
            <a:r>
              <a:rPr b="1" lang="en" sz="1250" u="sng">
                <a:highlight>
                  <a:srgbClr val="FFFFFF"/>
                </a:highlight>
                <a:hlinkClick r:id="rId3"/>
              </a:rPr>
              <a:t>String</a:t>
            </a:r>
            <a:r>
              <a:rPr lang="en" sz="1250">
                <a:highlight>
                  <a:srgbClr val="FFFFFF"/>
                </a:highlight>
              </a:rPr>
              <a:t> table, </a:t>
            </a:r>
            <a:br>
              <a:rPr lang="en" sz="1250">
                <a:highlight>
                  <a:srgbClr val="FFFFFF"/>
                </a:highlight>
              </a:rPr>
            </a:br>
            <a:r>
              <a:rPr lang="en" sz="1250">
                <a:highlight>
                  <a:srgbClr val="FFFFFF"/>
                </a:highlight>
              </a:rPr>
              <a:t>               </a:t>
            </a:r>
            <a:r>
              <a:rPr lang="en" sz="1250">
                <a:highlight>
                  <a:srgbClr val="FFFFFF"/>
                </a:highlight>
                <a:uFill>
                  <a:noFill/>
                </a:uFill>
                <a:hlinkClick r:id="rId4"/>
              </a:rPr>
              <a:t> </a:t>
            </a:r>
            <a:r>
              <a:rPr b="1" lang="en" sz="1250" u="sng">
                <a:highlight>
                  <a:srgbClr val="FFFFFF"/>
                </a:highlight>
                <a:hlinkClick r:id="rId5"/>
              </a:rPr>
              <a:t>ContentValues</a:t>
            </a:r>
            <a:r>
              <a:rPr lang="en" sz="1250">
                <a:highlight>
                  <a:srgbClr val="FFFFFF"/>
                </a:highlight>
              </a:rPr>
              <a:t> values, </a:t>
            </a:r>
            <a:br>
              <a:rPr lang="en" sz="1250">
                <a:highlight>
                  <a:srgbClr val="FFFFFF"/>
                </a:highlight>
              </a:rPr>
            </a:br>
            <a:r>
              <a:rPr lang="en" sz="1250">
                <a:highlight>
                  <a:srgbClr val="FFFFFF"/>
                </a:highlight>
              </a:rPr>
              <a:t>               </a:t>
            </a:r>
            <a:r>
              <a:rPr lang="en" sz="1250">
                <a:highlight>
                  <a:srgbClr val="FFFFFF"/>
                </a:highlight>
                <a:uFill>
                  <a:noFill/>
                </a:uFill>
                <a:hlinkClick r:id="rId6"/>
              </a:rPr>
              <a:t> </a:t>
            </a:r>
            <a:r>
              <a:rPr b="1" lang="en" sz="1250" u="sng">
                <a:highlight>
                  <a:srgbClr val="FFFFFF"/>
                </a:highlight>
                <a:hlinkClick r:id="rId7"/>
              </a:rPr>
              <a:t>String</a:t>
            </a:r>
            <a:r>
              <a:rPr lang="en" sz="1250">
                <a:highlight>
                  <a:srgbClr val="FFFFFF"/>
                </a:highlight>
              </a:rPr>
              <a:t> whereClause, </a:t>
            </a:r>
            <a:br>
              <a:rPr lang="en" sz="1250">
                <a:highlight>
                  <a:srgbClr val="FFFFFF"/>
                </a:highlight>
              </a:rPr>
            </a:br>
            <a:r>
              <a:rPr lang="en" sz="1250">
                <a:highlight>
                  <a:srgbClr val="FFFFFF"/>
                </a:highlight>
              </a:rPr>
              <a:t>               </a:t>
            </a:r>
            <a:r>
              <a:rPr lang="en" sz="1250">
                <a:highlight>
                  <a:srgbClr val="FFFFFF"/>
                </a:highlight>
                <a:uFill>
                  <a:noFill/>
                </a:uFill>
                <a:hlinkClick r:id="rId8"/>
              </a:rPr>
              <a:t> </a:t>
            </a:r>
            <a:r>
              <a:rPr b="1" lang="en" sz="1250" u="sng">
                <a:highlight>
                  <a:srgbClr val="FFFFFF"/>
                </a:highlight>
                <a:hlinkClick r:id="rId9"/>
              </a:rPr>
              <a:t>String[]</a:t>
            </a:r>
            <a:r>
              <a:rPr lang="en" sz="1250">
                <a:highlight>
                  <a:srgbClr val="FFFFFF"/>
                </a:highlight>
              </a:rPr>
              <a:t> whereArgs)</a:t>
            </a:r>
            <a:endParaRPr sz="1250">
              <a:highlight>
                <a:srgbClr val="FFFFFF"/>
              </a:highlight>
            </a:endParaRPr>
          </a:p>
          <a:p>
            <a:pPr indent="0" lvl="0" marL="0" rtl="0" algn="l">
              <a:spcBef>
                <a:spcPts val="1200"/>
              </a:spcBef>
              <a:spcAft>
                <a:spcPts val="0"/>
              </a:spcAft>
              <a:buNone/>
            </a:pPr>
            <a:r>
              <a:t/>
            </a:r>
            <a:endParaRPr sz="1100">
              <a:highlight>
                <a:srgbClr val="FFFFFF"/>
              </a:highlight>
            </a:endParaRPr>
          </a:p>
          <a:p>
            <a:pPr indent="0" lvl="0" marL="0" rtl="0" algn="l">
              <a:spcBef>
                <a:spcPts val="1200"/>
              </a:spcBef>
              <a:spcAft>
                <a:spcPts val="0"/>
              </a:spcAft>
              <a:buNone/>
            </a:pPr>
            <a:r>
              <a:t/>
            </a:r>
            <a:endParaRPr sz="1100">
              <a:highlight>
                <a:srgbClr val="FFFFFF"/>
              </a:highlight>
            </a:endParaRPr>
          </a:p>
          <a:p>
            <a:pPr indent="0" lvl="0" marL="0" rtl="0" algn="l">
              <a:spcBef>
                <a:spcPts val="1200"/>
              </a:spcBef>
              <a:spcAft>
                <a:spcPts val="0"/>
              </a:spcAft>
              <a:buNone/>
            </a:pPr>
            <a:r>
              <a:t/>
            </a:r>
            <a:endParaRPr sz="1100">
              <a:highlight>
                <a:srgbClr val="FFFFFF"/>
              </a:highlight>
            </a:endParaRPr>
          </a:p>
          <a:p>
            <a:pPr indent="0" lvl="0" marL="0" rtl="0" algn="l">
              <a:spcBef>
                <a:spcPts val="1200"/>
              </a:spcBef>
              <a:spcAft>
                <a:spcPts val="0"/>
              </a:spcAft>
              <a:buNone/>
            </a:pPr>
            <a:r>
              <a:t/>
            </a:r>
            <a:endParaRPr sz="1100">
              <a:highlight>
                <a:srgbClr val="FFFFFF"/>
              </a:highlight>
            </a:endParaRPr>
          </a:p>
          <a:p>
            <a:pPr indent="0" lvl="0" marL="0" rtl="0" algn="l">
              <a:spcBef>
                <a:spcPts val="1200"/>
              </a:spcBef>
              <a:spcAft>
                <a:spcPts val="0"/>
              </a:spcAft>
              <a:buNone/>
            </a:pPr>
            <a:r>
              <a:t/>
            </a:r>
            <a:endParaRPr sz="1100">
              <a:highlight>
                <a:srgbClr val="FFFFFF"/>
              </a:highlight>
            </a:endParaRPr>
          </a:p>
          <a:p>
            <a:pPr indent="0" lvl="0" marL="0" rtl="0" algn="l">
              <a:spcBef>
                <a:spcPts val="1200"/>
              </a:spcBef>
              <a:spcAft>
                <a:spcPts val="1200"/>
              </a:spcAft>
              <a:buNone/>
            </a:pPr>
            <a:r>
              <a:rPr lang="en" u="sng">
                <a:solidFill>
                  <a:schemeClr val="hlink"/>
                </a:solidFill>
                <a:highlight>
                  <a:srgbClr val="FFFFFF"/>
                </a:highlight>
                <a:hlinkClick r:id="rId10"/>
              </a:rPr>
              <a:t>SQLiteDatabase | Android Developers</a:t>
            </a:r>
            <a:r>
              <a:rPr lang="en">
                <a:highlight>
                  <a:srgbClr val="FFFFFF"/>
                </a:highlight>
              </a:rPr>
              <a: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Update Parameters</a:t>
            </a:r>
            <a:endParaRPr/>
          </a:p>
        </p:txBody>
      </p:sp>
      <p:sp>
        <p:nvSpPr>
          <p:cNvPr id="484" name="Google Shape;484;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50">
                <a:highlight>
                  <a:srgbClr val="FFFFFF"/>
                </a:highlight>
                <a:latin typeface="Roboto"/>
                <a:ea typeface="Roboto"/>
                <a:cs typeface="Roboto"/>
                <a:sym typeface="Roboto"/>
              </a:rPr>
              <a:t>table			String:</a:t>
            </a:r>
            <a:r>
              <a:rPr lang="en" sz="1250">
                <a:highlight>
                  <a:srgbClr val="FFFFFF"/>
                </a:highlight>
                <a:latin typeface="Roboto"/>
                <a:ea typeface="Roboto"/>
                <a:cs typeface="Roboto"/>
                <a:sym typeface="Roboto"/>
              </a:rPr>
              <a:t> the table to update in</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values 		ContentValues:</a:t>
            </a:r>
            <a:r>
              <a:rPr lang="en" sz="1250">
                <a:highlight>
                  <a:srgbClr val="FFFFFF"/>
                </a:highlight>
                <a:latin typeface="Roboto"/>
                <a:ea typeface="Roboto"/>
                <a:cs typeface="Roboto"/>
                <a:sym typeface="Roboto"/>
              </a:rPr>
              <a:t> a map from column names to new column values. null is a valid value that will be translated to NULL.</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whereClause	String:</a:t>
            </a:r>
            <a:r>
              <a:rPr lang="en" sz="1250">
                <a:highlight>
                  <a:srgbClr val="FFFFFF"/>
                </a:highlight>
                <a:latin typeface="Roboto"/>
                <a:ea typeface="Roboto"/>
                <a:cs typeface="Roboto"/>
                <a:sym typeface="Roboto"/>
              </a:rPr>
              <a:t> the optional WHERE clause to apply when updating. Passing null will update all rows.</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whereArgs		String:</a:t>
            </a:r>
            <a:r>
              <a:rPr lang="en" sz="1250">
                <a:highlight>
                  <a:srgbClr val="FFFFFF"/>
                </a:highlight>
                <a:latin typeface="Roboto"/>
                <a:ea typeface="Roboto"/>
                <a:cs typeface="Roboto"/>
                <a:sym typeface="Roboto"/>
              </a:rPr>
              <a:t> You may include ?s in the where clause, which will be replaced by the values from whereArgs. The values will be bound as Strings.</a:t>
            </a:r>
            <a:endParaRPr sz="1250">
              <a:highlight>
                <a:srgbClr val="FFFFFF"/>
              </a:highlight>
              <a:latin typeface="Roboto"/>
              <a:ea typeface="Roboto"/>
              <a:cs typeface="Roboto"/>
              <a:sym typeface="Roboto"/>
            </a:endParaRPr>
          </a:p>
          <a:p>
            <a:pPr indent="0" lvl="0" marL="0" rtl="0" algn="l">
              <a:spcBef>
                <a:spcPts val="0"/>
              </a:spcBef>
              <a:spcAft>
                <a:spcPts val="1200"/>
              </a:spcAft>
              <a:buNone/>
            </a:pPr>
            <a:r>
              <a:t/>
            </a:r>
            <a:endParaRPr sz="125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488" name="Shape 488"/>
        <p:cNvGrpSpPr/>
        <p:nvPr/>
      </p:nvGrpSpPr>
      <p:grpSpPr>
        <a:xfrm>
          <a:off x="0" y="0"/>
          <a:ext cx="0" cy="0"/>
          <a:chOff x="0" y="0"/>
          <a:chExt cx="0" cy="0"/>
        </a:xfrm>
      </p:grpSpPr>
      <p:sp>
        <p:nvSpPr>
          <p:cNvPr id="489" name="Google Shape;489;p69"/>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100000"/>
              <a:buFont typeface="Arial"/>
              <a:buNone/>
            </a:pP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updatePerson</a:t>
            </a:r>
            <a:r>
              <a:rPr lang="en" sz="1100">
                <a:solidFill>
                  <a:srgbClr val="A9B7C6"/>
                </a:solidFill>
                <a:highlight>
                  <a:srgbClr val="2B2B2B"/>
                </a:highlight>
                <a:latin typeface="Courier New"/>
                <a:ea typeface="Courier New"/>
                <a:cs typeface="Courier New"/>
                <a:sym typeface="Courier New"/>
              </a:rPr>
              <a:t>(String name</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surname</a:t>
            </a:r>
            <a:r>
              <a:rPr lang="en" sz="1100">
                <a:solidFill>
                  <a:srgbClr val="CC7832"/>
                </a:solidFill>
                <a:highlight>
                  <a:srgbClr val="2B2B2B"/>
                </a:highlight>
                <a:latin typeface="Courier New"/>
                <a:ea typeface="Courier New"/>
                <a:cs typeface="Courier New"/>
                <a:sym typeface="Courier New"/>
              </a:rPr>
              <a:t>, int </a:t>
            </a:r>
            <a:r>
              <a:rPr lang="en" sz="1100">
                <a:solidFill>
                  <a:srgbClr val="A9B7C6"/>
                </a:solidFill>
                <a:highlight>
                  <a:srgbClr val="2B2B2B"/>
                </a:highlight>
                <a:latin typeface="Courier New"/>
                <a:ea typeface="Courier New"/>
                <a:cs typeface="Courier New"/>
                <a:sym typeface="Courier New"/>
              </a:rPr>
              <a:t>userId</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phoneNumber</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company</a:t>
            </a: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String email)</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SQLiteDatabase sqLiteDatabase =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.getWritableDatabase()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 contentValues =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ContentValues()</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"name"</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"surname"</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surname)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"phoneNumber"</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phoneNumber)</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"company"</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company)</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contentValues.put(</a:t>
            </a:r>
            <a:r>
              <a:rPr lang="en" sz="1100">
                <a:solidFill>
                  <a:srgbClr val="6A8759"/>
                </a:solidFill>
                <a:highlight>
                  <a:srgbClr val="2B2B2B"/>
                </a:highlight>
                <a:latin typeface="Courier New"/>
                <a:ea typeface="Courier New"/>
                <a:cs typeface="Courier New"/>
                <a:sym typeface="Courier New"/>
              </a:rPr>
              <a:t>"email"</a:t>
            </a:r>
            <a:r>
              <a:rPr lang="en" sz="1100">
                <a:solidFill>
                  <a:srgbClr val="CC7832"/>
                </a:solidFill>
                <a:highlight>
                  <a:srgbClr val="2B2B2B"/>
                </a:highlight>
                <a:latin typeface="Courier New"/>
                <a:ea typeface="Courier New"/>
                <a:cs typeface="Courier New"/>
                <a:sym typeface="Courier New"/>
              </a:rPr>
              <a:t>,</a:t>
            </a:r>
            <a:r>
              <a:rPr lang="en" sz="1100">
                <a:solidFill>
                  <a:srgbClr val="A9B7C6"/>
                </a:solidFill>
                <a:highlight>
                  <a:srgbClr val="2B2B2B"/>
                </a:highlight>
                <a:latin typeface="Courier New"/>
                <a:ea typeface="Courier New"/>
                <a:cs typeface="Courier New"/>
                <a:sym typeface="Courier New"/>
              </a:rPr>
              <a:t>email)</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sqLiteDatabase.update(</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9876AA"/>
                </a:solidFill>
                <a:highlight>
                  <a:srgbClr val="2B2B2B"/>
                </a:highlight>
                <a:latin typeface="Courier New"/>
                <a:ea typeface="Courier New"/>
                <a:cs typeface="Courier New"/>
                <a:sym typeface="Courier New"/>
              </a:rPr>
              <a:t>PERSON_TABLE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contentValues</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"userID= ? "</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new </a:t>
            </a:r>
            <a:r>
              <a:rPr lang="en" sz="1100">
                <a:solidFill>
                  <a:srgbClr val="A9B7C6"/>
                </a:solidFill>
                <a:highlight>
                  <a:srgbClr val="2B2B2B"/>
                </a:highlight>
                <a:latin typeface="Courier New"/>
                <a:ea typeface="Courier New"/>
                <a:cs typeface="Courier New"/>
                <a:sym typeface="Courier New"/>
              </a:rPr>
              <a:t>String[]{</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String.</a:t>
            </a:r>
            <a:r>
              <a:rPr i="1" lang="en" sz="1100">
                <a:solidFill>
                  <a:srgbClr val="A9B7C6"/>
                </a:solidFill>
                <a:highlight>
                  <a:srgbClr val="2B2B2B"/>
                </a:highlight>
                <a:latin typeface="Courier New"/>
                <a:ea typeface="Courier New"/>
                <a:cs typeface="Courier New"/>
                <a:sym typeface="Courier New"/>
              </a:rPr>
              <a:t>valueOf</a:t>
            </a:r>
            <a:r>
              <a:rPr lang="en" sz="1100">
                <a:solidFill>
                  <a:srgbClr val="A9B7C6"/>
                </a:solidFill>
                <a:highlight>
                  <a:srgbClr val="2B2B2B"/>
                </a:highlight>
                <a:latin typeface="Courier New"/>
                <a:ea typeface="Courier New"/>
                <a:cs typeface="Courier New"/>
                <a:sym typeface="Courier New"/>
              </a:rPr>
              <a:t>(userId)</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ct val="100000"/>
              <a:buFont typeface="Arial"/>
              <a:buNone/>
            </a:pP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sqLiteDatabase.close()</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ct val="100000"/>
              <a:buFont typeface="Arial"/>
              <a:buNone/>
            </a:pP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490" name="Google Shape;490;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Update</a:t>
            </a:r>
            <a:endParaRPr>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Delete</a:t>
            </a:r>
            <a:endParaRPr/>
          </a:p>
        </p:txBody>
      </p:sp>
      <p:sp>
        <p:nvSpPr>
          <p:cNvPr id="496" name="Google Shape;496;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50">
                <a:highlight>
                  <a:srgbClr val="FFFFFF"/>
                </a:highlight>
              </a:rPr>
              <a:t>public int delete (</a:t>
            </a:r>
            <a:r>
              <a:rPr b="1" lang="en" sz="1250" u="sng">
                <a:highlight>
                  <a:srgbClr val="FFFFFF"/>
                </a:highlight>
                <a:hlinkClick r:id="rId3"/>
              </a:rPr>
              <a:t>String</a:t>
            </a:r>
            <a:r>
              <a:rPr lang="en" sz="1250">
                <a:highlight>
                  <a:srgbClr val="FFFFFF"/>
                </a:highlight>
              </a:rPr>
              <a:t> table, </a:t>
            </a:r>
            <a:br>
              <a:rPr lang="en" sz="1250">
                <a:highlight>
                  <a:srgbClr val="FFFFFF"/>
                </a:highlight>
              </a:rPr>
            </a:br>
            <a:r>
              <a:rPr lang="en" sz="1250">
                <a:highlight>
                  <a:srgbClr val="FFFFFF"/>
                </a:highlight>
              </a:rPr>
              <a:t>               </a:t>
            </a:r>
            <a:r>
              <a:rPr lang="en" sz="1250">
                <a:highlight>
                  <a:srgbClr val="FFFFFF"/>
                </a:highlight>
                <a:uFill>
                  <a:noFill/>
                </a:uFill>
                <a:hlinkClick r:id="rId4"/>
              </a:rPr>
              <a:t> </a:t>
            </a:r>
            <a:r>
              <a:rPr b="1" lang="en" sz="1250" u="sng">
                <a:highlight>
                  <a:srgbClr val="FFFFFF"/>
                </a:highlight>
                <a:hlinkClick r:id="rId5"/>
              </a:rPr>
              <a:t>String</a:t>
            </a:r>
            <a:r>
              <a:rPr lang="en" sz="1250">
                <a:highlight>
                  <a:srgbClr val="FFFFFF"/>
                </a:highlight>
              </a:rPr>
              <a:t> whereClause, </a:t>
            </a:r>
            <a:br>
              <a:rPr lang="en" sz="1250">
                <a:highlight>
                  <a:srgbClr val="FFFFFF"/>
                </a:highlight>
              </a:rPr>
            </a:br>
            <a:r>
              <a:rPr lang="en" sz="1250">
                <a:highlight>
                  <a:srgbClr val="FFFFFF"/>
                </a:highlight>
              </a:rPr>
              <a:t>               </a:t>
            </a:r>
            <a:r>
              <a:rPr lang="en" sz="1250">
                <a:highlight>
                  <a:srgbClr val="FFFFFF"/>
                </a:highlight>
                <a:uFill>
                  <a:noFill/>
                </a:uFill>
                <a:hlinkClick r:id="rId6"/>
              </a:rPr>
              <a:t> </a:t>
            </a:r>
            <a:r>
              <a:rPr b="1" lang="en" sz="1250" u="sng">
                <a:highlight>
                  <a:srgbClr val="FFFFFF"/>
                </a:highlight>
                <a:hlinkClick r:id="rId7"/>
              </a:rPr>
              <a:t>String[]</a:t>
            </a:r>
            <a:r>
              <a:rPr lang="en" sz="1250">
                <a:highlight>
                  <a:srgbClr val="FFFFFF"/>
                </a:highlight>
              </a:rPr>
              <a:t> whereArgs)</a:t>
            </a:r>
            <a:endParaRPr sz="1250">
              <a:highlight>
                <a:srgbClr val="FFFFFF"/>
              </a:highlight>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br>
              <a:rPr lang="en"/>
            </a:br>
            <a:r>
              <a:rPr lang="en" u="sng">
                <a:solidFill>
                  <a:schemeClr val="hlink"/>
                </a:solidFill>
                <a:hlinkClick r:id="rId8"/>
              </a:rPr>
              <a:t>SQLiteDatabase | Android Developers</a:t>
            </a:r>
            <a:r>
              <a:rPr lang="en"/>
              <a:t>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Delete Parameters</a:t>
            </a:r>
            <a:endParaRPr/>
          </a:p>
        </p:txBody>
      </p:sp>
      <p:sp>
        <p:nvSpPr>
          <p:cNvPr id="502" name="Google Shape;502;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50">
                <a:highlight>
                  <a:srgbClr val="FFFFFF"/>
                </a:highlight>
                <a:latin typeface="Roboto"/>
                <a:ea typeface="Roboto"/>
                <a:cs typeface="Roboto"/>
                <a:sym typeface="Roboto"/>
              </a:rPr>
              <a:t>table 			String:</a:t>
            </a:r>
            <a:r>
              <a:rPr lang="en" sz="1250">
                <a:highlight>
                  <a:srgbClr val="FFFFFF"/>
                </a:highlight>
                <a:latin typeface="Roboto"/>
                <a:ea typeface="Roboto"/>
                <a:cs typeface="Roboto"/>
                <a:sym typeface="Roboto"/>
              </a:rPr>
              <a:t> the table to delete from</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whereClause 	String:</a:t>
            </a:r>
            <a:r>
              <a:rPr lang="en" sz="1250">
                <a:highlight>
                  <a:srgbClr val="FFFFFF"/>
                </a:highlight>
                <a:latin typeface="Roboto"/>
                <a:ea typeface="Roboto"/>
                <a:cs typeface="Roboto"/>
                <a:sym typeface="Roboto"/>
              </a:rPr>
              <a:t> the optional WHERE clause to apply when deleting. Passing null will delete all rows.</a:t>
            </a:r>
            <a:endParaRPr sz="1250">
              <a:highlight>
                <a:srgbClr val="FFFFFF"/>
              </a:highlight>
              <a:latin typeface="Roboto"/>
              <a:ea typeface="Roboto"/>
              <a:cs typeface="Roboto"/>
              <a:sym typeface="Roboto"/>
            </a:endParaRPr>
          </a:p>
          <a:p>
            <a:pPr indent="0" lvl="0" marL="0" rtl="0" algn="l">
              <a:spcBef>
                <a:spcPts val="0"/>
              </a:spcBef>
              <a:spcAft>
                <a:spcPts val="0"/>
              </a:spcAft>
              <a:buNone/>
            </a:pPr>
            <a:r>
              <a:rPr b="1" lang="en" sz="1250">
                <a:highlight>
                  <a:srgbClr val="FFFFFF"/>
                </a:highlight>
                <a:latin typeface="Roboto"/>
                <a:ea typeface="Roboto"/>
                <a:cs typeface="Roboto"/>
                <a:sym typeface="Roboto"/>
              </a:rPr>
              <a:t>whereArgs 		String:</a:t>
            </a:r>
            <a:r>
              <a:rPr lang="en" sz="1250">
                <a:highlight>
                  <a:srgbClr val="FFFFFF"/>
                </a:highlight>
                <a:latin typeface="Roboto"/>
                <a:ea typeface="Roboto"/>
                <a:cs typeface="Roboto"/>
                <a:sym typeface="Roboto"/>
              </a:rPr>
              <a:t> You may include ?s in the where clause, which will be replaced by the values from whereArgs. The values will be bound as Strings.</a:t>
            </a:r>
            <a:endParaRPr sz="1250">
              <a:highlight>
                <a:srgbClr val="FFFFFF"/>
              </a:high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506" name="Shape 506"/>
        <p:cNvGrpSpPr/>
        <p:nvPr/>
      </p:nvGrpSpPr>
      <p:grpSpPr>
        <a:xfrm>
          <a:off x="0" y="0"/>
          <a:ext cx="0" cy="0"/>
          <a:chOff x="0" y="0"/>
          <a:chExt cx="0" cy="0"/>
        </a:xfrm>
      </p:grpSpPr>
      <p:sp>
        <p:nvSpPr>
          <p:cNvPr id="507" name="Google Shape;507;p72"/>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CC7832"/>
                </a:solidFill>
                <a:highlight>
                  <a:srgbClr val="2B2B2B"/>
                </a:highlight>
                <a:latin typeface="Courier New"/>
                <a:ea typeface="Courier New"/>
                <a:cs typeface="Courier New"/>
                <a:sym typeface="Courier New"/>
              </a:rPr>
              <a:t>public void </a:t>
            </a:r>
            <a:r>
              <a:rPr lang="en" sz="1100">
                <a:solidFill>
                  <a:srgbClr val="FFC66D"/>
                </a:solidFill>
                <a:highlight>
                  <a:srgbClr val="2B2B2B"/>
                </a:highlight>
                <a:latin typeface="Courier New"/>
                <a:ea typeface="Courier New"/>
                <a:cs typeface="Courier New"/>
                <a:sym typeface="Courier New"/>
              </a:rPr>
              <a:t>deletePerson</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int </a:t>
            </a:r>
            <a:r>
              <a:rPr lang="en" sz="1100">
                <a:solidFill>
                  <a:srgbClr val="A9B7C6"/>
                </a:solidFill>
                <a:highlight>
                  <a:srgbClr val="2B2B2B"/>
                </a:highlight>
                <a:latin typeface="Courier New"/>
                <a:ea typeface="Courier New"/>
                <a:cs typeface="Courier New"/>
                <a:sym typeface="Courier New"/>
              </a:rPr>
              <a:t>Id)</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SQLiteDatabase sqLiteDatabase = </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.getWritableDatabase()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sqLiteDatabase.delete(</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9876AA"/>
                </a:solidFill>
                <a:highlight>
                  <a:srgbClr val="2B2B2B"/>
                </a:highlight>
                <a:latin typeface="Courier New"/>
                <a:ea typeface="Courier New"/>
                <a:cs typeface="Courier New"/>
                <a:sym typeface="Courier New"/>
              </a:rPr>
              <a:t>PERSON_TABLE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6A8759"/>
                </a:solidFill>
                <a:highlight>
                  <a:srgbClr val="2B2B2B"/>
                </a:highlight>
                <a:latin typeface="Courier New"/>
                <a:ea typeface="Courier New"/>
                <a:cs typeface="Courier New"/>
                <a:sym typeface="Courier New"/>
              </a:rPr>
              <a:t>"userID= ? "</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new </a:t>
            </a:r>
            <a:r>
              <a:rPr lang="en" sz="1100">
                <a:solidFill>
                  <a:srgbClr val="A9B7C6"/>
                </a:solidFill>
                <a:highlight>
                  <a:srgbClr val="2B2B2B"/>
                </a:highlight>
                <a:latin typeface="Courier New"/>
                <a:ea typeface="Courier New"/>
                <a:cs typeface="Courier New"/>
                <a:sym typeface="Courier New"/>
              </a:rPr>
              <a:t>String[]{</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String.</a:t>
            </a:r>
            <a:r>
              <a:rPr i="1" lang="en" sz="1100">
                <a:solidFill>
                  <a:srgbClr val="A9B7C6"/>
                </a:solidFill>
                <a:highlight>
                  <a:srgbClr val="2B2B2B"/>
                </a:highlight>
                <a:latin typeface="Courier New"/>
                <a:ea typeface="Courier New"/>
                <a:cs typeface="Courier New"/>
                <a:sym typeface="Courier New"/>
              </a:rPr>
              <a:t>valueOf</a:t>
            </a:r>
            <a:r>
              <a:rPr lang="en" sz="1100">
                <a:solidFill>
                  <a:srgbClr val="A9B7C6"/>
                </a:solidFill>
                <a:highlight>
                  <a:srgbClr val="2B2B2B"/>
                </a:highlight>
                <a:latin typeface="Courier New"/>
                <a:ea typeface="Courier New"/>
                <a:cs typeface="Courier New"/>
                <a:sym typeface="Courier New"/>
              </a:rPr>
              <a:t>(Id)</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br>
              <a:rPr lang="en" sz="1100">
                <a:solidFill>
                  <a:srgbClr val="A9B7C6"/>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   )</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CC7832"/>
                </a:solidFill>
                <a:highlight>
                  <a:srgbClr val="2B2B2B"/>
                </a:highlight>
                <a:latin typeface="Courier New"/>
                <a:ea typeface="Courier New"/>
                <a:cs typeface="Courier New"/>
                <a:sym typeface="Courier New"/>
              </a:rPr>
              <a:t>   </a:t>
            </a:r>
            <a:r>
              <a:rPr lang="en" sz="1100">
                <a:solidFill>
                  <a:srgbClr val="A9B7C6"/>
                </a:solidFill>
                <a:highlight>
                  <a:srgbClr val="2B2B2B"/>
                </a:highlight>
                <a:latin typeface="Courier New"/>
                <a:ea typeface="Courier New"/>
                <a:cs typeface="Courier New"/>
                <a:sym typeface="Courier New"/>
              </a:rPr>
              <a:t>sqLiteDatabase.close()</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508" name="Google Shape;508;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Delete</a:t>
            </a:r>
            <a:endParaRPr>
              <a:solidFill>
                <a:schemeClr val="lt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512" name="Shape 512"/>
        <p:cNvGrpSpPr/>
        <p:nvPr/>
      </p:nvGrpSpPr>
      <p:grpSpPr>
        <a:xfrm>
          <a:off x="0" y="0"/>
          <a:ext cx="0" cy="0"/>
          <a:chOff x="0" y="0"/>
          <a:chExt cx="0" cy="0"/>
        </a:xfrm>
      </p:grpSpPr>
      <p:sp>
        <p:nvSpPr>
          <p:cNvPr id="513" name="Google Shape;513;p73"/>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rgbClr val="A9B7C6"/>
                </a:solidFill>
                <a:highlight>
                  <a:srgbClr val="2B2B2B"/>
                </a:highlight>
                <a:latin typeface="Courier New"/>
                <a:ea typeface="Courier New"/>
                <a:cs typeface="Courier New"/>
                <a:sym typeface="Courier New"/>
              </a:rPr>
              <a:t>ArrayList&lt;Person&gt; personArrayList = DB.</a:t>
            </a:r>
            <a:r>
              <a:rPr i="1" lang="en" sz="1100">
                <a:solidFill>
                  <a:srgbClr val="A9B7C6"/>
                </a:solidFill>
                <a:highlight>
                  <a:srgbClr val="2B2B2B"/>
                </a:highlight>
                <a:latin typeface="Courier New"/>
                <a:ea typeface="Courier New"/>
                <a:cs typeface="Courier New"/>
                <a:sym typeface="Courier New"/>
              </a:rPr>
              <a:t>getInstance</a:t>
            </a:r>
            <a:r>
              <a:rPr lang="en" sz="1100">
                <a:solidFill>
                  <a:srgbClr val="A9B7C6"/>
                </a:solidFill>
                <a:highlight>
                  <a:srgbClr val="2B2B2B"/>
                </a:highlight>
                <a:latin typeface="Courier New"/>
                <a:ea typeface="Courier New"/>
                <a:cs typeface="Courier New"/>
                <a:sym typeface="Courier New"/>
              </a:rPr>
              <a:t>(</a:t>
            </a:r>
            <a:r>
              <a:rPr lang="en" sz="1100">
                <a:solidFill>
                  <a:srgbClr val="CC7832"/>
                </a:solidFill>
                <a:highlight>
                  <a:srgbClr val="2B2B2B"/>
                </a:highlight>
                <a:latin typeface="Courier New"/>
                <a:ea typeface="Courier New"/>
                <a:cs typeface="Courier New"/>
                <a:sym typeface="Courier New"/>
              </a:rPr>
              <a:t>this</a:t>
            </a:r>
            <a:r>
              <a:rPr lang="en" sz="1100">
                <a:solidFill>
                  <a:srgbClr val="A9B7C6"/>
                </a:solidFill>
                <a:highlight>
                  <a:srgbClr val="2B2B2B"/>
                </a:highlight>
                <a:latin typeface="Courier New"/>
                <a:ea typeface="Courier New"/>
                <a:cs typeface="Courier New"/>
                <a:sym typeface="Courier New"/>
              </a:rPr>
              <a:t>).getPersonList()</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00">
                <a:solidFill>
                  <a:srgbClr val="A9B7C6"/>
                </a:solidFill>
                <a:highlight>
                  <a:srgbClr val="2B2B2B"/>
                </a:highlight>
                <a:latin typeface="Courier New"/>
                <a:ea typeface="Courier New"/>
                <a:cs typeface="Courier New"/>
                <a:sym typeface="Courier New"/>
              </a:rPr>
              <a:t>UserAdapter adapter =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UserAdapter(personArrayList)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A9B7C6"/>
                </a:solidFill>
                <a:highlight>
                  <a:srgbClr val="2B2B2B"/>
                </a:highlight>
                <a:latin typeface="Courier New"/>
                <a:ea typeface="Courier New"/>
                <a:cs typeface="Courier New"/>
                <a:sym typeface="Courier New"/>
              </a:rPr>
              <a:t>RecyclerView.LayoutManager mLayoutManager = </a:t>
            </a:r>
            <a:r>
              <a:rPr lang="en" sz="1100">
                <a:solidFill>
                  <a:srgbClr val="CC7832"/>
                </a:solidFill>
                <a:highlight>
                  <a:srgbClr val="2B2B2B"/>
                </a:highlight>
                <a:latin typeface="Courier New"/>
                <a:ea typeface="Courier New"/>
                <a:cs typeface="Courier New"/>
                <a:sym typeface="Courier New"/>
              </a:rPr>
              <a:t>new </a:t>
            </a:r>
            <a:r>
              <a:rPr lang="en" sz="1100">
                <a:solidFill>
                  <a:srgbClr val="A9B7C6"/>
                </a:solidFill>
                <a:highlight>
                  <a:srgbClr val="2B2B2B"/>
                </a:highlight>
                <a:latin typeface="Courier New"/>
                <a:ea typeface="Courier New"/>
                <a:cs typeface="Courier New"/>
                <a:sym typeface="Courier New"/>
              </a:rPr>
              <a:t>LinearLayoutManager(getApplicationContext())</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9876AA"/>
                </a:solidFill>
                <a:highlight>
                  <a:srgbClr val="2B2B2B"/>
                </a:highlight>
                <a:latin typeface="Courier New"/>
                <a:ea typeface="Courier New"/>
                <a:cs typeface="Courier New"/>
                <a:sym typeface="Courier New"/>
              </a:rPr>
              <a:t>activityPhoneBookListBinding</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userList</a:t>
            </a:r>
            <a:r>
              <a:rPr lang="en" sz="1100">
                <a:solidFill>
                  <a:srgbClr val="A9B7C6"/>
                </a:solidFill>
                <a:highlight>
                  <a:srgbClr val="2B2B2B"/>
                </a:highlight>
                <a:latin typeface="Courier New"/>
                <a:ea typeface="Courier New"/>
                <a:cs typeface="Courier New"/>
                <a:sym typeface="Courier New"/>
              </a:rPr>
              <a:t>.setLayoutManager(mLayoutManager)</a:t>
            </a:r>
            <a:r>
              <a:rPr lang="en" sz="1100">
                <a:solidFill>
                  <a:srgbClr val="CC7832"/>
                </a:solidFill>
                <a:highlight>
                  <a:srgbClr val="2B2B2B"/>
                </a:highlight>
                <a:latin typeface="Courier New"/>
                <a:ea typeface="Courier New"/>
                <a:cs typeface="Courier New"/>
                <a:sym typeface="Courier New"/>
              </a:rPr>
              <a:t>;</a:t>
            </a:r>
            <a:br>
              <a:rPr lang="en" sz="1100">
                <a:solidFill>
                  <a:srgbClr val="CC7832"/>
                </a:solidFill>
                <a:highlight>
                  <a:srgbClr val="2B2B2B"/>
                </a:highlight>
                <a:latin typeface="Courier New"/>
                <a:ea typeface="Courier New"/>
                <a:cs typeface="Courier New"/>
                <a:sym typeface="Courier New"/>
              </a:rPr>
            </a:br>
            <a:r>
              <a:rPr lang="en" sz="1100">
                <a:solidFill>
                  <a:srgbClr val="9876AA"/>
                </a:solidFill>
                <a:highlight>
                  <a:srgbClr val="2B2B2B"/>
                </a:highlight>
                <a:latin typeface="Courier New"/>
                <a:ea typeface="Courier New"/>
                <a:cs typeface="Courier New"/>
                <a:sym typeface="Courier New"/>
              </a:rPr>
              <a:t>activityPhoneBookListBinding</a:t>
            </a:r>
            <a:r>
              <a:rPr lang="en" sz="1100">
                <a:solidFill>
                  <a:srgbClr val="A9B7C6"/>
                </a:solidFill>
                <a:highlight>
                  <a:srgbClr val="2B2B2B"/>
                </a:highlight>
                <a:latin typeface="Courier New"/>
                <a:ea typeface="Courier New"/>
                <a:cs typeface="Courier New"/>
                <a:sym typeface="Courier New"/>
              </a:rPr>
              <a:t>.</a:t>
            </a:r>
            <a:r>
              <a:rPr lang="en" sz="1100">
                <a:solidFill>
                  <a:srgbClr val="9876AA"/>
                </a:solidFill>
                <a:highlight>
                  <a:srgbClr val="2B2B2B"/>
                </a:highlight>
                <a:latin typeface="Courier New"/>
                <a:ea typeface="Courier New"/>
                <a:cs typeface="Courier New"/>
                <a:sym typeface="Courier New"/>
              </a:rPr>
              <a:t>userList</a:t>
            </a:r>
            <a:r>
              <a:rPr lang="en" sz="1100">
                <a:solidFill>
                  <a:srgbClr val="A9B7C6"/>
                </a:solidFill>
                <a:highlight>
                  <a:srgbClr val="2B2B2B"/>
                </a:highlight>
                <a:latin typeface="Courier New"/>
                <a:ea typeface="Courier New"/>
                <a:cs typeface="Courier New"/>
                <a:sym typeface="Courier New"/>
              </a:rPr>
              <a:t>.setAdapter(adapter)</a:t>
            </a:r>
            <a:r>
              <a:rPr lang="en"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indent="0" lvl="0" marL="0" rtl="0" algn="l">
              <a:spcBef>
                <a:spcPts val="1200"/>
              </a:spcBef>
              <a:spcAft>
                <a:spcPts val="1200"/>
              </a:spcAft>
              <a:buNone/>
            </a:pPr>
            <a:r>
              <a:t/>
            </a:r>
            <a:endParaRPr sz="1100">
              <a:solidFill>
                <a:srgbClr val="CC7832"/>
              </a:solidFill>
              <a:highlight>
                <a:srgbClr val="2B2B2B"/>
              </a:highlight>
              <a:latin typeface="Courier New"/>
              <a:ea typeface="Courier New"/>
              <a:cs typeface="Courier New"/>
              <a:sym typeface="Courier New"/>
            </a:endParaRPr>
          </a:p>
        </p:txBody>
      </p:sp>
      <p:sp>
        <p:nvSpPr>
          <p:cNvPr id="514" name="Google Shape;514;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Display Data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